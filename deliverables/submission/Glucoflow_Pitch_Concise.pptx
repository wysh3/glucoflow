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348312c204ce5" /><Relationship Type="http://schemas.openxmlformats.org/officeDocument/2006/relationships/extended-properties" Target="/docProps/app.xml" Id="R03d1c37929694c35" /><Relationship Type="http://schemas.openxmlformats.org/officeDocument/2006/relationships/officeDocument" Target="/ppt/presentation.xml" Id="R4a39966d942640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0e26d38d8648b6"/>
  </p:sldMasterIdLst>
  <p:notesMasterIdLst>
    <p:notesMasterId xmlns:r="http://schemas.openxmlformats.org/officeDocument/2006/relationships" r:id="R99775e9b7f9c4ffd"/>
  </p:notesMasterIdLst>
  <p:sldIdLst>
    <p:sldId xmlns:r="http://schemas.openxmlformats.org/officeDocument/2006/relationships" id="256" r:id="Rcfedbae5bd214b26"/>
    <p:sldId xmlns:r="http://schemas.openxmlformats.org/officeDocument/2006/relationships" id="257" r:id="R55ae985ac8b04c75"/>
    <p:sldId xmlns:r="http://schemas.openxmlformats.org/officeDocument/2006/relationships" id="258" r:id="R665de9039f5c44df"/>
    <p:sldId xmlns:r="http://schemas.openxmlformats.org/officeDocument/2006/relationships" id="259" r:id="R1d631e70652a4375"/>
    <p:sldId xmlns:r="http://schemas.openxmlformats.org/officeDocument/2006/relationships" id="260" r:id="Rc508c7a3adba4aec"/>
    <p:sldId xmlns:r="http://schemas.openxmlformats.org/officeDocument/2006/relationships" id="261" r:id="R102d8f8a6c7446ff"/>
    <p:sldId xmlns:r="http://schemas.openxmlformats.org/officeDocument/2006/relationships" id="262" r:id="Rf2e8e6192ab745d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160a5d2200489a" /><Relationship Type="http://schemas.openxmlformats.org/officeDocument/2006/relationships/slideMaster" Target="/ppt/slideMasters/slideMaster1.xml" Id="R210e26d38d8648b6" /><Relationship Type="http://schemas.openxmlformats.org/officeDocument/2006/relationships/notesMaster" Target="/ppt/notesMasters/notesMaster1.xml" Id="R99775e9b7f9c4ffd" /><Relationship Type="http://schemas.openxmlformats.org/officeDocument/2006/relationships/presProps" Target="/ppt/presProps.xml" Id="R4ec345f399324be1" /><Relationship Type="http://schemas.openxmlformats.org/officeDocument/2006/relationships/tableStyles" Target="/ppt/tableStyles.xml" Id="R2a5af824e7004411" /><Relationship Type="http://schemas.openxmlformats.org/officeDocument/2006/relationships/slide" Target="/ppt/slides/slide1.xml" Id="Rcfedbae5bd214b26" /><Relationship Type="http://schemas.openxmlformats.org/officeDocument/2006/relationships/slide" Target="/ppt/slides/slide2.xml" Id="R55ae985ac8b04c75" /><Relationship Type="http://schemas.openxmlformats.org/officeDocument/2006/relationships/slide" Target="/ppt/slides/slide3.xml" Id="R665de9039f5c44df" /><Relationship Type="http://schemas.openxmlformats.org/officeDocument/2006/relationships/slide" Target="/ppt/slides/slide4.xml" Id="R1d631e70652a4375" /><Relationship Type="http://schemas.openxmlformats.org/officeDocument/2006/relationships/slide" Target="/ppt/slides/slide5.xml" Id="Rc508c7a3adba4aec" /><Relationship Type="http://schemas.openxmlformats.org/officeDocument/2006/relationships/slide" Target="/ppt/slides/slide6.xml" Id="R102d8f8a6c7446ff" /><Relationship Type="http://schemas.openxmlformats.org/officeDocument/2006/relationships/slide" Target="/ppt/slides/slide7.xml" Id="Rf2e8e6192ab7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9e1ffe0a86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1eadd0121472d" /><Relationship Type="http://schemas.openxmlformats.org/officeDocument/2006/relationships/notesMaster" Target="/ppt/notesMasters/notesMaster1.xml" Id="R38ff1a3194aa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1c0b4b9d944e1" /><Relationship Type="http://schemas.openxmlformats.org/officeDocument/2006/relationships/notesMaster" Target="/ppt/notesMasters/notesMaster1.xml" Id="R682e3e7c20ac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9b61ad2f334843" /><Relationship Type="http://schemas.openxmlformats.org/officeDocument/2006/relationships/notesMaster" Target="/ppt/notesMasters/notesMaster1.xml" Id="Rab43c669194740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c02e38d8e44c05" /><Relationship Type="http://schemas.openxmlformats.org/officeDocument/2006/relationships/notesMaster" Target="/ppt/notesMasters/notesMaster1.xml" Id="R2bd282c8dc36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8995bc82394965" /><Relationship Type="http://schemas.openxmlformats.org/officeDocument/2006/relationships/notesMaster" Target="/ppt/notesMasters/notesMaster1.xml" Id="Rcbd0793ae55048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def6bbfd2424d" /><Relationship Type="http://schemas.openxmlformats.org/officeDocument/2006/relationships/notesMaster" Target="/ppt/notesMasters/notesMaster1.xml" Id="Ra2107ddc441143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117b97e2da418a" /><Relationship Type="http://schemas.openxmlformats.org/officeDocument/2006/relationships/notesMaster" Target="/ppt/notesMasters/notesMaster1.xml" Id="R8259403be654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deployed progression view. Synthetic patient data. Clinical interpretation remains with the physician.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 points from the supplied PDFs and user workflow discussions. OPD and review timings are not measured. An absent record is not proof a test was not done.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text_to_pdf_Imagetotext.pdf and GlucoFlow Master Technical Dashboard &amp; Architecture (1).pdf. All fifteen chart values preserved exactly. Prescription event summaries: June12 2023 glargine10units bedtime; June12 2024 lispro4units preprandial plus glimepiride2mg; 2026Q1–Q2 glargine14units nightly plus lispro4unitsTID. Metformin also recorded. Dates of annual lab observations are not exact; no causal inference. AI extraction uses OCR and GPT-6 Luna.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Web/Android client, authenticated API, durable processing worker, Supabase PostgreSQL and private source storage. Server permissions and database policies control access. Patient reports remain distinct from approved extracted measurements. Append-only events and a SHA256 snapshot digest are application controls. Updated Android flow remains to be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30% target is a proposed pilot success criterion, not a measured benefit. Compare both ordinary manual preparation and a structured manual timeline. Current implementation evidence:135 local automated tests; previous hosted baseline25/25API checks and12/12database policy checks. These are engineering checks, not clinical or productivity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Subscription and expansion are proposed. No price, revenue or customer count is validated. Live ABHA integration is not implemented. Current stack:Vite React, Fastify API/worker, Supabase Auth/PostgreSQL/Storage, Azure Container Apps, Vercel frontend. Per-document extraction budget gate and scale-to-zero help control operating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demo accounts. Physician retains clinical judgment. No clinical diagnosis, treatment recommendation or emergency dispatch. Official hackathon scope:https://healthathon.reskilll.com/ is non-clinical operational workflow improvement, human assistance and measurement within60–90days. Productivity and clinical outcomes require user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d0f420cfc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6f8a027804e64" /><Relationship Type="http://schemas.openxmlformats.org/officeDocument/2006/relationships/slideLayout" Target="/ppt/slideLayouts/slideLayout1.xml" Id="Ra375d026a702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75d026a702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9152945934dfb" /><Relationship Type="http://schemas.openxmlformats.org/officeDocument/2006/relationships/image" Target="/ppt/media/image.jpeg" Id="Rc2459322661947b4" /><Relationship Type="http://schemas.openxmlformats.org/officeDocument/2006/relationships/notesSlide" Target="/ppt/notesSlides/notesSlide1.xml" Id="Ref44d07fcb89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be96065314ece" /><Relationship Type="http://schemas.openxmlformats.org/officeDocument/2006/relationships/notesSlide" Target="/ppt/notesSlides/notesSlide2.xml" Id="Raf6961a2d18d44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23fe81aca43ae" /><Relationship Type="http://schemas.openxmlformats.org/officeDocument/2006/relationships/chart" Target="/ppt/slides/charts/chart1.xml" Id="Re183d2292e60447e" /><Relationship Type="http://schemas.openxmlformats.org/officeDocument/2006/relationships/notesSlide" Target="/ppt/notesSlides/notesSlide3.xml" Id="Rf30c23b1e2aa40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7365e465d4828" /><Relationship Type="http://schemas.openxmlformats.org/officeDocument/2006/relationships/notesSlide" Target="/ppt/notesSlides/notesSlide4.xml" Id="R55c0ce6a681e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ab3aa8c6944a8" /><Relationship Type="http://schemas.openxmlformats.org/officeDocument/2006/relationships/notesSlide" Target="/ppt/notesSlides/notesSlide5.xml" Id="Rf2b4c6e048d2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086ebb72445f1" /><Relationship Type="http://schemas.openxmlformats.org/officeDocument/2006/relationships/notesSlide" Target="/ppt/notesSlides/notesSlide6.xml" Id="Rd0901cb3b8064f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36df1764e4e24" /><Relationship Type="http://schemas.openxmlformats.org/officeDocument/2006/relationships/notesSlide" Target="/ppt/notesSlides/notesSlide7.xml" Id="R72ee79834d53418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HbA1c (%)</c:v>
          </c:tx>
          <c:spPr>
            <a:ln xmlns:a="http://schemas.openxmlformats.org/drawingml/2006/main" w="28575">
              <a:solidFill>
                <a:srgbClr val="CC2453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C2453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Data'!$B$2:$B$6</c:f>
              <c:numCache>
                <c:formatCode>0.0"%"</c:formatCode>
                <c:ptCount val="5"/>
                <c:pt idx="0">
                  <c:v>7.2</c:v>
                </c:pt>
                <c:pt idx="1">
                  <c:v>7.3</c:v>
                </c:pt>
                <c:pt idx="2">
                  <c:v>7</c:v>
                </c:pt>
                <c:pt idx="3">
                  <c:v>7.6</c:v>
                </c:pt>
                <c:pt idx="4">
                  <c:v>8</c:v>
                </c:pt>
              </c:numCache>
            </c:numRef>
          </c:val>
          <c:smooth val="0"/>
        </c:ser>
        <c:smooth val="0"/>
        <c:axId val="48650112"/>
        <c:axId val="48672768"/>
      </c:lineChart>
      <c:lineChart>
        <c:grouping val="standard"/>
        <c:ser>
          <c:idx val="1"/>
          <c:order val="1"/>
          <c:tx>
            <c:v>Fasting (mg/dL)</c:v>
          </c:tx>
          <c:spPr>
            <a:ln xmlns:a="http://schemas.openxmlformats.org/drawingml/2006/main" w="28575">
              <a:solidFill>
                <a:srgbClr val="CF800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F800B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Data'!$D$2:$D$6</c:f>
              <c:numCache>
                <c:formatCode>0.0"%"</c:formatCode>
                <c:ptCount val="5"/>
                <c:pt idx="0">
                  <c:v>132</c:v>
                </c:pt>
                <c:pt idx="1">
                  <c:v>140</c:v>
                </c:pt>
                <c:pt idx="2">
                  <c:v>118</c:v>
                </c:pt>
                <c:pt idx="3">
                  <c:v>135</c:v>
                </c:pt>
                <c:pt idx="4">
                  <c:v>142</c:v>
                </c:pt>
              </c:numCache>
            </c:numRef>
          </c:val>
          <c:smooth val="0"/>
        </c:ser>
        <c:ser>
          <c:idx val="2"/>
          <c:order val="2"/>
          <c:tx>
            <c:v>Post-meal (mg/dL)</c:v>
          </c:tx>
          <c:spPr>
            <a:ln xmlns:a="http://schemas.openxmlformats.org/drawingml/2006/main" w="28575">
              <a:solidFill>
                <a:srgbClr val="137A7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37A76"/>
              </a:solidFill>
            </c:spPr>
          </c:marker>
          <c:cat>
            <c:strRef>
              <c:f>'Chart Data'!$E$2:$E$6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Data'!$F$2:$F$6</c:f>
              <c:numCache>
                <c:formatCode>0.0"%"</c:formatCode>
                <c:ptCount val="5"/>
                <c:pt idx="0">
                  <c:v>175</c:v>
                </c:pt>
                <c:pt idx="1">
                  <c:v>188</c:v>
                </c:pt>
                <c:pt idx="2">
                  <c:v>165</c:v>
                </c:pt>
                <c:pt idx="3">
                  <c:v>195</c:v>
                </c:pt>
                <c:pt idx="4">
                  <c:v>210</c:v>
                </c:pt>
              </c:numCache>
            </c:numRef>
          </c:val>
          <c:smooth val="0"/>
        </c:ser>
        <c:axId val="48650112"/>
        <c:axId val="400002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F0"/>
              </a:solidFill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1.25"/>
      </c:valAx>
      <c:spPr>
        <a:solidFill xmlns:a="http://schemas.openxmlformats.org/drawingml/2006/main">
          <a:srgbClr val="FFFFFF"/>
        </a:solidFill>
      </c:spPr>
      <c:valAx>
        <c:axId val="400002"/>
        <c:scaling>
          <c:orientation val="minMax"/>
          <c:max val="250"/>
          <c:min val="70"/>
        </c:scaling>
        <c:delete val="0"/>
        <c:axPos val="r"/>
        <c:numFmt formatCode="0"/>
        <c:majorTickMark val="none"/>
        <c:minorTickMark val="none"/>
        <c:tickLblPos val="high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4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76CAE-CFD7-4DD4-A39F-F400AABE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C0408-3FA2-4FDE-B60F-0263BF3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095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A patient’s follow-up history, ready for the doctor to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3509A-C158-4D4F-BDDB-94ACB48C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Lab trends, prescriptions and patient reports together, with access to the original records.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59322661947b4"/>
          <a:stretch xmlns:a="http://schemas.openxmlformats.org/drawingml/2006/main"/>
        </p:blipFill>
        <p:spPr>
          <a:xfrm xmlns:a="http://schemas.openxmlformats.org/drawingml/2006/main">
            <a:off x="6196542" y="2047875"/>
            <a:ext cx="11514667" cy="647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DED74-D6CD-4E38-A3C8-7195B786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916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37A76"/>
                </a:solidFill>
                <a:latin typeface="Inter"/>
                <a:ea typeface="Inter"/>
                <a:cs typeface="Inter"/>
              </a:rPr>
              <a:t>glucoflow.vercel.app</a:t>
            </a:r>
          </a:p>
        </p:txBody>
      </p:sp>
    </p:spTree>
    <p:extLst>
      <p:ext uri="{BB962C8B-B14F-4D97-AF65-F5344CB8AC3E}">
        <p14:creationId xmlns:p14="http://schemas.microsoft.com/office/powerpoint/2010/main" val="2006862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98AF7-CE6E-4CD7-9841-5736DD1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0D4AF-3776-46C9-8C44-D2FE7CF8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Reports are scattered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71920-6C3E-460F-A328-8B6D08D7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Lab slips and prescriptions arrive from different visits. Finding the right result, date and source takes repeated searching.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34D08-E750-4959-AAD0-FA428EB7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History takes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64211-9604-4C9A-81C9-7F2DA88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To compare visits, the doctor must piece together test results, medication changes and patient-reported problems.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5213C-FF7B-4A73-96FC-D0F72D33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Follow-up is hard to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95486-B898-449C-B9E1-DAA14110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Staff must check which screening dates are recorded and which follow-ups are still pending.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51582-3009-4D49-BA91-8E6541D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Preparing the history competes with time spent listening to the patient.</a:t>
            </a:r>
          </a:p>
        </p:txBody>
      </p:sp>
    </p:spTree>
    <p:extLst>
      <p:ext uri="{BB962C8B-B14F-4D97-AF65-F5344CB8AC3E}">
        <p14:creationId xmlns:p14="http://schemas.microsoft.com/office/powerpoint/2010/main" val="928255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A783B-9397-43B9-B464-7DE257B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EEFB3-D43D-4F66-8379-489CC8CD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209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Glucose history · 2022–2026 Q2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36B45-4E7D-4CB4-8505-9D738CDE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C2453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CC2453"/>
                </a:solidFill>
                <a:latin typeface="Inter"/>
                <a:ea typeface="Inter"/>
                <a:cs typeface="Inter"/>
              </a:rPr>
              <a:t>HbA1c (%)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ECA34-0A64-4758-A944-16710189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716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Blood glucose (mg/dL)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2192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83d2292e60447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A5AA8-1894-4CB8-BA6E-6802402C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571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Prescription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EA6C9-6473-4F4C-892E-A77C2957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3625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2023 · Glargine added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2024 · Lispro and glimepiride added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2026 · Updated insulin regimen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F0BA0-D34D-48D6-9D94-EF840D6C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Open each event to inspect the prescription.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7E2E0-40BE-45EC-A6D5-885C4E73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Extract and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504E7-0F71-4A13-A5C4-1FF30EF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AI extracts report fields with source evidence. A reviewer checks them before publication.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153F2-DC0E-442B-B8D8-EA0A045C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Review progression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80605-5021-4A01-A11B-87750831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Dated results and medications share one timeline. Original reports stay accessible.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FF3E4-EDB7-494E-9DEA-35242CD5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Add patient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B7846-AD75-45E2-9C1E-28F30D6B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Home readings and symptoms sit alongside the history. Recorded screening dates support follow-up.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D3EC1-2BCB-42F4-A1F8-BBCD60D1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58375"/>
            <a:ext cx="1714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Illustrative patient scenario. HbA1c and glucose use separate axes; year-level timing is approximate.</a:t>
            </a:r>
          </a:p>
        </p:txBody>
      </p:sp>
    </p:spTree>
    <p:extLst>
      <p:ext uri="{BB962C8B-B14F-4D97-AF65-F5344CB8AC3E}">
        <p14:creationId xmlns:p14="http://schemas.microsoft.com/office/powerpoint/2010/main" val="683113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FA7170-9B30-466B-9BB9-91352914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FEADC-BAC0-4C17-96F0-3BBF7CC7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2CF0B-733B-4EEE-8F21-0746CA93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61CA2-C5AA-42DE-AC1E-677E0BD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Upload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389ED-33C0-4A6C-8B4A-E92DCBCE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Lab reports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Prescriptions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PDF or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DA810-C50A-4667-AF79-EF478978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81092-0AA1-48AC-886B-3BCE75E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C7DCE-941F-405A-8D0E-262F50A6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AI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63867-3273-4757-A163-B057623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Identify patient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Extract fields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Attach source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E7938-C9FA-4DEA-AC90-DAC432E7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0C9E2-5238-4EBC-BC7B-E1377C5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C89A6-7DB5-4D8B-B80B-2AB463DB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Human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BFE9F-37D5-4B94-B2D6-F70B13AC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Check identity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Correct entries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Approve publication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50195-DF05-4189-8450-15E870A4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2994D-9570-4BE9-B081-3B6C3A6D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1FB32-019C-4525-B557-73135CBB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3378D-8F2C-45B0-B540-9C6F876D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Approved results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Dated prescriptions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Original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7F0AB-4F61-47B5-AD4E-BF0216A4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B55C9-703F-48B4-B700-9E4624B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8F568-DD6B-42C9-A2AF-AFCFC162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Doctor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ADF44-FA4C-4D40-928C-547C5881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Progression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Medication history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Inspect and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5AFE0-A1E9-4924-BD96-A8C7927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Patient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14319-08D9-4A9C-BCEA-617034EE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2CB73-DDF4-4C9C-9ADC-FBC3C2C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DF599-6F38-485A-8F06-4C62706F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Home readings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Symptoms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Medication timing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EB5E2-68C2-47E6-8B3D-63C54EDF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D884A-F9B0-4E8D-AF60-EA06A56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F6925-BE50-4CB3-A34F-B1914B33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Record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66148-D7C2-482B-B63F-7D96A8D7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Timestamp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Patient-reported label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Retain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864D7-CECC-4345-A5D1-00304C5E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E5AE26-E77E-45B2-9A96-71F52A81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544197-0CF9-4F0E-987A-8FD3E59C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Follow-up tracking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D0814A-7252-4EE5-B323-049363A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Recorded 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Clinic-set intervals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Pending 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C2536-F189-4671-841D-70F0628C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BCBF5-EE28-4E70-B68A-FA4FE33E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9F2A42-F9D7-452C-84D0-CE199FF5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0552AE-DA14-42DD-B471-4D269F5F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Review updates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Record screening 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Acknowledge snapshots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87B6DE-EDC5-493A-B1CF-76B5E943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79E2FD-637D-45D2-8701-B919C569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35C01B-5A19-4ECF-B9C5-93EBEE58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Visit overview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5C7234-98A7-4F36-A7FA-F5160AB5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Shared history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Source reports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Visit summary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DBB554-0D99-4888-A7C3-13606A7E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10625"/>
            <a:ext cx="1714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SOS demo → freeze the shared history → clinic inspects and acknowledges the snapshot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C655CE-66CF-483F-B74D-AB1A6601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58375"/>
            <a:ext cx="1714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SOS sends a snapshot to the demo clinic inbox; it does not dispatch emergency services.</a:t>
            </a:r>
          </a:p>
        </p:txBody>
      </p:sp>
    </p:spTree>
    <p:extLst>
      <p:ext uri="{BB962C8B-B14F-4D97-AF65-F5344CB8AC3E}">
        <p14:creationId xmlns:p14="http://schemas.microsoft.com/office/powerpoint/2010/main" val="832126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AA3D0-2439-4B1B-8DE2-DED5546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DCE44-9AE0-485A-A536-6AE338D5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Doctors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444AB-3A59-407B-99B6-B93933D1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Review trends and medication history together. Inspect a source report without searching through separate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84D49-A9E2-4D06-81AF-AA34AF2B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00A2B-BBFC-420B-A0F0-F7F6C827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Manage extraction and approval in one queue. Keep unresolved records and pending follow-up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5EDD8-D114-4A7A-866B-229373A8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7DB42-4890-4134-8FC1-B1C20889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Upload reports between visits and record home readings and symptoms in the same patient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DAE8F-8082-4947-8914-5FAD571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91375"/>
            <a:ext cx="1666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Pilot target: 30% less preparation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C898E-8602-4EDA-9158-3C15268D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666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Over 60–90 days, compare combined staff and doctor time with manual preparation. Also measure correction rates and report retrieval. Time savings have not yet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92018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78B3F-E163-46C3-A4D0-6DD3C021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Scalability and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456D-B13C-45EF-8867-A35E24D0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subscription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95B4C-AF9C-4B42-8350-513ED906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Proposed subscription per clinic, with a document-processing allowance. Validate pricing in a supervised diabetes OPD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2AC79-3468-43E7-8FC8-AFB04BC6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Independent processing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3A0C9-A3FD-42F1-8675-2A704442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Separate browsing and document-processing services. Durable jobs handle retries; clinic and patient access stays isolated.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9E6F6-5B69-42EE-8AB6-510370A7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Expansion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BD567-65E0-4F67-A033-55E2A001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Support more report layouts and regional languages. Later, add clinic-system integrations and consent-based ABHA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950D2-2685-4D12-85E1-93C8B6CE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Expand after measuring review effort, processing cost and clinic willingness to pay.</a:t>
            </a:r>
          </a:p>
        </p:txBody>
      </p:sp>
    </p:spTree>
    <p:extLst>
      <p:ext uri="{BB962C8B-B14F-4D97-AF65-F5344CB8AC3E}">
        <p14:creationId xmlns:p14="http://schemas.microsoft.com/office/powerpoint/2010/main" val="614624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34BD6-AC2A-4161-AB1A-2606132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5C930-57C2-478C-B40C-420C6C17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666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Glucoflow brings the follow-up history into one place, so doctors can review progression and inspect the records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F1477-B43F-4666-BEFE-67D29E3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666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Patients add records. Clinic teams verify them. Doctors review the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D3196-3F44-4919-8FEA-23DF756F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glucoflow.vercel.app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096C8-378E-4169-806A-19C69151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10625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Choose Doctor, Clinic team or Patient to explore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986633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2026-10-03T17:56:36.5670000Z</dcterms:created>
  <dcterms:modified xsi:type="dcterms:W3CDTF">2026-10-03T17:56:36.5670000Z</dcterms:modified>
</coreProperties>
</file>