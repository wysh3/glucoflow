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3e29cd8927f4710" /><Relationship Type="http://schemas.openxmlformats.org/officeDocument/2006/relationships/extended-properties" Target="/docProps/app.xml" Id="Rd9359d7ba6cc4d31" /><Relationship Type="http://schemas.openxmlformats.org/officeDocument/2006/relationships/officeDocument" Target="/ppt/presentation.xml" Id="R2e5037b238e9434a" /></Relationships>
</file>

<file path=ppt/presentation.xml><?xml version="1.0" encoding="utf-8"?>
<p:presentation xmlns:p="http://schemas.openxmlformats.org/presentationml/2006/main">
  <p:sldMasterIdLst>
    <p:sldMasterId xmlns:r="http://schemas.openxmlformats.org/officeDocument/2006/relationships" id="2147483648" r:id="Ree3c909715e04045"/>
  </p:sldMasterIdLst>
  <p:notesMasterIdLst>
    <p:notesMasterId xmlns:r="http://schemas.openxmlformats.org/officeDocument/2006/relationships" r:id="R0114e6c873fa423f"/>
  </p:notesMasterIdLst>
  <p:sldIdLst>
    <p:sldId xmlns:r="http://schemas.openxmlformats.org/officeDocument/2006/relationships" id="256" r:id="R17a5198d49924bce"/>
    <p:sldId xmlns:r="http://schemas.openxmlformats.org/officeDocument/2006/relationships" id="257" r:id="R86fe4ec49f3544f8"/>
    <p:sldId xmlns:r="http://schemas.openxmlformats.org/officeDocument/2006/relationships" id="258" r:id="R62a8011fd7c34c17"/>
    <p:sldId xmlns:r="http://schemas.openxmlformats.org/officeDocument/2006/relationships" id="259" r:id="R21d0e32060f6405b"/>
    <p:sldId xmlns:r="http://schemas.openxmlformats.org/officeDocument/2006/relationships" id="260" r:id="Rd3864ed25aed4669"/>
    <p:sldId xmlns:r="http://schemas.openxmlformats.org/officeDocument/2006/relationships" id="261" r:id="Rbfdc3a5bd22242a5"/>
    <p:sldId xmlns:r="http://schemas.openxmlformats.org/officeDocument/2006/relationships" id="262" r:id="Rf811e026e97543dd"/>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93807a837244f98" /><Relationship Type="http://schemas.openxmlformats.org/officeDocument/2006/relationships/slideMaster" Target="/ppt/slideMasters/slideMaster1.xml" Id="Ree3c909715e04045" /><Relationship Type="http://schemas.openxmlformats.org/officeDocument/2006/relationships/notesMaster" Target="/ppt/notesMasters/notesMaster1.xml" Id="R0114e6c873fa423f" /><Relationship Type="http://schemas.openxmlformats.org/officeDocument/2006/relationships/presProps" Target="/ppt/presProps.xml" Id="R8051d6feefc345f3" /><Relationship Type="http://schemas.openxmlformats.org/officeDocument/2006/relationships/tableStyles" Target="/ppt/tableStyles.xml" Id="Rd51e858224954c6f" /><Relationship Type="http://schemas.openxmlformats.org/officeDocument/2006/relationships/slide" Target="/ppt/slides/slide1.xml" Id="R17a5198d49924bce" /><Relationship Type="http://schemas.openxmlformats.org/officeDocument/2006/relationships/slide" Target="/ppt/slides/slide2.xml" Id="R86fe4ec49f3544f8" /><Relationship Type="http://schemas.openxmlformats.org/officeDocument/2006/relationships/slide" Target="/ppt/slides/slide3.xml" Id="R62a8011fd7c34c17" /><Relationship Type="http://schemas.openxmlformats.org/officeDocument/2006/relationships/slide" Target="/ppt/slides/slide4.xml" Id="R21d0e32060f6405b" /><Relationship Type="http://schemas.openxmlformats.org/officeDocument/2006/relationships/slide" Target="/ppt/slides/slide5.xml" Id="Rd3864ed25aed4669" /><Relationship Type="http://schemas.openxmlformats.org/officeDocument/2006/relationships/slide" Target="/ppt/slides/slide6.xml" Id="Rbfdc3a5bd22242a5" /><Relationship Type="http://schemas.openxmlformats.org/officeDocument/2006/relationships/slide" Target="/ppt/slides/slide7.xml" Id="Rf811e026e97543d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eae6b2c5d37484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bec35fcddbc4cda" /><Relationship Type="http://schemas.openxmlformats.org/officeDocument/2006/relationships/notesMaster" Target="/ppt/notesMasters/notesMaster1.xml" Id="R4d3d2cd85b034c85" /></Relationships>
</file>

<file path=ppt/notesSlides/_rels/notesSlide2.xml.rels>&#65279;<?xml version="1.0" encoding="utf-8"?><Relationships xmlns="http://schemas.openxmlformats.org/package/2006/relationships"><Relationship Type="http://schemas.openxmlformats.org/officeDocument/2006/relationships/slide" Target="/ppt/slides/slide2.xml" Id="R1d0507a8e672413a" /><Relationship Type="http://schemas.openxmlformats.org/officeDocument/2006/relationships/notesMaster" Target="/ppt/notesMasters/notesMaster1.xml" Id="Rbcd13f01af6b43a8" /></Relationships>
</file>

<file path=ppt/notesSlides/_rels/notesSlide3.xml.rels>&#65279;<?xml version="1.0" encoding="utf-8"?><Relationships xmlns="http://schemas.openxmlformats.org/package/2006/relationships"><Relationship Type="http://schemas.openxmlformats.org/officeDocument/2006/relationships/slide" Target="/ppt/slides/slide3.xml" Id="R5c13291c853446ff" /><Relationship Type="http://schemas.openxmlformats.org/officeDocument/2006/relationships/notesMaster" Target="/ppt/notesMasters/notesMaster1.xml" Id="R748ba332a88c48c3" /></Relationships>
</file>

<file path=ppt/notesSlides/_rels/notesSlide4.xml.rels>&#65279;<?xml version="1.0" encoding="utf-8"?><Relationships xmlns="http://schemas.openxmlformats.org/package/2006/relationships"><Relationship Type="http://schemas.openxmlformats.org/officeDocument/2006/relationships/slide" Target="/ppt/slides/slide4.xml" Id="R19aef9798d094753" /><Relationship Type="http://schemas.openxmlformats.org/officeDocument/2006/relationships/notesMaster" Target="/ppt/notesMasters/notesMaster1.xml" Id="Rb04e910ca8e0438e" /></Relationships>
</file>

<file path=ppt/notesSlides/_rels/notesSlide5.xml.rels>&#65279;<?xml version="1.0" encoding="utf-8"?><Relationships xmlns="http://schemas.openxmlformats.org/package/2006/relationships"><Relationship Type="http://schemas.openxmlformats.org/officeDocument/2006/relationships/slide" Target="/ppt/slides/slide5.xml" Id="Rb1b9c1ae6b8b42f0" /><Relationship Type="http://schemas.openxmlformats.org/officeDocument/2006/relationships/notesMaster" Target="/ppt/notesMasters/notesMaster1.xml" Id="Rbe8decb40e6e49bd" /></Relationships>
</file>

<file path=ppt/notesSlides/_rels/notesSlide6.xml.rels>&#65279;<?xml version="1.0" encoding="utf-8"?><Relationships xmlns="http://schemas.openxmlformats.org/package/2006/relationships"><Relationship Type="http://schemas.openxmlformats.org/officeDocument/2006/relationships/slide" Target="/ppt/slides/slide6.xml" Id="R6f5fbc35045a427c" /><Relationship Type="http://schemas.openxmlformats.org/officeDocument/2006/relationships/notesMaster" Target="/ppt/notesMasters/notesMaster1.xml" Id="R9830b66091184fa5" /></Relationships>
</file>

<file path=ppt/notesSlides/_rels/notesSlide7.xml.rels>&#65279;<?xml version="1.0" encoding="utf-8"?><Relationships xmlns="http://schemas.openxmlformats.org/package/2006/relationships"><Relationship Type="http://schemas.openxmlformats.org/officeDocument/2006/relationships/slide" Target="/ppt/slides/slide7.xml" Id="Rd8f1c5752d1141cf" /><Relationship Type="http://schemas.openxmlformats.org/officeDocument/2006/relationships/notesMaster" Target="/ppt/notesMasters/notesMaster1.xml" Id="R253399608491425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of the deployed progression view. Synthetic patient data. Clinical interpretation remains with the physician.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Pain points from the supplied PDFs and user workflow discussions. OPD and review timings are not measured. An absent record is not proof a test was not done.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text_to_pdf_Imagetotext.pdf and GlucoFlow Master Technical Dashboard &amp; Architecture (1).pdf. All fifteen chart values preserved exactly. Prescription event summaries: June12 2023 glargine10units bedtime; June12 2024 lispro4units preprandial plus glimepiride2mg; 2026Q1–Q2 glargine14units nightly plus lispro4unitsTID. Metformin also recorded. Dates of annual lab observations are not exact; no causal inference. AI extraction uses OCR and GPT-6 Luna.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Connected workflow: uploaded reports pass AI extraction and mandatory human verification before publication to the shared patient record. Home events are separately labelled patient reports and feed the same record. The doctor reads progression, prescriptions and original sources. Clinician-entered dates drive configured follow-up tracking. Patient-triggered SOS freezes a snapshot for clinic inbox inspection and acknowledgement; no real emergency dispatch. Native editable connectors attach to their nodes.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30% target is a proposed pilot success criterion, not a measured benefit. Compare both ordinary manual preparation and a structured manual timeline. Current implementation evidence:135 local automated tests; previous hosted baseline25/25API checks and12/12database policy checks. These are engineering checks, not clinical or productivity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Subscription and expansion are proposed. No price, revenue or customer count is validated. Live ABHA integration is not implemented. Current stack:Vite React, Fastify API/worker, Supabase Auth/PostgreSQL/Storage, Azure Container Apps, Vercel frontend. Per-document extraction budget gate and scale-to-zero help control operating costs.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demo accounts. Physician retains clinical judgment. No clinical diagnosis, treatment recommendation or emergency dispatch. Official hackathon scope:https://healthathon.reskilll.com/ is non-clinical operational workflow improvement, human assistance and measurement within60–90days. Productivity and clinical outcomes require user testing.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be043d6750d468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091413595734341" /><Relationship Type="http://schemas.openxmlformats.org/officeDocument/2006/relationships/slideLayout" Target="/ppt/slideLayouts/slideLayout1.xml" Id="R6e6b77eaaaba4d6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e6b77eaaaba4d6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d625f054d27498e" /><Relationship Type="http://schemas.openxmlformats.org/officeDocument/2006/relationships/image" Target="/ppt/media/image.jpeg" Id="Rebf56ba68fe848dd" /><Relationship Type="http://schemas.openxmlformats.org/officeDocument/2006/relationships/notesSlide" Target="/ppt/notesSlides/notesSlide1.xml" Id="R7cdadbca9a9a4c5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9236a7204f84a85" /><Relationship Type="http://schemas.openxmlformats.org/officeDocument/2006/relationships/notesSlide" Target="/ppt/notesSlides/notesSlide2.xml" Id="R79ea79fd5069496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32de647d5774662" /><Relationship Type="http://schemas.openxmlformats.org/officeDocument/2006/relationships/chart" Target="/ppt/slides/charts/chart1.xml" Id="Rcbc2eb586a664c06" /><Relationship Type="http://schemas.openxmlformats.org/officeDocument/2006/relationships/notesSlide" Target="/ppt/notesSlides/notesSlide3.xml" Id="R0cc90343ceea452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59a9bc2208740a8" /><Relationship Type="http://schemas.openxmlformats.org/officeDocument/2006/relationships/notesSlide" Target="/ppt/notesSlides/notesSlide4.xml" Id="Rc72bda6e54c2492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fdad0abae94415c" /><Relationship Type="http://schemas.openxmlformats.org/officeDocument/2006/relationships/notesSlide" Target="/ppt/notesSlides/notesSlide5.xml" Id="Rc8a3b771ae0c44e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839feeff01448c9" /><Relationship Type="http://schemas.openxmlformats.org/officeDocument/2006/relationships/notesSlide" Target="/ppt/notesSlides/notesSlide6.xml" Id="R7c7deba46a40490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c3e5af8fe8342c3" /><Relationship Type="http://schemas.openxmlformats.org/officeDocument/2006/relationships/notesSlide" Target="/ppt/notesSlides/notesSlide7.xml" Id="R79dd8c081169489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HbA1c (%)</c:v>
          </c:tx>
          <c:spPr>
            <a:ln xmlns:a="http://schemas.openxmlformats.org/drawingml/2006/main" w="28575">
              <a:solidFill>
                <a:srgbClr val="CC2453"/>
              </a:solidFill>
            </a:ln>
          </c:spPr>
          <c:marker>
            <c:symbol val="circle"/>
            <c:size val="7"/>
            <c:spPr>
              <a:solidFill xmlns:a="http://schemas.openxmlformats.org/drawingml/2006/main">
                <a:srgbClr val="CC2453"/>
              </a:solidFill>
            </c:spPr>
          </c:marker>
          <c:cat>
            <c:strRef>
              <c:f>'Chart Data'!$A$2:$A$6</c:f>
              <c:strCache>
                <c:ptCount val="5"/>
                <c:pt idx="0">
                  <c:v>2022</c:v>
                </c:pt>
                <c:pt idx="1">
                  <c:v>2023</c:v>
                </c:pt>
                <c:pt idx="2">
                  <c:v>2024</c:v>
                </c:pt>
                <c:pt idx="3">
                  <c:v>2025</c:v>
                </c:pt>
                <c:pt idx="4">
                  <c:v>2026 Q2</c:v>
                </c:pt>
              </c:strCache>
            </c:strRef>
          </c:cat>
          <c:val>
            <c:numRef>
              <c:f>'Chart Data'!$B$2:$B$6</c:f>
              <c:numCache>
                <c:formatCode>0.0"%"</c:formatCode>
                <c:ptCount val="5"/>
                <c:pt idx="0">
                  <c:v>7.2</c:v>
                </c:pt>
                <c:pt idx="1">
                  <c:v>7.3</c:v>
                </c:pt>
                <c:pt idx="2">
                  <c:v>7</c:v>
                </c:pt>
                <c:pt idx="3">
                  <c:v>7.6</c:v>
                </c:pt>
                <c:pt idx="4">
                  <c:v>8</c:v>
                </c:pt>
              </c:numCache>
            </c:numRef>
          </c:val>
          <c:smooth val="0"/>
        </c:ser>
        <c:smooth val="0"/>
        <c:axId val="48650112"/>
        <c:axId val="48672768"/>
      </c:lineChart>
      <c:lineChart>
        <c:grouping val="standard"/>
        <c:ser>
          <c:idx val="1"/>
          <c:order val="1"/>
          <c:tx>
            <c:v>Fasting (mg/dL)</c:v>
          </c:tx>
          <c:spPr>
            <a:ln xmlns:a="http://schemas.openxmlformats.org/drawingml/2006/main" w="28575">
              <a:solidFill>
                <a:srgbClr val="CF800B"/>
              </a:solidFill>
            </a:ln>
          </c:spPr>
          <c:marker>
            <c:symbol val="circle"/>
            <c:size val="7"/>
            <c:spPr>
              <a:solidFill xmlns:a="http://schemas.openxmlformats.org/drawingml/2006/main">
                <a:srgbClr val="CF800B"/>
              </a:solidFill>
            </c:spPr>
          </c:marker>
          <c:cat>
            <c:strRef>
              <c:f>'Chart Data'!$C$2:$C$6</c:f>
              <c:strCache>
                <c:ptCount val="5"/>
                <c:pt idx="0">
                  <c:v>2022</c:v>
                </c:pt>
                <c:pt idx="1">
                  <c:v>2023</c:v>
                </c:pt>
                <c:pt idx="2">
                  <c:v>2024</c:v>
                </c:pt>
                <c:pt idx="3">
                  <c:v>2025</c:v>
                </c:pt>
                <c:pt idx="4">
                  <c:v>2026 Q2</c:v>
                </c:pt>
              </c:strCache>
            </c:strRef>
          </c:cat>
          <c:val>
            <c:numRef>
              <c:f>'Chart Data'!$D$2:$D$6</c:f>
              <c:numCache>
                <c:formatCode>0.0"%"</c:formatCode>
                <c:ptCount val="5"/>
                <c:pt idx="0">
                  <c:v>132</c:v>
                </c:pt>
                <c:pt idx="1">
                  <c:v>140</c:v>
                </c:pt>
                <c:pt idx="2">
                  <c:v>118</c:v>
                </c:pt>
                <c:pt idx="3">
                  <c:v>135</c:v>
                </c:pt>
                <c:pt idx="4">
                  <c:v>142</c:v>
                </c:pt>
              </c:numCache>
            </c:numRef>
          </c:val>
          <c:smooth val="0"/>
        </c:ser>
        <c:ser>
          <c:idx val="2"/>
          <c:order val="2"/>
          <c:tx>
            <c:v>Post-meal (mg/dL)</c:v>
          </c:tx>
          <c:spPr>
            <a:ln xmlns:a="http://schemas.openxmlformats.org/drawingml/2006/main" w="28575">
              <a:solidFill>
                <a:srgbClr val="137A76"/>
              </a:solidFill>
            </a:ln>
          </c:spPr>
          <c:marker>
            <c:symbol val="circle"/>
            <c:size val="7"/>
            <c:spPr>
              <a:solidFill xmlns:a="http://schemas.openxmlformats.org/drawingml/2006/main">
                <a:srgbClr val="137A76"/>
              </a:solidFill>
            </c:spPr>
          </c:marker>
          <c:cat>
            <c:strRef>
              <c:f>'Chart Data'!$E$2:$E$6</c:f>
              <c:strCache>
                <c:ptCount val="5"/>
                <c:pt idx="0">
                  <c:v>2022</c:v>
                </c:pt>
                <c:pt idx="1">
                  <c:v>2023</c:v>
                </c:pt>
                <c:pt idx="2">
                  <c:v>2024</c:v>
                </c:pt>
                <c:pt idx="3">
                  <c:v>2025</c:v>
                </c:pt>
                <c:pt idx="4">
                  <c:v>2026 Q2</c:v>
                </c:pt>
              </c:strCache>
            </c:strRef>
          </c:cat>
          <c:val>
            <c:numRef>
              <c:f>'Chart Data'!$F$2:$F$6</c:f>
              <c:numCache>
                <c:formatCode>0.0"%"</c:formatCode>
                <c:ptCount val="5"/>
                <c:pt idx="0">
                  <c:v>175</c:v>
                </c:pt>
                <c:pt idx="1">
                  <c:v>188</c:v>
                </c:pt>
                <c:pt idx="2">
                  <c:v>165</c:v>
                </c:pt>
                <c:pt idx="3">
                  <c:v>195</c:v>
                </c:pt>
                <c:pt idx="4">
                  <c:v>210</c:v>
                </c:pt>
              </c:numCache>
            </c:numRef>
          </c:val>
          <c:smooth val="0"/>
        </c:ser>
        <c:axId val="48650112"/>
        <c:axId val="400002"/>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Inter"/>
                <a:ea typeface="Inter"/>
                <a:cs typeface="Inter"/>
              </a:defRPr>
            </a:pPr>
          </a:p>
        </c:txPr>
        <c:crossAx val="48672768"/>
      </c:catAx>
      <c:valAx>
        <c:axId val="48672768"/>
        <c:scaling>
          <c:orientation val="minMax"/>
          <c:max val="10"/>
          <c:min val="5"/>
        </c:scaling>
        <c:delete val="0"/>
        <c:axPos val="l"/>
        <c:majorGridlines>
          <c:spPr>
            <a:ln xmlns:a="http://schemas.openxmlformats.org/drawingml/2006/main" w="9525">
              <a:solidFill>
                <a:srgbClr val="E4EAF0"/>
              </a:solidFill>
            </a:ln>
          </c:spPr>
        </c:majorGridlines>
        <c:numFmt formatCode="0.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Inter"/>
                <a:ea typeface="Inter"/>
                <a:cs typeface="Inter"/>
              </a:defRPr>
            </a:pPr>
          </a:p>
        </c:txPr>
        <c:crossAx val="48650112"/>
        <c:crossBetween val="between"/>
        <c:majorUnit val="1.25"/>
      </c:valAx>
      <c:spPr>
        <a:solidFill xmlns:a="http://schemas.openxmlformats.org/drawingml/2006/main">
          <a:srgbClr val="FFFFFF"/>
        </a:solidFill>
      </c:spPr>
      <c:valAx>
        <c:axId val="400002"/>
        <c:scaling>
          <c:orientation val="minMax"/>
          <c:max val="250"/>
          <c:min val="70"/>
        </c:scaling>
        <c:delete val="0"/>
        <c:axPos val="r"/>
        <c:numFmt formatCode="0"/>
        <c:majorTickMark val="none"/>
        <c:minorTickMark val="none"/>
        <c:tickLblPos val="high"/>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Inter"/>
                <a:ea typeface="Inter"/>
                <a:cs typeface="Inter"/>
              </a:defRPr>
            </a:pPr>
          </a:p>
        </c:txPr>
        <c:crossAx val="48650112"/>
        <c:crossBetween val="between"/>
        <c:majorUnit val="45"/>
      </c:valAx>
    </c:plotArea>
    <c:legend>
      <c:legendPos val="b"/>
      <c:overlay val="0"/>
      <c:txPr>
        <a:bodyPr xmlns:a="http://schemas.openxmlformats.org/drawingml/2006/main" anchorCtr="1"/>
        <a:lstStyle xmlns:a="http://schemas.openxmlformats.org/drawingml/2006/main"/>
        <a:p xmlns:a="http://schemas.openxmlformats.org/drawingml/2006/main">
          <a:pPr>
            <a:defRPr sz="1350">
              <a:latin typeface="Inter"/>
              <a:ea typeface="Inter"/>
              <a:cs typeface="Inter"/>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5D7E85B-2E50-495A-9749-441912E32076}"/>
              </a:ext>
            </a:extLst>
          </p:cNvPr>
          <p:cNvSpPr>
            <a:spLocks xmlns:a="http://schemas.openxmlformats.org/drawingml/2006/main" noGrp="1"/>
          </p:cNvSpPr>
          <p:nvPr/>
        </p:nvSpPr>
        <p:spPr>
          <a:xfrm xmlns:a="http://schemas.openxmlformats.org/drawingml/2006/main">
            <a:off x="571500" y="361950"/>
            <a:ext cx="1714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Inter"/>
                <a:ea typeface="Inter"/>
                <a:cs typeface="Inter"/>
              </a:defRPr>
            </a:pPr>
            <a:r>
              <a:rPr sz="3000" b="1">
                <a:solidFill>
                  <a:srgbClr val="142735"/>
                </a:solidFill>
                <a:latin typeface="Inter"/>
                <a:ea typeface="Inter"/>
                <a:cs typeface="Inter"/>
              </a:rPr>
              <a:t>Glucoflow</a:t>
            </a:r>
          </a:p>
        </p:txBody>
      </p:sp>
      <p:sp>
        <p:nvSpPr>
          <p:cNvPr id="2" name="">
            <a:extLst xmlns:a="http://schemas.openxmlformats.org/drawingml/2006/main">
              <a:ext uri="{FF2B5EF4-FFF2-40B4-BE49-F238E27FC236}">
                <a16:creationId xmlns:a16="http://schemas.microsoft.com/office/drawing/2014/main" id="{B90513D7-0E1D-478D-BB6D-A5582228A81F}"/>
              </a:ext>
            </a:extLst>
          </p:cNvPr>
          <p:cNvSpPr>
            <a:spLocks xmlns:a="http://schemas.openxmlformats.org/drawingml/2006/main" noGrp="1"/>
          </p:cNvSpPr>
          <p:nvPr/>
        </p:nvSpPr>
        <p:spPr>
          <a:xfrm xmlns:a="http://schemas.openxmlformats.org/drawingml/2006/main">
            <a:off x="571500" y="2333625"/>
            <a:ext cx="509587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Inter"/>
                <a:ea typeface="Inter"/>
                <a:cs typeface="Inter"/>
              </a:defRPr>
            </a:pPr>
            <a:r>
              <a:rPr sz="3000" b="1">
                <a:solidFill>
                  <a:srgbClr val="142735"/>
                </a:solidFill>
                <a:latin typeface="Inter"/>
                <a:ea typeface="Inter"/>
                <a:cs typeface="Inter"/>
              </a:rPr>
              <a:t>A patient’s follow-up history, ready for the doctor to review.</a:t>
            </a:r>
          </a:p>
        </p:txBody>
      </p:sp>
      <p:sp>
        <p:nvSpPr>
          <p:cNvPr id="3" name="">
            <a:extLst xmlns:a="http://schemas.openxmlformats.org/drawingml/2006/main">
              <a:ext uri="{FF2B5EF4-FFF2-40B4-BE49-F238E27FC236}">
                <a16:creationId xmlns:a16="http://schemas.microsoft.com/office/drawing/2014/main" id="{DA29F4EB-D65E-4BD7-B939-2E5ACD2EA992}"/>
              </a:ext>
            </a:extLst>
          </p:cNvPr>
          <p:cNvSpPr>
            <a:spLocks xmlns:a="http://schemas.openxmlformats.org/drawingml/2006/main" noGrp="1"/>
          </p:cNvSpPr>
          <p:nvPr/>
        </p:nvSpPr>
        <p:spPr>
          <a:xfrm xmlns:a="http://schemas.openxmlformats.org/drawingml/2006/main">
            <a:off x="571500" y="5715000"/>
            <a:ext cx="4857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96B77"/>
                </a:solidFill>
                <a:latin typeface="Inter"/>
                <a:ea typeface="Inter"/>
                <a:cs typeface="Inter"/>
              </a:defRPr>
            </a:pPr>
            <a:r>
              <a:rPr sz="2175" b="0">
                <a:solidFill>
                  <a:srgbClr val="596B77"/>
                </a:solidFill>
                <a:latin typeface="Inter"/>
                <a:ea typeface="Inter"/>
                <a:cs typeface="Inter"/>
              </a:rPr>
              <a:t>Lab trends, prescriptions and patient reports together, with access to the original records.</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bf56ba68fe848dd"/>
          <a:stretch xmlns:a="http://schemas.openxmlformats.org/drawingml/2006/main"/>
        </p:blipFill>
        <p:spPr>
          <a:xfrm xmlns:a="http://schemas.openxmlformats.org/drawingml/2006/main">
            <a:off x="6196542" y="2047875"/>
            <a:ext cx="11514667" cy="6477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0B7C5AC-A4ED-4912-8026-854CF44DECDE}"/>
              </a:ext>
            </a:extLst>
          </p:cNvPr>
          <p:cNvSpPr>
            <a:spLocks xmlns:a="http://schemas.openxmlformats.org/drawingml/2006/main" noGrp="1"/>
          </p:cNvSpPr>
          <p:nvPr/>
        </p:nvSpPr>
        <p:spPr>
          <a:xfrm xmlns:a="http://schemas.openxmlformats.org/drawingml/2006/main">
            <a:off x="571500" y="9191625"/>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37A76"/>
                </a:solidFill>
                <a:latin typeface="Inter"/>
                <a:ea typeface="Inter"/>
                <a:cs typeface="Inter"/>
              </a:defRPr>
            </a:pPr>
            <a:r>
              <a:rPr sz="2025" b="0">
                <a:solidFill>
                  <a:srgbClr val="137A76"/>
                </a:solidFill>
                <a:latin typeface="Inter"/>
                <a:ea typeface="Inter"/>
                <a:cs typeface="Inter"/>
              </a:rPr>
              <a:t>glucoflow.vercel.app</a:t>
            </a:r>
          </a:p>
        </p:txBody>
      </p:sp>
    </p:spTree>
    <p:extLst>
      <p:ext uri="{BB962C8B-B14F-4D97-AF65-F5344CB8AC3E}">
        <p14:creationId xmlns:p14="http://schemas.microsoft.com/office/powerpoint/2010/main" val="1225542505"/>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685546E-6E2C-4E19-AAB8-9136D10CB577}"/>
              </a:ext>
            </a:extLst>
          </p:cNvPr>
          <p:cNvSpPr>
            <a:spLocks xmlns:a="http://schemas.openxmlformats.org/drawingml/2006/main" noGrp="1"/>
          </p:cNvSpPr>
          <p:nvPr/>
        </p:nvSpPr>
        <p:spPr>
          <a:xfrm xmlns:a="http://schemas.openxmlformats.org/drawingml/2006/main">
            <a:off x="571500" y="361950"/>
            <a:ext cx="1714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Inter"/>
                <a:ea typeface="Inter"/>
                <a:cs typeface="Inter"/>
              </a:defRPr>
            </a:pPr>
            <a:r>
              <a:rPr sz="3000" b="1">
                <a:solidFill>
                  <a:srgbClr val="142735"/>
                </a:solidFill>
                <a:latin typeface="Inter"/>
                <a:ea typeface="Inter"/>
                <a:cs typeface="Inter"/>
              </a:rPr>
              <a:t>Problem statement</a:t>
            </a:r>
          </a:p>
        </p:txBody>
      </p:sp>
      <p:sp>
        <p:nvSpPr>
          <p:cNvPr id="2" name="">
            <a:extLst xmlns:a="http://schemas.openxmlformats.org/drawingml/2006/main">
              <a:ext uri="{FF2B5EF4-FFF2-40B4-BE49-F238E27FC236}">
                <a16:creationId xmlns:a16="http://schemas.microsoft.com/office/drawing/2014/main" id="{FBDC864D-CF2C-4C95-A579-78A587B47EB9}"/>
              </a:ext>
            </a:extLst>
          </p:cNvPr>
          <p:cNvSpPr>
            <a:spLocks xmlns:a="http://schemas.openxmlformats.org/drawingml/2006/main" noGrp="1"/>
          </p:cNvSpPr>
          <p:nvPr/>
        </p:nvSpPr>
        <p:spPr>
          <a:xfrm xmlns:a="http://schemas.openxmlformats.org/drawingml/2006/main">
            <a:off x="571500" y="24288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37A76"/>
                </a:solidFill>
                <a:latin typeface="Inter"/>
                <a:ea typeface="Inter"/>
                <a:cs typeface="Inter"/>
              </a:defRPr>
            </a:pPr>
            <a:r>
              <a:rPr sz="2250" b="1">
                <a:solidFill>
                  <a:srgbClr val="137A76"/>
                </a:solidFill>
                <a:latin typeface="Inter"/>
                <a:ea typeface="Inter"/>
                <a:cs typeface="Inter"/>
              </a:rPr>
              <a:t>Reports are scattered</a:t>
            </a:r>
          </a:p>
        </p:txBody>
      </p:sp>
      <p:sp>
        <p:nvSpPr>
          <p:cNvPr id="3" name="">
            <a:extLst xmlns:a="http://schemas.openxmlformats.org/drawingml/2006/main">
              <a:ext uri="{FF2B5EF4-FFF2-40B4-BE49-F238E27FC236}">
                <a16:creationId xmlns:a16="http://schemas.microsoft.com/office/drawing/2014/main" id="{DB7D8CB6-274B-42BF-A1DF-680B01C9CFE8}"/>
              </a:ext>
            </a:extLst>
          </p:cNvPr>
          <p:cNvSpPr>
            <a:spLocks xmlns:a="http://schemas.openxmlformats.org/drawingml/2006/main" noGrp="1"/>
          </p:cNvSpPr>
          <p:nvPr/>
        </p:nvSpPr>
        <p:spPr>
          <a:xfrm xmlns:a="http://schemas.openxmlformats.org/drawingml/2006/main">
            <a:off x="571500" y="3190875"/>
            <a:ext cx="5143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735"/>
                </a:solidFill>
                <a:latin typeface="Inter"/>
                <a:ea typeface="Inter"/>
                <a:cs typeface="Inter"/>
              </a:defRPr>
            </a:pPr>
            <a:r>
              <a:rPr sz="2250" b="0">
                <a:solidFill>
                  <a:srgbClr val="142735"/>
                </a:solidFill>
                <a:latin typeface="Inter"/>
                <a:ea typeface="Inter"/>
                <a:cs typeface="Inter"/>
              </a:rPr>
              <a:t>Lab slips and prescriptions arrive from different visits. Finding the right result, date and source takes repeated searching.</a:t>
            </a:r>
          </a:p>
        </p:txBody>
      </p:sp>
      <p:sp>
        <p:nvSpPr>
          <p:cNvPr id="4" name="">
            <a:extLst xmlns:a="http://schemas.openxmlformats.org/drawingml/2006/main">
              <a:ext uri="{FF2B5EF4-FFF2-40B4-BE49-F238E27FC236}">
                <a16:creationId xmlns:a16="http://schemas.microsoft.com/office/drawing/2014/main" id="{4B36D2CD-AEF5-4BB5-8900-55C5F3D3F7A6}"/>
              </a:ext>
            </a:extLst>
          </p:cNvPr>
          <p:cNvSpPr>
            <a:spLocks xmlns:a="http://schemas.openxmlformats.org/drawingml/2006/main" noGrp="1"/>
          </p:cNvSpPr>
          <p:nvPr/>
        </p:nvSpPr>
        <p:spPr>
          <a:xfrm xmlns:a="http://schemas.openxmlformats.org/drawingml/2006/main">
            <a:off x="6524625" y="24288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37A76"/>
                </a:solidFill>
                <a:latin typeface="Inter"/>
                <a:ea typeface="Inter"/>
                <a:cs typeface="Inter"/>
              </a:defRPr>
            </a:pPr>
            <a:r>
              <a:rPr sz="2250" b="1">
                <a:solidFill>
                  <a:srgbClr val="137A76"/>
                </a:solidFill>
                <a:latin typeface="Inter"/>
                <a:ea typeface="Inter"/>
                <a:cs typeface="Inter"/>
              </a:rPr>
              <a:t>History takes work</a:t>
            </a:r>
          </a:p>
        </p:txBody>
      </p:sp>
      <p:sp>
        <p:nvSpPr>
          <p:cNvPr id="5" name="">
            <a:extLst xmlns:a="http://schemas.openxmlformats.org/drawingml/2006/main">
              <a:ext uri="{FF2B5EF4-FFF2-40B4-BE49-F238E27FC236}">
                <a16:creationId xmlns:a16="http://schemas.microsoft.com/office/drawing/2014/main" id="{DD818E95-3F6B-4BF9-9D91-C03D932232D5}"/>
              </a:ext>
            </a:extLst>
          </p:cNvPr>
          <p:cNvSpPr>
            <a:spLocks xmlns:a="http://schemas.openxmlformats.org/drawingml/2006/main" noGrp="1"/>
          </p:cNvSpPr>
          <p:nvPr/>
        </p:nvSpPr>
        <p:spPr>
          <a:xfrm xmlns:a="http://schemas.openxmlformats.org/drawingml/2006/main">
            <a:off x="6524625" y="3190875"/>
            <a:ext cx="5143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735"/>
                </a:solidFill>
                <a:latin typeface="Inter"/>
                <a:ea typeface="Inter"/>
                <a:cs typeface="Inter"/>
              </a:defRPr>
            </a:pPr>
            <a:r>
              <a:rPr sz="2250" b="0">
                <a:solidFill>
                  <a:srgbClr val="142735"/>
                </a:solidFill>
                <a:latin typeface="Inter"/>
                <a:ea typeface="Inter"/>
                <a:cs typeface="Inter"/>
              </a:rPr>
              <a:t>To compare visits, the doctor must piece together test results, medication changes and patient-reported problems.</a:t>
            </a:r>
          </a:p>
        </p:txBody>
      </p:sp>
      <p:sp>
        <p:nvSpPr>
          <p:cNvPr id="6" name="">
            <a:extLst xmlns:a="http://schemas.openxmlformats.org/drawingml/2006/main">
              <a:ext uri="{FF2B5EF4-FFF2-40B4-BE49-F238E27FC236}">
                <a16:creationId xmlns:a16="http://schemas.microsoft.com/office/drawing/2014/main" id="{B32658B9-5E72-4C7C-8FB0-B15EDD80C302}"/>
              </a:ext>
            </a:extLst>
          </p:cNvPr>
          <p:cNvSpPr>
            <a:spLocks xmlns:a="http://schemas.openxmlformats.org/drawingml/2006/main" noGrp="1"/>
          </p:cNvSpPr>
          <p:nvPr/>
        </p:nvSpPr>
        <p:spPr>
          <a:xfrm xmlns:a="http://schemas.openxmlformats.org/drawingml/2006/main">
            <a:off x="12477750" y="24288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37A76"/>
                </a:solidFill>
                <a:latin typeface="Inter"/>
                <a:ea typeface="Inter"/>
                <a:cs typeface="Inter"/>
              </a:defRPr>
            </a:pPr>
            <a:r>
              <a:rPr sz="2250" b="1">
                <a:solidFill>
                  <a:srgbClr val="137A76"/>
                </a:solidFill>
                <a:latin typeface="Inter"/>
                <a:ea typeface="Inter"/>
                <a:cs typeface="Inter"/>
              </a:rPr>
              <a:t>Follow-up is hard to track</a:t>
            </a:r>
          </a:p>
        </p:txBody>
      </p:sp>
      <p:sp>
        <p:nvSpPr>
          <p:cNvPr id="7" name="">
            <a:extLst xmlns:a="http://schemas.openxmlformats.org/drawingml/2006/main">
              <a:ext uri="{FF2B5EF4-FFF2-40B4-BE49-F238E27FC236}">
                <a16:creationId xmlns:a16="http://schemas.microsoft.com/office/drawing/2014/main" id="{DE85F24F-8F73-442A-B952-231C549D33E1}"/>
              </a:ext>
            </a:extLst>
          </p:cNvPr>
          <p:cNvSpPr>
            <a:spLocks xmlns:a="http://schemas.openxmlformats.org/drawingml/2006/main" noGrp="1"/>
          </p:cNvSpPr>
          <p:nvPr/>
        </p:nvSpPr>
        <p:spPr>
          <a:xfrm xmlns:a="http://schemas.openxmlformats.org/drawingml/2006/main">
            <a:off x="12477750" y="3190875"/>
            <a:ext cx="5143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735"/>
                </a:solidFill>
                <a:latin typeface="Inter"/>
                <a:ea typeface="Inter"/>
                <a:cs typeface="Inter"/>
              </a:defRPr>
            </a:pPr>
            <a:r>
              <a:rPr sz="2250" b="0">
                <a:solidFill>
                  <a:srgbClr val="142735"/>
                </a:solidFill>
                <a:latin typeface="Inter"/>
                <a:ea typeface="Inter"/>
                <a:cs typeface="Inter"/>
              </a:rPr>
              <a:t>Staff must check which screening dates are recorded and which follow-ups are still pending.</a:t>
            </a:r>
          </a:p>
        </p:txBody>
      </p:sp>
      <p:sp>
        <p:nvSpPr>
          <p:cNvPr id="8" name="">
            <a:extLst xmlns:a="http://schemas.openxmlformats.org/drawingml/2006/main">
              <a:ext uri="{FF2B5EF4-FFF2-40B4-BE49-F238E27FC236}">
                <a16:creationId xmlns:a16="http://schemas.microsoft.com/office/drawing/2014/main" id="{531AABFA-9C39-46BA-8D29-0619754E2A71}"/>
              </a:ext>
            </a:extLst>
          </p:cNvPr>
          <p:cNvSpPr>
            <a:spLocks xmlns:a="http://schemas.openxmlformats.org/drawingml/2006/main" noGrp="1"/>
          </p:cNvSpPr>
          <p:nvPr/>
        </p:nvSpPr>
        <p:spPr>
          <a:xfrm xmlns:a="http://schemas.openxmlformats.org/drawingml/2006/main">
            <a:off x="571500" y="7762875"/>
            <a:ext cx="16668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42735"/>
                </a:solidFill>
                <a:latin typeface="Inter"/>
                <a:ea typeface="Inter"/>
                <a:cs typeface="Inter"/>
              </a:defRPr>
            </a:pPr>
            <a:r>
              <a:rPr sz="2700" b="1">
                <a:solidFill>
                  <a:srgbClr val="142735"/>
                </a:solidFill>
                <a:latin typeface="Inter"/>
                <a:ea typeface="Inter"/>
                <a:cs typeface="Inter"/>
              </a:rPr>
              <a:t>Preparing the history competes with time spent listening to the patient.</a:t>
            </a:r>
          </a:p>
        </p:txBody>
      </p:sp>
    </p:spTree>
    <p:extLst>
      <p:ext uri="{BB962C8B-B14F-4D97-AF65-F5344CB8AC3E}">
        <p14:creationId xmlns:p14="http://schemas.microsoft.com/office/powerpoint/2010/main" val="205588799"/>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176159D-25F8-40B6-8151-A8188D0AC640}"/>
              </a:ext>
            </a:extLst>
          </p:cNvPr>
          <p:cNvSpPr>
            <a:spLocks xmlns:a="http://schemas.openxmlformats.org/drawingml/2006/main" noGrp="1"/>
          </p:cNvSpPr>
          <p:nvPr/>
        </p:nvSpPr>
        <p:spPr>
          <a:xfrm xmlns:a="http://schemas.openxmlformats.org/drawingml/2006/main">
            <a:off x="571500" y="361950"/>
            <a:ext cx="1714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Inter"/>
                <a:ea typeface="Inter"/>
                <a:cs typeface="Inter"/>
              </a:defRPr>
            </a:pPr>
            <a:r>
              <a:rPr sz="3000" b="1">
                <a:solidFill>
                  <a:srgbClr val="142735"/>
                </a:solidFill>
                <a:latin typeface="Inter"/>
                <a:ea typeface="Inter"/>
                <a:cs typeface="Inter"/>
              </a:rPr>
              <a:t>Solution</a:t>
            </a:r>
          </a:p>
        </p:txBody>
      </p:sp>
      <p:sp>
        <p:nvSpPr>
          <p:cNvPr id="2" name="">
            <a:extLst xmlns:a="http://schemas.openxmlformats.org/drawingml/2006/main">
              <a:ext uri="{FF2B5EF4-FFF2-40B4-BE49-F238E27FC236}">
                <a16:creationId xmlns:a16="http://schemas.microsoft.com/office/drawing/2014/main" id="{DAD132D9-1379-4EC0-A15A-BC50C97D6A51}"/>
              </a:ext>
            </a:extLst>
          </p:cNvPr>
          <p:cNvSpPr>
            <a:spLocks xmlns:a="http://schemas.openxmlformats.org/drawingml/2006/main" noGrp="1"/>
          </p:cNvSpPr>
          <p:nvPr/>
        </p:nvSpPr>
        <p:spPr>
          <a:xfrm xmlns:a="http://schemas.openxmlformats.org/drawingml/2006/main">
            <a:off x="619125" y="1476375"/>
            <a:ext cx="1209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735"/>
                </a:solidFill>
                <a:latin typeface="Inter"/>
                <a:ea typeface="Inter"/>
                <a:cs typeface="Inter"/>
              </a:defRPr>
            </a:pPr>
            <a:r>
              <a:rPr sz="2100" b="1">
                <a:solidFill>
                  <a:srgbClr val="142735"/>
                </a:solidFill>
                <a:latin typeface="Inter"/>
                <a:ea typeface="Inter"/>
                <a:cs typeface="Inter"/>
              </a:rPr>
              <a:t>Glucose history · 2022–2026 Q2</a:t>
            </a:r>
          </a:p>
        </p:txBody>
      </p:sp>
      <p:sp>
        <p:nvSpPr>
          <p:cNvPr id="3" name="">
            <a:extLst xmlns:a="http://schemas.openxmlformats.org/drawingml/2006/main">
              <a:ext uri="{FF2B5EF4-FFF2-40B4-BE49-F238E27FC236}">
                <a16:creationId xmlns:a16="http://schemas.microsoft.com/office/drawing/2014/main" id="{DA8B51AE-1005-4393-82C4-7686A19C0FE5}"/>
              </a:ext>
            </a:extLst>
          </p:cNvPr>
          <p:cNvSpPr>
            <a:spLocks xmlns:a="http://schemas.openxmlformats.org/drawingml/2006/main" noGrp="1"/>
          </p:cNvSpPr>
          <p:nvPr/>
        </p:nvSpPr>
        <p:spPr>
          <a:xfrm xmlns:a="http://schemas.openxmlformats.org/drawingml/2006/main">
            <a:off x="904875" y="1971675"/>
            <a:ext cx="381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CC2453"/>
                </a:solidFill>
                <a:latin typeface="Inter"/>
                <a:ea typeface="Inter"/>
                <a:cs typeface="Inter"/>
              </a:defRPr>
            </a:pPr>
            <a:r>
              <a:rPr sz="1500" b="1">
                <a:solidFill>
                  <a:srgbClr val="CC2453"/>
                </a:solidFill>
                <a:latin typeface="Inter"/>
                <a:ea typeface="Inter"/>
                <a:cs typeface="Inter"/>
              </a:rPr>
              <a:t>HbA1c (%)</a:t>
            </a:r>
          </a:p>
        </p:txBody>
      </p:sp>
      <p:sp>
        <p:nvSpPr>
          <p:cNvPr id="4" name="">
            <a:extLst xmlns:a="http://schemas.openxmlformats.org/drawingml/2006/main">
              <a:ext uri="{FF2B5EF4-FFF2-40B4-BE49-F238E27FC236}">
                <a16:creationId xmlns:a16="http://schemas.microsoft.com/office/drawing/2014/main" id="{20118A94-71C0-4AFE-AAAB-F6D7E47AD994}"/>
              </a:ext>
            </a:extLst>
          </p:cNvPr>
          <p:cNvSpPr>
            <a:spLocks xmlns:a="http://schemas.openxmlformats.org/drawingml/2006/main" noGrp="1"/>
          </p:cNvSpPr>
          <p:nvPr/>
        </p:nvSpPr>
        <p:spPr>
          <a:xfrm xmlns:a="http://schemas.openxmlformats.org/drawingml/2006/main">
            <a:off x="9620250" y="1971675"/>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37A76"/>
                </a:solidFill>
                <a:latin typeface="Inter"/>
                <a:ea typeface="Inter"/>
                <a:cs typeface="Inter"/>
              </a:defRPr>
            </a:pPr>
            <a:r>
              <a:rPr sz="1500" b="1">
                <a:solidFill>
                  <a:srgbClr val="137A76"/>
                </a:solidFill>
                <a:latin typeface="Inter"/>
                <a:ea typeface="Inter"/>
                <a:cs typeface="Inter"/>
              </a:rPr>
              <a:t>Blood glucose (mg/dL)</a:t>
            </a:r>
          </a:p>
        </p:txBody>
      </p:sp>
      <p:graphicFrame>
        <p:nvGraphicFramePr>
          <p:cNvPr id="20" name="Chart"/>
          <p:cNvGraphicFramePr/>
          <p:nvPr/>
        </p:nvGraphicFramePr>
        <p:xfrm>
          <a:off xmlns:a="http://schemas.openxmlformats.org/drawingml/2006/main" x="619125" y="2238375"/>
          <a:ext xmlns:a="http://schemas.openxmlformats.org/drawingml/2006/main" cx="12192000" cy="4333875"/>
        </p:xfrm>
        <a:graphic xmlns:a="http://schemas.openxmlformats.org/drawingml/2006/main">
          <a:graphicData uri="http://schemas.openxmlformats.org/drawingml/2006/chart">
            <c:chart xmlns:r="http://schemas.openxmlformats.org/officeDocument/2006/relationships" xmlns:c="http://schemas.openxmlformats.org/drawingml/2006/chart" r:id="Rcbc2eb586a664c06"/>
          </a:graphicData>
        </a:graphic>
      </p:graphicFrame>
      <p:sp>
        <p:nvSpPr>
          <p:cNvPr id="6" name="">
            <a:extLst xmlns:a="http://schemas.openxmlformats.org/drawingml/2006/main">
              <a:ext uri="{FF2B5EF4-FFF2-40B4-BE49-F238E27FC236}">
                <a16:creationId xmlns:a16="http://schemas.microsoft.com/office/drawing/2014/main" id="{B80F6423-3812-411D-862E-F538B213F019}"/>
              </a:ext>
            </a:extLst>
          </p:cNvPr>
          <p:cNvSpPr>
            <a:spLocks xmlns:a="http://schemas.openxmlformats.org/drawingml/2006/main" noGrp="1"/>
          </p:cNvSpPr>
          <p:nvPr/>
        </p:nvSpPr>
        <p:spPr>
          <a:xfrm xmlns:a="http://schemas.openxmlformats.org/drawingml/2006/main">
            <a:off x="13525500" y="1571625"/>
            <a:ext cx="4095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37A76"/>
                </a:solidFill>
                <a:latin typeface="Inter"/>
                <a:ea typeface="Inter"/>
                <a:cs typeface="Inter"/>
              </a:defRPr>
            </a:pPr>
            <a:r>
              <a:rPr sz="2250" b="1">
                <a:solidFill>
                  <a:srgbClr val="137A76"/>
                </a:solidFill>
                <a:latin typeface="Inter"/>
                <a:ea typeface="Inter"/>
                <a:cs typeface="Inter"/>
              </a:rPr>
              <a:t>Prescription history</a:t>
            </a:r>
          </a:p>
        </p:txBody>
      </p:sp>
      <p:sp>
        <p:nvSpPr>
          <p:cNvPr id="7" name="">
            <a:extLst xmlns:a="http://schemas.openxmlformats.org/drawingml/2006/main">
              <a:ext uri="{FF2B5EF4-FFF2-40B4-BE49-F238E27FC236}">
                <a16:creationId xmlns:a16="http://schemas.microsoft.com/office/drawing/2014/main" id="{F1DD6331-D8D5-4583-83F4-9F32E65C92E8}"/>
              </a:ext>
            </a:extLst>
          </p:cNvPr>
          <p:cNvSpPr>
            <a:spLocks xmlns:a="http://schemas.openxmlformats.org/drawingml/2006/main" noGrp="1"/>
          </p:cNvSpPr>
          <p:nvPr/>
        </p:nvSpPr>
        <p:spPr>
          <a:xfrm xmlns:a="http://schemas.openxmlformats.org/drawingml/2006/main">
            <a:off x="13525500" y="2333625"/>
            <a:ext cx="4095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735"/>
                </a:solidFill>
                <a:latin typeface="Inter"/>
                <a:ea typeface="Inter"/>
                <a:cs typeface="Inter"/>
              </a:defRPr>
            </a:pPr>
            <a:r>
              <a:rPr sz="1950" b="0">
                <a:solidFill>
                  <a:srgbClr val="142735"/>
                </a:solidFill>
                <a:latin typeface="Inter"/>
                <a:ea typeface="Inter"/>
                <a:cs typeface="Inter"/>
              </a:rPr>
              <a:t>2023 · Glargine added</a:t>
            </a:r>
          </a:p>
          <a:p xmlns:a="http://schemas.openxmlformats.org/drawingml/2006/main">
            <a:r>
              <a:t/>
            </a:r>
          </a:p>
          <a:p xmlns:a="http://schemas.openxmlformats.org/drawingml/2006/main">
            <a:pPr>
              <a:defRPr sz="1950" b="0">
                <a:solidFill>
                  <a:srgbClr val="142735"/>
                </a:solidFill>
                <a:latin typeface="Inter"/>
                <a:ea typeface="Inter"/>
                <a:cs typeface="Inter"/>
              </a:defRPr>
            </a:pPr>
            <a:r>
              <a:rPr sz="1950" b="0">
                <a:solidFill>
                  <a:srgbClr val="142735"/>
                </a:solidFill>
                <a:latin typeface="Inter"/>
                <a:ea typeface="Inter"/>
                <a:cs typeface="Inter"/>
              </a:rPr>
              <a:t>2024 · Lispro and glimepiride added</a:t>
            </a:r>
          </a:p>
          <a:p xmlns:a="http://schemas.openxmlformats.org/drawingml/2006/main">
            <a:r>
              <a:t/>
            </a:r>
          </a:p>
          <a:p xmlns:a="http://schemas.openxmlformats.org/drawingml/2006/main">
            <a:pPr>
              <a:defRPr sz="1950" b="0">
                <a:solidFill>
                  <a:srgbClr val="142735"/>
                </a:solidFill>
                <a:latin typeface="Inter"/>
                <a:ea typeface="Inter"/>
                <a:cs typeface="Inter"/>
              </a:defRPr>
            </a:pPr>
            <a:r>
              <a:rPr sz="1950" b="0">
                <a:solidFill>
                  <a:srgbClr val="142735"/>
                </a:solidFill>
                <a:latin typeface="Inter"/>
                <a:ea typeface="Inter"/>
                <a:cs typeface="Inter"/>
              </a:rPr>
              <a:t>2026 · Updated insulin regimen</a:t>
            </a:r>
          </a:p>
        </p:txBody>
      </p:sp>
      <p:sp>
        <p:nvSpPr>
          <p:cNvPr id="8" name="">
            <a:extLst xmlns:a="http://schemas.openxmlformats.org/drawingml/2006/main">
              <a:ext uri="{FF2B5EF4-FFF2-40B4-BE49-F238E27FC236}">
                <a16:creationId xmlns:a16="http://schemas.microsoft.com/office/drawing/2014/main" id="{74E7C5C8-24C7-4C8E-AF96-672B7194F1DA}"/>
              </a:ext>
            </a:extLst>
          </p:cNvPr>
          <p:cNvSpPr>
            <a:spLocks xmlns:a="http://schemas.openxmlformats.org/drawingml/2006/main" noGrp="1"/>
          </p:cNvSpPr>
          <p:nvPr/>
        </p:nvSpPr>
        <p:spPr>
          <a:xfrm xmlns:a="http://schemas.openxmlformats.org/drawingml/2006/main">
            <a:off x="13525500" y="5619750"/>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Open each event to inspect the prescription.</a:t>
            </a:r>
          </a:p>
        </p:txBody>
      </p:sp>
      <p:sp>
        <p:nvSpPr>
          <p:cNvPr id="9" name="">
            <a:extLst xmlns:a="http://schemas.openxmlformats.org/drawingml/2006/main">
              <a:ext uri="{FF2B5EF4-FFF2-40B4-BE49-F238E27FC236}">
                <a16:creationId xmlns:a16="http://schemas.microsoft.com/office/drawing/2014/main" id="{A22FAFF7-5CBC-427C-89FB-C2C9ED2B74D7}"/>
              </a:ext>
            </a:extLst>
          </p:cNvPr>
          <p:cNvSpPr>
            <a:spLocks xmlns:a="http://schemas.openxmlformats.org/drawingml/2006/main" noGrp="1"/>
          </p:cNvSpPr>
          <p:nvPr/>
        </p:nvSpPr>
        <p:spPr>
          <a:xfrm xmlns:a="http://schemas.openxmlformats.org/drawingml/2006/main">
            <a:off x="571500" y="733425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37A76"/>
                </a:solidFill>
                <a:latin typeface="Inter"/>
                <a:ea typeface="Inter"/>
                <a:cs typeface="Inter"/>
              </a:defRPr>
            </a:pPr>
            <a:r>
              <a:rPr sz="2250" b="1">
                <a:solidFill>
                  <a:srgbClr val="137A76"/>
                </a:solidFill>
                <a:latin typeface="Inter"/>
                <a:ea typeface="Inter"/>
                <a:cs typeface="Inter"/>
              </a:rPr>
              <a:t>Extract and verify</a:t>
            </a:r>
          </a:p>
        </p:txBody>
      </p:sp>
      <p:sp>
        <p:nvSpPr>
          <p:cNvPr id="10" name="">
            <a:extLst xmlns:a="http://schemas.openxmlformats.org/drawingml/2006/main">
              <a:ext uri="{FF2B5EF4-FFF2-40B4-BE49-F238E27FC236}">
                <a16:creationId xmlns:a16="http://schemas.microsoft.com/office/drawing/2014/main" id="{36D88471-09CD-4062-B6C7-8797D40D5791}"/>
              </a:ext>
            </a:extLst>
          </p:cNvPr>
          <p:cNvSpPr>
            <a:spLocks xmlns:a="http://schemas.openxmlformats.org/drawingml/2006/main" noGrp="1"/>
          </p:cNvSpPr>
          <p:nvPr/>
        </p:nvSpPr>
        <p:spPr>
          <a:xfrm xmlns:a="http://schemas.openxmlformats.org/drawingml/2006/main">
            <a:off x="571500" y="8096250"/>
            <a:ext cx="5143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735"/>
                </a:solidFill>
                <a:latin typeface="Inter"/>
                <a:ea typeface="Inter"/>
                <a:cs typeface="Inter"/>
              </a:defRPr>
            </a:pPr>
            <a:r>
              <a:rPr sz="1950" b="0">
                <a:solidFill>
                  <a:srgbClr val="142735"/>
                </a:solidFill>
                <a:latin typeface="Inter"/>
                <a:ea typeface="Inter"/>
                <a:cs typeface="Inter"/>
              </a:rPr>
              <a:t>AI extracts report fields with source evidence. A reviewer checks them before publication.</a:t>
            </a:r>
          </a:p>
        </p:txBody>
      </p:sp>
      <p:sp>
        <p:nvSpPr>
          <p:cNvPr id="11" name="">
            <a:extLst xmlns:a="http://schemas.openxmlformats.org/drawingml/2006/main">
              <a:ext uri="{FF2B5EF4-FFF2-40B4-BE49-F238E27FC236}">
                <a16:creationId xmlns:a16="http://schemas.microsoft.com/office/drawing/2014/main" id="{75FBA980-B5C7-4C52-829A-55AE0D103EEF}"/>
              </a:ext>
            </a:extLst>
          </p:cNvPr>
          <p:cNvSpPr>
            <a:spLocks xmlns:a="http://schemas.openxmlformats.org/drawingml/2006/main" noGrp="1"/>
          </p:cNvSpPr>
          <p:nvPr/>
        </p:nvSpPr>
        <p:spPr>
          <a:xfrm xmlns:a="http://schemas.openxmlformats.org/drawingml/2006/main">
            <a:off x="6524625" y="733425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37A76"/>
                </a:solidFill>
                <a:latin typeface="Inter"/>
                <a:ea typeface="Inter"/>
                <a:cs typeface="Inter"/>
              </a:defRPr>
            </a:pPr>
            <a:r>
              <a:rPr sz="2250" b="1">
                <a:solidFill>
                  <a:srgbClr val="137A76"/>
                </a:solidFill>
                <a:latin typeface="Inter"/>
                <a:ea typeface="Inter"/>
                <a:cs typeface="Inter"/>
              </a:rPr>
              <a:t>Review progression</a:t>
            </a:r>
          </a:p>
        </p:txBody>
      </p:sp>
      <p:sp>
        <p:nvSpPr>
          <p:cNvPr id="12" name="">
            <a:extLst xmlns:a="http://schemas.openxmlformats.org/drawingml/2006/main">
              <a:ext uri="{FF2B5EF4-FFF2-40B4-BE49-F238E27FC236}">
                <a16:creationId xmlns:a16="http://schemas.microsoft.com/office/drawing/2014/main" id="{446825FC-5151-4B02-9564-79FFA2B836BF}"/>
              </a:ext>
            </a:extLst>
          </p:cNvPr>
          <p:cNvSpPr>
            <a:spLocks xmlns:a="http://schemas.openxmlformats.org/drawingml/2006/main" noGrp="1"/>
          </p:cNvSpPr>
          <p:nvPr/>
        </p:nvSpPr>
        <p:spPr>
          <a:xfrm xmlns:a="http://schemas.openxmlformats.org/drawingml/2006/main">
            <a:off x="6524625" y="8096250"/>
            <a:ext cx="5143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735"/>
                </a:solidFill>
                <a:latin typeface="Inter"/>
                <a:ea typeface="Inter"/>
                <a:cs typeface="Inter"/>
              </a:defRPr>
            </a:pPr>
            <a:r>
              <a:rPr sz="1950" b="0">
                <a:solidFill>
                  <a:srgbClr val="142735"/>
                </a:solidFill>
                <a:latin typeface="Inter"/>
                <a:ea typeface="Inter"/>
                <a:cs typeface="Inter"/>
              </a:rPr>
              <a:t>Dated results and medications share one timeline. Original reports stay accessible.</a:t>
            </a:r>
          </a:p>
        </p:txBody>
      </p:sp>
      <p:sp>
        <p:nvSpPr>
          <p:cNvPr id="13" name="">
            <a:extLst xmlns:a="http://schemas.openxmlformats.org/drawingml/2006/main">
              <a:ext uri="{FF2B5EF4-FFF2-40B4-BE49-F238E27FC236}">
                <a16:creationId xmlns:a16="http://schemas.microsoft.com/office/drawing/2014/main" id="{52E8C889-D955-4708-AEDD-1B58D9C655BD}"/>
              </a:ext>
            </a:extLst>
          </p:cNvPr>
          <p:cNvSpPr>
            <a:spLocks xmlns:a="http://schemas.openxmlformats.org/drawingml/2006/main" noGrp="1"/>
          </p:cNvSpPr>
          <p:nvPr/>
        </p:nvSpPr>
        <p:spPr>
          <a:xfrm xmlns:a="http://schemas.openxmlformats.org/drawingml/2006/main">
            <a:off x="12477750" y="733425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37A76"/>
                </a:solidFill>
                <a:latin typeface="Inter"/>
                <a:ea typeface="Inter"/>
                <a:cs typeface="Inter"/>
              </a:defRPr>
            </a:pPr>
            <a:r>
              <a:rPr sz="2250" b="1">
                <a:solidFill>
                  <a:srgbClr val="137A76"/>
                </a:solidFill>
                <a:latin typeface="Inter"/>
                <a:ea typeface="Inter"/>
                <a:cs typeface="Inter"/>
              </a:rPr>
              <a:t>Add patient context</a:t>
            </a:r>
          </a:p>
        </p:txBody>
      </p:sp>
      <p:sp>
        <p:nvSpPr>
          <p:cNvPr id="14" name="">
            <a:extLst xmlns:a="http://schemas.openxmlformats.org/drawingml/2006/main">
              <a:ext uri="{FF2B5EF4-FFF2-40B4-BE49-F238E27FC236}">
                <a16:creationId xmlns:a16="http://schemas.microsoft.com/office/drawing/2014/main" id="{0B2E85D4-FE95-4131-8D9D-6C1363E51078}"/>
              </a:ext>
            </a:extLst>
          </p:cNvPr>
          <p:cNvSpPr>
            <a:spLocks xmlns:a="http://schemas.openxmlformats.org/drawingml/2006/main" noGrp="1"/>
          </p:cNvSpPr>
          <p:nvPr/>
        </p:nvSpPr>
        <p:spPr>
          <a:xfrm xmlns:a="http://schemas.openxmlformats.org/drawingml/2006/main">
            <a:off x="12477750" y="8096250"/>
            <a:ext cx="5143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735"/>
                </a:solidFill>
                <a:latin typeface="Inter"/>
                <a:ea typeface="Inter"/>
                <a:cs typeface="Inter"/>
              </a:defRPr>
            </a:pPr>
            <a:r>
              <a:rPr sz="1950" b="0">
                <a:solidFill>
                  <a:srgbClr val="142735"/>
                </a:solidFill>
                <a:latin typeface="Inter"/>
                <a:ea typeface="Inter"/>
                <a:cs typeface="Inter"/>
              </a:rPr>
              <a:t>Home readings and symptoms sit alongside the history. Recorded screening dates support follow-up.</a:t>
            </a:r>
          </a:p>
        </p:txBody>
      </p:sp>
      <p:sp>
        <p:nvSpPr>
          <p:cNvPr id="15" name="">
            <a:extLst xmlns:a="http://schemas.openxmlformats.org/drawingml/2006/main">
              <a:ext uri="{FF2B5EF4-FFF2-40B4-BE49-F238E27FC236}">
                <a16:creationId xmlns:a16="http://schemas.microsoft.com/office/drawing/2014/main" id="{6CC663F6-0936-4530-A35D-FA3A926ED051}"/>
              </a:ext>
            </a:extLst>
          </p:cNvPr>
          <p:cNvSpPr>
            <a:spLocks xmlns:a="http://schemas.openxmlformats.org/drawingml/2006/main" noGrp="1"/>
          </p:cNvSpPr>
          <p:nvPr/>
        </p:nvSpPr>
        <p:spPr>
          <a:xfrm xmlns:a="http://schemas.openxmlformats.org/drawingml/2006/main">
            <a:off x="571500" y="9858375"/>
            <a:ext cx="1714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96B77"/>
                </a:solidFill>
                <a:latin typeface="Inter"/>
                <a:ea typeface="Inter"/>
                <a:cs typeface="Inter"/>
              </a:defRPr>
            </a:pPr>
            <a:r>
              <a:rPr sz="1350" b="0">
                <a:solidFill>
                  <a:srgbClr val="596B77"/>
                </a:solidFill>
                <a:latin typeface="Inter"/>
                <a:ea typeface="Inter"/>
                <a:cs typeface="Inter"/>
              </a:rPr>
              <a:t>Illustrative patient scenario. HbA1c and glucose use separate axes; year-level timing is approximate.</a:t>
            </a:r>
          </a:p>
        </p:txBody>
      </p:sp>
    </p:spTree>
    <p:extLst>
      <p:ext uri="{BB962C8B-B14F-4D97-AF65-F5344CB8AC3E}">
        <p14:creationId xmlns:p14="http://schemas.microsoft.com/office/powerpoint/2010/main" val="301545385"/>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BDF9E876-46B9-4D3E-86EA-4A7411578740}"/>
              </a:ext>
            </a:extLst>
          </p:cNvPr>
          <p:cNvSpPr>
            <a:spLocks xmlns:a="http://schemas.openxmlformats.org/drawingml/2006/main" noGrp="1"/>
          </p:cNvSpPr>
          <p:nvPr/>
        </p:nvSpPr>
        <p:spPr>
          <a:xfrm xmlns:a="http://schemas.openxmlformats.org/drawingml/2006/main">
            <a:off x="571500" y="361950"/>
            <a:ext cx="1714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Inter"/>
                <a:ea typeface="Inter"/>
                <a:cs typeface="Inter"/>
              </a:defRPr>
            </a:pPr>
            <a:r>
              <a:rPr sz="3000" b="1">
                <a:solidFill>
                  <a:srgbClr val="142735"/>
                </a:solidFill>
                <a:latin typeface="Inter"/>
                <a:ea typeface="Inter"/>
                <a:cs typeface="Inter"/>
              </a:rPr>
              <a:t>Workflow</a:t>
            </a:r>
          </a:p>
        </p:txBody>
      </p:sp>
      <p:sp>
        <p:nvSpPr>
          <p:cNvPr id="2" name="">
            <a:extLst xmlns:a="http://schemas.openxmlformats.org/drawingml/2006/main">
              <a:ext uri="{FF2B5EF4-FFF2-40B4-BE49-F238E27FC236}">
                <a16:creationId xmlns:a16="http://schemas.microsoft.com/office/drawing/2014/main" id="{0D01EB43-979F-469B-A9E8-9157DE35AB63}"/>
              </a:ext>
            </a:extLst>
          </p:cNvPr>
          <p:cNvSpPr>
            <a:spLocks xmlns:a="http://schemas.openxmlformats.org/drawingml/2006/main" noGrp="1"/>
          </p:cNvSpPr>
          <p:nvPr/>
        </p:nvSpPr>
        <p:spPr>
          <a:xfrm xmlns:a="http://schemas.openxmlformats.org/drawingml/2006/main">
            <a:off x="571500" y="1714500"/>
            <a:ext cx="304800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CE4EA"/>
            </a:solidFill>
          </a:ln>
        </p:spPr>
      </p:sp>
      <p:sp>
        <p:nvSpPr>
          <p:cNvPr id="3" name="">
            <a:extLst xmlns:a="http://schemas.openxmlformats.org/drawingml/2006/main">
              <a:ext uri="{FF2B5EF4-FFF2-40B4-BE49-F238E27FC236}">
                <a16:creationId xmlns:a16="http://schemas.microsoft.com/office/drawing/2014/main" id="{8CC80E2C-4BB1-48EC-B1AC-9312349C7C6F}"/>
              </a:ext>
            </a:extLst>
          </p:cNvPr>
          <p:cNvSpPr>
            <a:spLocks xmlns:a="http://schemas.openxmlformats.org/drawingml/2006/main" noGrp="1"/>
          </p:cNvSpPr>
          <p:nvPr/>
        </p:nvSpPr>
        <p:spPr>
          <a:xfrm xmlns:a="http://schemas.openxmlformats.org/drawingml/2006/main">
            <a:off x="762000" y="186690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Report upload</a:t>
            </a:r>
          </a:p>
        </p:txBody>
      </p:sp>
      <p:sp>
        <p:nvSpPr>
          <p:cNvPr id="4" name="">
            <a:extLst xmlns:a="http://schemas.openxmlformats.org/drawingml/2006/main">
              <a:ext uri="{FF2B5EF4-FFF2-40B4-BE49-F238E27FC236}">
                <a16:creationId xmlns:a16="http://schemas.microsoft.com/office/drawing/2014/main" id="{E73E569C-F5DF-41F3-B191-A183D16ED0D4}"/>
              </a:ext>
            </a:extLst>
          </p:cNvPr>
          <p:cNvSpPr>
            <a:spLocks xmlns:a="http://schemas.openxmlformats.org/drawingml/2006/main" noGrp="1"/>
          </p:cNvSpPr>
          <p:nvPr/>
        </p:nvSpPr>
        <p:spPr>
          <a:xfrm xmlns:a="http://schemas.openxmlformats.org/drawingml/2006/main">
            <a:off x="762000" y="2314575"/>
            <a:ext cx="266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Lab reports</a:t>
            </a:r>
          </a:p>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Prescriptions</a:t>
            </a:r>
          </a:p>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PDF or photo</a:t>
            </a:r>
          </a:p>
        </p:txBody>
      </p:sp>
      <p:sp>
        <p:nvSpPr>
          <p:cNvPr id="5" name="">
            <a:extLst xmlns:a="http://schemas.openxmlformats.org/drawingml/2006/main">
              <a:ext uri="{FF2B5EF4-FFF2-40B4-BE49-F238E27FC236}">
                <a16:creationId xmlns:a16="http://schemas.microsoft.com/office/drawing/2014/main" id="{9A19E7EE-A207-4207-80BE-27ADE1C7878B}"/>
              </a:ext>
            </a:extLst>
          </p:cNvPr>
          <p:cNvSpPr>
            <a:spLocks xmlns:a="http://schemas.openxmlformats.org/drawingml/2006/main" noGrp="1"/>
          </p:cNvSpPr>
          <p:nvPr/>
        </p:nvSpPr>
        <p:spPr>
          <a:xfrm xmlns:a="http://schemas.openxmlformats.org/drawingml/2006/main">
            <a:off x="4191000" y="1714500"/>
            <a:ext cx="304800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CE4EA"/>
            </a:solidFill>
          </a:ln>
        </p:spPr>
      </p:sp>
      <p:sp>
        <p:nvSpPr>
          <p:cNvPr id="6" name="">
            <a:extLst xmlns:a="http://schemas.openxmlformats.org/drawingml/2006/main">
              <a:ext uri="{FF2B5EF4-FFF2-40B4-BE49-F238E27FC236}">
                <a16:creationId xmlns:a16="http://schemas.microsoft.com/office/drawing/2014/main" id="{CDF5E2DC-FFA0-47B2-A6C5-B25D1D7ACAB2}"/>
              </a:ext>
            </a:extLst>
          </p:cNvPr>
          <p:cNvSpPr>
            <a:spLocks xmlns:a="http://schemas.openxmlformats.org/drawingml/2006/main" noGrp="1"/>
          </p:cNvSpPr>
          <p:nvPr/>
        </p:nvSpPr>
        <p:spPr>
          <a:xfrm xmlns:a="http://schemas.openxmlformats.org/drawingml/2006/main">
            <a:off x="4381500" y="186690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AI extraction</a:t>
            </a:r>
          </a:p>
        </p:txBody>
      </p:sp>
      <p:sp>
        <p:nvSpPr>
          <p:cNvPr id="7" name="">
            <a:extLst xmlns:a="http://schemas.openxmlformats.org/drawingml/2006/main">
              <a:ext uri="{FF2B5EF4-FFF2-40B4-BE49-F238E27FC236}">
                <a16:creationId xmlns:a16="http://schemas.microsoft.com/office/drawing/2014/main" id="{C500E926-A4A6-43D7-9D6F-829690F0237E}"/>
              </a:ext>
            </a:extLst>
          </p:cNvPr>
          <p:cNvSpPr>
            <a:spLocks xmlns:a="http://schemas.openxmlformats.org/drawingml/2006/main" noGrp="1"/>
          </p:cNvSpPr>
          <p:nvPr/>
        </p:nvSpPr>
        <p:spPr>
          <a:xfrm xmlns:a="http://schemas.openxmlformats.org/drawingml/2006/main">
            <a:off x="4381500" y="2314575"/>
            <a:ext cx="266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Extract report fields</a:t>
            </a:r>
          </a:p>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Attach source evidence</a:t>
            </a:r>
          </a:p>
        </p:txBody>
      </p:sp>
      <p:sp>
        <p:nvSpPr>
          <p:cNvPr id="8" name="">
            <a:extLst xmlns:a="http://schemas.openxmlformats.org/drawingml/2006/main">
              <a:ext uri="{FF2B5EF4-FFF2-40B4-BE49-F238E27FC236}">
                <a16:creationId xmlns:a16="http://schemas.microsoft.com/office/drawing/2014/main" id="{DC930E05-5A5C-4F39-8811-1F064BAEDDA9}"/>
              </a:ext>
            </a:extLst>
          </p:cNvPr>
          <p:cNvSpPr>
            <a:spLocks xmlns:a="http://schemas.openxmlformats.org/drawingml/2006/main" noGrp="1"/>
          </p:cNvSpPr>
          <p:nvPr/>
        </p:nvSpPr>
        <p:spPr>
          <a:xfrm xmlns:a="http://schemas.openxmlformats.org/drawingml/2006/main">
            <a:off x="7810500" y="1714500"/>
            <a:ext cx="304800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CE4EA"/>
            </a:solidFill>
          </a:ln>
        </p:spPr>
      </p:sp>
      <p:sp>
        <p:nvSpPr>
          <p:cNvPr id="9" name="">
            <a:extLst xmlns:a="http://schemas.openxmlformats.org/drawingml/2006/main">
              <a:ext uri="{FF2B5EF4-FFF2-40B4-BE49-F238E27FC236}">
                <a16:creationId xmlns:a16="http://schemas.microsoft.com/office/drawing/2014/main" id="{3EE644F8-961C-4E05-9679-2AD70E7C75C4}"/>
              </a:ext>
            </a:extLst>
          </p:cNvPr>
          <p:cNvSpPr>
            <a:spLocks xmlns:a="http://schemas.openxmlformats.org/drawingml/2006/main" noGrp="1"/>
          </p:cNvSpPr>
          <p:nvPr/>
        </p:nvSpPr>
        <p:spPr>
          <a:xfrm xmlns:a="http://schemas.openxmlformats.org/drawingml/2006/main">
            <a:off x="8001000" y="186690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Human review</a:t>
            </a:r>
          </a:p>
        </p:txBody>
      </p:sp>
      <p:sp>
        <p:nvSpPr>
          <p:cNvPr id="10" name="">
            <a:extLst xmlns:a="http://schemas.openxmlformats.org/drawingml/2006/main">
              <a:ext uri="{FF2B5EF4-FFF2-40B4-BE49-F238E27FC236}">
                <a16:creationId xmlns:a16="http://schemas.microsoft.com/office/drawing/2014/main" id="{3901A27E-4E55-4567-84C1-EB1FE23B9C8D}"/>
              </a:ext>
            </a:extLst>
          </p:cNvPr>
          <p:cNvSpPr>
            <a:spLocks xmlns:a="http://schemas.openxmlformats.org/drawingml/2006/main" noGrp="1"/>
          </p:cNvSpPr>
          <p:nvPr/>
        </p:nvSpPr>
        <p:spPr>
          <a:xfrm xmlns:a="http://schemas.openxmlformats.org/drawingml/2006/main">
            <a:off x="8001000" y="2314575"/>
            <a:ext cx="266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Check identity and values</a:t>
            </a:r>
          </a:p>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Correct and approve</a:t>
            </a:r>
          </a:p>
        </p:txBody>
      </p:sp>
      <p:sp>
        <p:nvSpPr>
          <p:cNvPr id="11" name="">
            <a:extLst xmlns:a="http://schemas.openxmlformats.org/drawingml/2006/main">
              <a:ext uri="{FF2B5EF4-FFF2-40B4-BE49-F238E27FC236}">
                <a16:creationId xmlns:a16="http://schemas.microsoft.com/office/drawing/2014/main" id="{73D3ADE4-A508-4126-B8C7-BA4AD467CF19}"/>
              </a:ext>
            </a:extLst>
          </p:cNvPr>
          <p:cNvSpPr>
            <a:spLocks xmlns:a="http://schemas.openxmlformats.org/drawingml/2006/main" noGrp="1"/>
          </p:cNvSpPr>
          <p:nvPr/>
        </p:nvSpPr>
        <p:spPr>
          <a:xfrm xmlns:a="http://schemas.openxmlformats.org/drawingml/2006/main">
            <a:off x="571500" y="4000500"/>
            <a:ext cx="304800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CE4EA"/>
            </a:solidFill>
          </a:ln>
        </p:spPr>
      </p:sp>
      <p:sp>
        <p:nvSpPr>
          <p:cNvPr id="12" name="">
            <a:extLst xmlns:a="http://schemas.openxmlformats.org/drawingml/2006/main">
              <a:ext uri="{FF2B5EF4-FFF2-40B4-BE49-F238E27FC236}">
                <a16:creationId xmlns:a16="http://schemas.microsoft.com/office/drawing/2014/main" id="{1DC4F6A9-6A88-4507-8D21-7A43E86EEB7E}"/>
              </a:ext>
            </a:extLst>
          </p:cNvPr>
          <p:cNvSpPr>
            <a:spLocks xmlns:a="http://schemas.openxmlformats.org/drawingml/2006/main" noGrp="1"/>
          </p:cNvSpPr>
          <p:nvPr/>
        </p:nvSpPr>
        <p:spPr>
          <a:xfrm xmlns:a="http://schemas.openxmlformats.org/drawingml/2006/main">
            <a:off x="762000" y="415290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Patient app</a:t>
            </a:r>
          </a:p>
        </p:txBody>
      </p:sp>
      <p:sp>
        <p:nvSpPr>
          <p:cNvPr id="13" name="">
            <a:extLst xmlns:a="http://schemas.openxmlformats.org/drawingml/2006/main">
              <a:ext uri="{FF2B5EF4-FFF2-40B4-BE49-F238E27FC236}">
                <a16:creationId xmlns:a16="http://schemas.microsoft.com/office/drawing/2014/main" id="{F6FD4344-9EA4-4755-972E-AC6689394964}"/>
              </a:ext>
            </a:extLst>
          </p:cNvPr>
          <p:cNvSpPr>
            <a:spLocks xmlns:a="http://schemas.openxmlformats.org/drawingml/2006/main" noGrp="1"/>
          </p:cNvSpPr>
          <p:nvPr/>
        </p:nvSpPr>
        <p:spPr>
          <a:xfrm xmlns:a="http://schemas.openxmlformats.org/drawingml/2006/main">
            <a:off x="762000" y="4600575"/>
            <a:ext cx="266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Home readings</a:t>
            </a:r>
          </a:p>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Symptoms</a:t>
            </a:r>
          </a:p>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Medication timing</a:t>
            </a:r>
          </a:p>
        </p:txBody>
      </p:sp>
      <p:sp>
        <p:nvSpPr>
          <p:cNvPr id="14" name="">
            <a:extLst xmlns:a="http://schemas.openxmlformats.org/drawingml/2006/main">
              <a:ext uri="{FF2B5EF4-FFF2-40B4-BE49-F238E27FC236}">
                <a16:creationId xmlns:a16="http://schemas.microsoft.com/office/drawing/2014/main" id="{EB73B219-D7FE-4CB0-BA7C-FE6360E9EB0E}"/>
              </a:ext>
            </a:extLst>
          </p:cNvPr>
          <p:cNvSpPr>
            <a:spLocks xmlns:a="http://schemas.openxmlformats.org/drawingml/2006/main" noGrp="1"/>
          </p:cNvSpPr>
          <p:nvPr/>
        </p:nvSpPr>
        <p:spPr>
          <a:xfrm xmlns:a="http://schemas.openxmlformats.org/drawingml/2006/main">
            <a:off x="4191000" y="4000500"/>
            <a:ext cx="304800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CE4EA"/>
            </a:solidFill>
          </a:ln>
        </p:spPr>
      </p:sp>
      <p:sp>
        <p:nvSpPr>
          <p:cNvPr id="15" name="">
            <a:extLst xmlns:a="http://schemas.openxmlformats.org/drawingml/2006/main">
              <a:ext uri="{FF2B5EF4-FFF2-40B4-BE49-F238E27FC236}">
                <a16:creationId xmlns:a16="http://schemas.microsoft.com/office/drawing/2014/main" id="{68AC2BEF-E634-4958-9462-40812C9DFDF3}"/>
              </a:ext>
            </a:extLst>
          </p:cNvPr>
          <p:cNvSpPr>
            <a:spLocks xmlns:a="http://schemas.openxmlformats.org/drawingml/2006/main" noGrp="1"/>
          </p:cNvSpPr>
          <p:nvPr/>
        </p:nvSpPr>
        <p:spPr>
          <a:xfrm xmlns:a="http://schemas.openxmlformats.org/drawingml/2006/main">
            <a:off x="4381500" y="415290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Patient updates</a:t>
            </a:r>
          </a:p>
        </p:txBody>
      </p:sp>
      <p:sp>
        <p:nvSpPr>
          <p:cNvPr id="16" name="">
            <a:extLst xmlns:a="http://schemas.openxmlformats.org/drawingml/2006/main">
              <a:ext uri="{FF2B5EF4-FFF2-40B4-BE49-F238E27FC236}">
                <a16:creationId xmlns:a16="http://schemas.microsoft.com/office/drawing/2014/main" id="{2968C6BD-72DE-4E3E-91DD-6F03F66D9698}"/>
              </a:ext>
            </a:extLst>
          </p:cNvPr>
          <p:cNvSpPr>
            <a:spLocks xmlns:a="http://schemas.openxmlformats.org/drawingml/2006/main" noGrp="1"/>
          </p:cNvSpPr>
          <p:nvPr/>
        </p:nvSpPr>
        <p:spPr>
          <a:xfrm xmlns:a="http://schemas.openxmlformats.org/drawingml/2006/main">
            <a:off x="4381500" y="4600575"/>
            <a:ext cx="266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Timestamp each event</a:t>
            </a:r>
          </a:p>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Label patient reports</a:t>
            </a:r>
          </a:p>
        </p:txBody>
      </p:sp>
      <p:sp>
        <p:nvSpPr>
          <p:cNvPr id="17" name="">
            <a:extLst xmlns:a="http://schemas.openxmlformats.org/drawingml/2006/main">
              <a:ext uri="{FF2B5EF4-FFF2-40B4-BE49-F238E27FC236}">
                <a16:creationId xmlns:a16="http://schemas.microsoft.com/office/drawing/2014/main" id="{7BABEA3D-0D06-4D08-8F4C-98A8194E3006}"/>
              </a:ext>
            </a:extLst>
          </p:cNvPr>
          <p:cNvSpPr>
            <a:spLocks xmlns:a="http://schemas.openxmlformats.org/drawingml/2006/main" noGrp="1"/>
          </p:cNvSpPr>
          <p:nvPr/>
        </p:nvSpPr>
        <p:spPr>
          <a:xfrm xmlns:a="http://schemas.openxmlformats.org/drawingml/2006/main">
            <a:off x="11239500" y="4000500"/>
            <a:ext cx="304800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CE4EA"/>
            </a:solidFill>
          </a:ln>
        </p:spPr>
      </p:sp>
      <p:sp>
        <p:nvSpPr>
          <p:cNvPr id="18" name="">
            <a:extLst xmlns:a="http://schemas.openxmlformats.org/drawingml/2006/main">
              <a:ext uri="{FF2B5EF4-FFF2-40B4-BE49-F238E27FC236}">
                <a16:creationId xmlns:a16="http://schemas.microsoft.com/office/drawing/2014/main" id="{5E55100F-E4D8-4417-89B7-33D47A766E50}"/>
              </a:ext>
            </a:extLst>
          </p:cNvPr>
          <p:cNvSpPr>
            <a:spLocks xmlns:a="http://schemas.openxmlformats.org/drawingml/2006/main" noGrp="1"/>
          </p:cNvSpPr>
          <p:nvPr/>
        </p:nvSpPr>
        <p:spPr>
          <a:xfrm xmlns:a="http://schemas.openxmlformats.org/drawingml/2006/main">
            <a:off x="11430000" y="415290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Shared patient record</a:t>
            </a:r>
          </a:p>
        </p:txBody>
      </p:sp>
      <p:sp>
        <p:nvSpPr>
          <p:cNvPr id="19" name="">
            <a:extLst xmlns:a="http://schemas.openxmlformats.org/drawingml/2006/main">
              <a:ext uri="{FF2B5EF4-FFF2-40B4-BE49-F238E27FC236}">
                <a16:creationId xmlns:a16="http://schemas.microsoft.com/office/drawing/2014/main" id="{CFE3D632-F1CC-487D-AC5F-EDAD33A7CB42}"/>
              </a:ext>
            </a:extLst>
          </p:cNvPr>
          <p:cNvSpPr>
            <a:spLocks xmlns:a="http://schemas.openxmlformats.org/drawingml/2006/main" noGrp="1"/>
          </p:cNvSpPr>
          <p:nvPr/>
        </p:nvSpPr>
        <p:spPr>
          <a:xfrm xmlns:a="http://schemas.openxmlformats.org/drawingml/2006/main">
            <a:off x="11430000" y="4600575"/>
            <a:ext cx="266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Approved results</a:t>
            </a:r>
          </a:p>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Prescription history</a:t>
            </a:r>
          </a:p>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Source reports</a:t>
            </a:r>
          </a:p>
        </p:txBody>
      </p:sp>
      <p:sp>
        <p:nvSpPr>
          <p:cNvPr id="20" name="">
            <a:extLst xmlns:a="http://schemas.openxmlformats.org/drawingml/2006/main">
              <a:ext uri="{FF2B5EF4-FFF2-40B4-BE49-F238E27FC236}">
                <a16:creationId xmlns:a16="http://schemas.microsoft.com/office/drawing/2014/main" id="{19B7BAD6-38D9-4B7D-9469-2BA309729370}"/>
              </a:ext>
            </a:extLst>
          </p:cNvPr>
          <p:cNvSpPr>
            <a:spLocks xmlns:a="http://schemas.openxmlformats.org/drawingml/2006/main" noGrp="1"/>
          </p:cNvSpPr>
          <p:nvPr/>
        </p:nvSpPr>
        <p:spPr>
          <a:xfrm xmlns:a="http://schemas.openxmlformats.org/drawingml/2006/main">
            <a:off x="15049500" y="4000500"/>
            <a:ext cx="304800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CE4EA"/>
            </a:solidFill>
          </a:ln>
        </p:spPr>
      </p:sp>
      <p:sp>
        <p:nvSpPr>
          <p:cNvPr id="21" name="">
            <a:extLst xmlns:a="http://schemas.openxmlformats.org/drawingml/2006/main">
              <a:ext uri="{FF2B5EF4-FFF2-40B4-BE49-F238E27FC236}">
                <a16:creationId xmlns:a16="http://schemas.microsoft.com/office/drawing/2014/main" id="{9064A86F-2948-4427-81D4-4BF628C948AE}"/>
              </a:ext>
            </a:extLst>
          </p:cNvPr>
          <p:cNvSpPr>
            <a:spLocks xmlns:a="http://schemas.openxmlformats.org/drawingml/2006/main" noGrp="1"/>
          </p:cNvSpPr>
          <p:nvPr/>
        </p:nvSpPr>
        <p:spPr>
          <a:xfrm xmlns:a="http://schemas.openxmlformats.org/drawingml/2006/main">
            <a:off x="15240000" y="415290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Doctor dashboard</a:t>
            </a:r>
          </a:p>
        </p:txBody>
      </p:sp>
      <p:sp>
        <p:nvSpPr>
          <p:cNvPr id="22" name="">
            <a:extLst xmlns:a="http://schemas.openxmlformats.org/drawingml/2006/main">
              <a:ext uri="{FF2B5EF4-FFF2-40B4-BE49-F238E27FC236}">
                <a16:creationId xmlns:a16="http://schemas.microsoft.com/office/drawing/2014/main" id="{C24D78E2-5F2A-4944-895A-8B8422FC4173}"/>
              </a:ext>
            </a:extLst>
          </p:cNvPr>
          <p:cNvSpPr>
            <a:spLocks xmlns:a="http://schemas.openxmlformats.org/drawingml/2006/main" noGrp="1"/>
          </p:cNvSpPr>
          <p:nvPr/>
        </p:nvSpPr>
        <p:spPr>
          <a:xfrm xmlns:a="http://schemas.openxmlformats.org/drawingml/2006/main">
            <a:off x="15240000" y="4600575"/>
            <a:ext cx="266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Progression + context</a:t>
            </a:r>
          </a:p>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Inspect original reports</a:t>
            </a:r>
          </a:p>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Export visit summary</a:t>
            </a:r>
          </a:p>
        </p:txBody>
      </p:sp>
      <p:sp>
        <p:nvSpPr>
          <p:cNvPr id="23" name="">
            <a:extLst xmlns:a="http://schemas.openxmlformats.org/drawingml/2006/main">
              <a:ext uri="{FF2B5EF4-FFF2-40B4-BE49-F238E27FC236}">
                <a16:creationId xmlns:a16="http://schemas.microsoft.com/office/drawing/2014/main" id="{29859B89-FD5D-4057-ABA2-CAF3A41CA89A}"/>
              </a:ext>
            </a:extLst>
          </p:cNvPr>
          <p:cNvSpPr>
            <a:spLocks xmlns:a="http://schemas.openxmlformats.org/drawingml/2006/main" noGrp="1"/>
          </p:cNvSpPr>
          <p:nvPr/>
        </p:nvSpPr>
        <p:spPr>
          <a:xfrm xmlns:a="http://schemas.openxmlformats.org/drawingml/2006/main">
            <a:off x="11239500" y="6477000"/>
            <a:ext cx="304800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DCE4EA"/>
            </a:solidFill>
          </a:ln>
        </p:spPr>
      </p:sp>
      <p:sp>
        <p:nvSpPr>
          <p:cNvPr id="24" name="">
            <a:extLst xmlns:a="http://schemas.openxmlformats.org/drawingml/2006/main">
              <a:ext uri="{FF2B5EF4-FFF2-40B4-BE49-F238E27FC236}">
                <a16:creationId xmlns:a16="http://schemas.microsoft.com/office/drawing/2014/main" id="{EE427CAA-D15E-4612-ADA4-6939A5D7D543}"/>
              </a:ext>
            </a:extLst>
          </p:cNvPr>
          <p:cNvSpPr>
            <a:spLocks xmlns:a="http://schemas.openxmlformats.org/drawingml/2006/main" noGrp="1"/>
          </p:cNvSpPr>
          <p:nvPr/>
        </p:nvSpPr>
        <p:spPr>
          <a:xfrm xmlns:a="http://schemas.openxmlformats.org/drawingml/2006/main">
            <a:off x="11430000" y="662940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Follow-up tracking</a:t>
            </a:r>
          </a:p>
        </p:txBody>
      </p:sp>
      <p:sp>
        <p:nvSpPr>
          <p:cNvPr id="25" name="">
            <a:extLst xmlns:a="http://schemas.openxmlformats.org/drawingml/2006/main">
              <a:ext uri="{FF2B5EF4-FFF2-40B4-BE49-F238E27FC236}">
                <a16:creationId xmlns:a16="http://schemas.microsoft.com/office/drawing/2014/main" id="{5DADAAA9-4B52-4E7C-B5DF-1AB56CB96056}"/>
              </a:ext>
            </a:extLst>
          </p:cNvPr>
          <p:cNvSpPr>
            <a:spLocks xmlns:a="http://schemas.openxmlformats.org/drawingml/2006/main" noGrp="1"/>
          </p:cNvSpPr>
          <p:nvPr/>
        </p:nvSpPr>
        <p:spPr>
          <a:xfrm xmlns:a="http://schemas.openxmlformats.org/drawingml/2006/main">
            <a:off x="11430000" y="7077075"/>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Clinic-set review dates</a:t>
            </a:r>
          </a:p>
        </p:txBody>
      </p:sp>
      <p:sp>
        <p:nvSpPr>
          <p:cNvPr id="26" name="">
            <a:extLst xmlns:a="http://schemas.openxmlformats.org/drawingml/2006/main">
              <a:ext uri="{FF2B5EF4-FFF2-40B4-BE49-F238E27FC236}">
                <a16:creationId xmlns:a16="http://schemas.microsoft.com/office/drawing/2014/main" id="{E0462EC7-17C8-45DB-A75D-0A6BD7E1943C}"/>
              </a:ext>
            </a:extLst>
          </p:cNvPr>
          <p:cNvSpPr>
            <a:spLocks xmlns:a="http://schemas.openxmlformats.org/drawingml/2006/main" noGrp="1"/>
          </p:cNvSpPr>
          <p:nvPr/>
        </p:nvSpPr>
        <p:spPr>
          <a:xfrm xmlns:a="http://schemas.openxmlformats.org/drawingml/2006/main">
            <a:off x="4191000" y="7620000"/>
            <a:ext cx="30480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CE4EA"/>
            </a:solidFill>
          </a:ln>
        </p:spPr>
      </p:sp>
      <p:sp>
        <p:nvSpPr>
          <p:cNvPr id="27" name="">
            <a:extLst xmlns:a="http://schemas.openxmlformats.org/drawingml/2006/main">
              <a:ext uri="{FF2B5EF4-FFF2-40B4-BE49-F238E27FC236}">
                <a16:creationId xmlns:a16="http://schemas.microsoft.com/office/drawing/2014/main" id="{DBDAE864-5C7B-43E8-8405-0A37DA0A4304}"/>
              </a:ext>
            </a:extLst>
          </p:cNvPr>
          <p:cNvSpPr>
            <a:spLocks xmlns:a="http://schemas.openxmlformats.org/drawingml/2006/main" noGrp="1"/>
          </p:cNvSpPr>
          <p:nvPr/>
        </p:nvSpPr>
        <p:spPr>
          <a:xfrm xmlns:a="http://schemas.openxmlformats.org/drawingml/2006/main">
            <a:off x="4381500" y="777240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CC2453"/>
                </a:solidFill>
                <a:latin typeface="Inter"/>
                <a:ea typeface="Inter"/>
                <a:cs typeface="Inter"/>
              </a:defRPr>
            </a:pPr>
            <a:r>
              <a:rPr sz="1725" b="1">
                <a:solidFill>
                  <a:srgbClr val="CC2453"/>
                </a:solidFill>
                <a:latin typeface="Inter"/>
                <a:ea typeface="Inter"/>
                <a:cs typeface="Inter"/>
              </a:rPr>
              <a:t>SOS snapshot</a:t>
            </a:r>
          </a:p>
        </p:txBody>
      </p:sp>
      <p:sp>
        <p:nvSpPr>
          <p:cNvPr id="28" name="">
            <a:extLst xmlns:a="http://schemas.openxmlformats.org/drawingml/2006/main">
              <a:ext uri="{FF2B5EF4-FFF2-40B4-BE49-F238E27FC236}">
                <a16:creationId xmlns:a16="http://schemas.microsoft.com/office/drawing/2014/main" id="{6C3B1425-971B-4DCC-A21C-5A5301155035}"/>
              </a:ext>
            </a:extLst>
          </p:cNvPr>
          <p:cNvSpPr>
            <a:spLocks xmlns:a="http://schemas.openxmlformats.org/drawingml/2006/main" noGrp="1"/>
          </p:cNvSpPr>
          <p:nvPr/>
        </p:nvSpPr>
        <p:spPr>
          <a:xfrm xmlns:a="http://schemas.openxmlformats.org/drawingml/2006/main">
            <a:off x="4381500" y="8220075"/>
            <a:ext cx="266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Freeze shared history</a:t>
            </a:r>
          </a:p>
        </p:txBody>
      </p:sp>
      <p:sp>
        <p:nvSpPr>
          <p:cNvPr id="29" name="">
            <a:extLst xmlns:a="http://schemas.openxmlformats.org/drawingml/2006/main">
              <a:ext uri="{FF2B5EF4-FFF2-40B4-BE49-F238E27FC236}">
                <a16:creationId xmlns:a16="http://schemas.microsoft.com/office/drawing/2014/main" id="{61062015-1A20-4294-81F6-653A3D79884B}"/>
              </a:ext>
            </a:extLst>
          </p:cNvPr>
          <p:cNvSpPr>
            <a:spLocks xmlns:a="http://schemas.openxmlformats.org/drawingml/2006/main" noGrp="1"/>
          </p:cNvSpPr>
          <p:nvPr/>
        </p:nvSpPr>
        <p:spPr>
          <a:xfrm xmlns:a="http://schemas.openxmlformats.org/drawingml/2006/main">
            <a:off x="15049500" y="7620000"/>
            <a:ext cx="30480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CE4EA"/>
            </a:solidFill>
          </a:ln>
        </p:spPr>
      </p:sp>
      <p:sp>
        <p:nvSpPr>
          <p:cNvPr id="30" name="">
            <a:extLst xmlns:a="http://schemas.openxmlformats.org/drawingml/2006/main">
              <a:ext uri="{FF2B5EF4-FFF2-40B4-BE49-F238E27FC236}">
                <a16:creationId xmlns:a16="http://schemas.microsoft.com/office/drawing/2014/main" id="{44D884A7-FDA7-4624-9193-C30432D2B096}"/>
              </a:ext>
            </a:extLst>
          </p:cNvPr>
          <p:cNvSpPr>
            <a:spLocks xmlns:a="http://schemas.openxmlformats.org/drawingml/2006/main" noGrp="1"/>
          </p:cNvSpPr>
          <p:nvPr/>
        </p:nvSpPr>
        <p:spPr>
          <a:xfrm xmlns:a="http://schemas.openxmlformats.org/drawingml/2006/main">
            <a:off x="15240000" y="777240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Clinic team</a:t>
            </a:r>
          </a:p>
        </p:txBody>
      </p:sp>
      <p:sp>
        <p:nvSpPr>
          <p:cNvPr id="31" name="">
            <a:extLst xmlns:a="http://schemas.openxmlformats.org/drawingml/2006/main">
              <a:ext uri="{FF2B5EF4-FFF2-40B4-BE49-F238E27FC236}">
                <a16:creationId xmlns:a16="http://schemas.microsoft.com/office/drawing/2014/main" id="{CAFEE149-34E9-4B85-828B-988F1D43F256}"/>
              </a:ext>
            </a:extLst>
          </p:cNvPr>
          <p:cNvSpPr>
            <a:spLocks xmlns:a="http://schemas.openxmlformats.org/drawingml/2006/main" noGrp="1"/>
          </p:cNvSpPr>
          <p:nvPr/>
        </p:nvSpPr>
        <p:spPr>
          <a:xfrm xmlns:a="http://schemas.openxmlformats.org/drawingml/2006/main">
            <a:off x="15240000" y="8220075"/>
            <a:ext cx="266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Pending follow-up</a:t>
            </a:r>
          </a:p>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Inspect SOS snapshot</a:t>
            </a:r>
          </a:p>
        </p:txBody>
      </p:sp>
      <p:cxnSp>
        <p:nvCxnSpPr>
          <p:cNvPr id="76" name=""/>
          <p:cNvCxnSpPr>
            <a:stCxn xmlns:a="http://schemas.openxmlformats.org/drawingml/2006/main" id="2" idx="3"/>
            <a:endCxn xmlns:a="http://schemas.openxmlformats.org/drawingml/2006/main" id="5" idx="1"/>
          </p:cNvCxnSpPr>
          <p:nvPr/>
        </p:nvCxnSpPr>
        <p:spPr>
          <a:xfrm xmlns:a="http://schemas.openxmlformats.org/drawingml/2006/main">
            <a:off x="3619500" y="2619375"/>
            <a:ext cx="571500" cy="0"/>
          </a:xfrm>
          <a:prstGeom xmlns:a="http://schemas.openxmlformats.org/drawingml/2006/main" prst="straightConnector1">
            <a:avLst/>
          </a:prstGeom>
          <a:ln xmlns:a="http://schemas.openxmlformats.org/drawingml/2006/main" w="23813">
            <a:solidFill>
              <a:srgbClr val="137A76"/>
            </a:solidFill>
            <a:prstDash val="solid"/>
            <a:headEnd type="arrow" w="med" len="med"/>
          </a:ln>
        </p:spPr>
      </p:cxnSp>
      <p:cxnSp>
        <p:nvCxnSpPr>
          <p:cNvPr id="77" name=""/>
          <p:cNvCxnSpPr>
            <a:stCxn xmlns:a="http://schemas.openxmlformats.org/drawingml/2006/main" id="5" idx="3"/>
            <a:endCxn xmlns:a="http://schemas.openxmlformats.org/drawingml/2006/main" id="8" idx="1"/>
          </p:cNvCxnSpPr>
          <p:nvPr/>
        </p:nvCxnSpPr>
        <p:spPr>
          <a:xfrm xmlns:a="http://schemas.openxmlformats.org/drawingml/2006/main">
            <a:off x="7239000" y="2619375"/>
            <a:ext cx="571500" cy="0"/>
          </a:xfrm>
          <a:prstGeom xmlns:a="http://schemas.openxmlformats.org/drawingml/2006/main" prst="straightConnector1">
            <a:avLst/>
          </a:prstGeom>
          <a:ln xmlns:a="http://schemas.openxmlformats.org/drawingml/2006/main" w="23813">
            <a:solidFill>
              <a:srgbClr val="137A76"/>
            </a:solidFill>
            <a:prstDash val="solid"/>
            <a:headEnd type="arrow" w="med" len="med"/>
          </a:ln>
        </p:spPr>
      </p:cxnSp>
      <p:cxnSp>
        <p:nvCxnSpPr>
          <p:cNvPr id="78" name=""/>
          <p:cNvCxnSpPr>
            <a:stCxn xmlns:a="http://schemas.openxmlformats.org/drawingml/2006/main" id="8" idx="2"/>
            <a:endCxn xmlns:a="http://schemas.openxmlformats.org/drawingml/2006/main" id="17" idx="0"/>
          </p:cNvCxnSpPr>
          <p:nvPr/>
        </p:nvCxnSpPr>
        <p:spPr>
          <a:xfrm xmlns:a="http://schemas.openxmlformats.org/drawingml/2006/main">
            <a:off x="9334500" y="3524250"/>
            <a:ext cx="3429000" cy="476250"/>
          </a:xfrm>
          <a:prstGeom xmlns:a="http://schemas.openxmlformats.org/drawingml/2006/main" prst="bentConnector4">
            <a:avLst>
              <a:gd name="adj1" fmla="val 0"/>
              <a:gd name="adj2" fmla="val 50000"/>
            </a:avLst>
          </a:prstGeom>
          <a:ln xmlns:a="http://schemas.openxmlformats.org/drawingml/2006/main" w="23813">
            <a:solidFill>
              <a:srgbClr val="137A76"/>
            </a:solidFill>
            <a:prstDash val="solid"/>
            <a:headEnd type="arrow" w="med" len="med"/>
          </a:ln>
        </p:spPr>
      </p:cxnSp>
      <p:cxnSp>
        <p:nvCxnSpPr>
          <p:cNvPr id="79" name=""/>
          <p:cNvCxnSpPr>
            <a:stCxn xmlns:a="http://schemas.openxmlformats.org/drawingml/2006/main" id="11" idx="3"/>
            <a:endCxn xmlns:a="http://schemas.openxmlformats.org/drawingml/2006/main" id="14" idx="1"/>
          </p:cNvCxnSpPr>
          <p:nvPr/>
        </p:nvCxnSpPr>
        <p:spPr>
          <a:xfrm xmlns:a="http://schemas.openxmlformats.org/drawingml/2006/main">
            <a:off x="3619500" y="4905375"/>
            <a:ext cx="571500" cy="0"/>
          </a:xfrm>
          <a:prstGeom xmlns:a="http://schemas.openxmlformats.org/drawingml/2006/main" prst="straightConnector1">
            <a:avLst/>
          </a:prstGeom>
          <a:ln xmlns:a="http://schemas.openxmlformats.org/drawingml/2006/main" w="23813">
            <a:solidFill>
              <a:srgbClr val="137A76"/>
            </a:solidFill>
            <a:prstDash val="solid"/>
            <a:headEnd type="arrow" w="med" len="med"/>
          </a:ln>
        </p:spPr>
      </p:cxnSp>
      <p:cxnSp>
        <p:nvCxnSpPr>
          <p:cNvPr id="80" name=""/>
          <p:cNvCxnSpPr>
            <a:stCxn xmlns:a="http://schemas.openxmlformats.org/drawingml/2006/main" id="14" idx="3"/>
            <a:endCxn xmlns:a="http://schemas.openxmlformats.org/drawingml/2006/main" id="17" idx="1"/>
          </p:cNvCxnSpPr>
          <p:nvPr/>
        </p:nvCxnSpPr>
        <p:spPr>
          <a:xfrm xmlns:a="http://schemas.openxmlformats.org/drawingml/2006/main">
            <a:off x="7239000" y="4905375"/>
            <a:ext cx="4000500" cy="0"/>
          </a:xfrm>
          <a:prstGeom xmlns:a="http://schemas.openxmlformats.org/drawingml/2006/main" prst="straightConnector1">
            <a:avLst/>
          </a:prstGeom>
          <a:ln xmlns:a="http://schemas.openxmlformats.org/drawingml/2006/main" w="23813">
            <a:solidFill>
              <a:srgbClr val="137A76"/>
            </a:solidFill>
            <a:prstDash val="solid"/>
            <a:headEnd type="arrow" w="med" len="med"/>
          </a:ln>
        </p:spPr>
      </p:cxnSp>
      <p:cxnSp>
        <p:nvCxnSpPr>
          <p:cNvPr id="81" name=""/>
          <p:cNvCxnSpPr>
            <a:stCxn xmlns:a="http://schemas.openxmlformats.org/drawingml/2006/main" id="17" idx="3"/>
            <a:endCxn xmlns:a="http://schemas.openxmlformats.org/drawingml/2006/main" id="20" idx="1"/>
          </p:cNvCxnSpPr>
          <p:nvPr/>
        </p:nvCxnSpPr>
        <p:spPr>
          <a:xfrm xmlns:a="http://schemas.openxmlformats.org/drawingml/2006/main">
            <a:off x="14287500" y="4905375"/>
            <a:ext cx="762000" cy="0"/>
          </a:xfrm>
          <a:prstGeom xmlns:a="http://schemas.openxmlformats.org/drawingml/2006/main" prst="straightConnector1">
            <a:avLst/>
          </a:prstGeom>
          <a:ln xmlns:a="http://schemas.openxmlformats.org/drawingml/2006/main" w="23813">
            <a:solidFill>
              <a:srgbClr val="137A76"/>
            </a:solidFill>
            <a:prstDash val="solid"/>
            <a:headEnd type="arrow" w="med" len="med"/>
          </a:ln>
        </p:spPr>
      </p:cxnSp>
      <p:cxnSp>
        <p:nvCxnSpPr>
          <p:cNvPr id="82" name=""/>
          <p:cNvCxnSpPr>
            <a:stCxn xmlns:a="http://schemas.openxmlformats.org/drawingml/2006/main" id="17" idx="2"/>
            <a:endCxn xmlns:a="http://schemas.openxmlformats.org/drawingml/2006/main" id="23" idx="0"/>
          </p:cNvCxnSpPr>
          <p:nvPr/>
        </p:nvCxnSpPr>
        <p:spPr>
          <a:xfrm xmlns:a="http://schemas.openxmlformats.org/drawingml/2006/main">
            <a:off x="12763500" y="5810250"/>
            <a:ext cx="0" cy="666750"/>
          </a:xfrm>
          <a:prstGeom xmlns:a="http://schemas.openxmlformats.org/drawingml/2006/main" prst="straightConnector1">
            <a:avLst/>
          </a:prstGeom>
          <a:ln xmlns:a="http://schemas.openxmlformats.org/drawingml/2006/main" w="23813">
            <a:solidFill>
              <a:srgbClr val="137A76"/>
            </a:solidFill>
            <a:prstDash val="solid"/>
            <a:headEnd type="arrow" w="med" len="med"/>
          </a:ln>
        </p:spPr>
      </p:cxnSp>
      <p:cxnSp>
        <p:nvCxnSpPr>
          <p:cNvPr id="83" name=""/>
          <p:cNvCxnSpPr>
            <a:stCxn xmlns:a="http://schemas.openxmlformats.org/drawingml/2006/main" id="23" idx="3"/>
            <a:endCxn xmlns:a="http://schemas.openxmlformats.org/drawingml/2006/main" id="29" idx="1"/>
          </p:cNvCxnSpPr>
          <p:nvPr/>
        </p:nvCxnSpPr>
        <p:spPr>
          <a:xfrm xmlns:a="http://schemas.openxmlformats.org/drawingml/2006/main">
            <a:off x="14287500" y="7048500"/>
            <a:ext cx="762000" cy="1285875"/>
          </a:xfrm>
          <a:prstGeom xmlns:a="http://schemas.openxmlformats.org/drawingml/2006/main" prst="bentConnector3">
            <a:avLst>
              <a:gd name="adj1" fmla="val 50000"/>
            </a:avLst>
          </a:prstGeom>
          <a:ln xmlns:a="http://schemas.openxmlformats.org/drawingml/2006/main" w="23813">
            <a:solidFill>
              <a:srgbClr val="137A76"/>
            </a:solidFill>
            <a:prstDash val="solid"/>
            <a:headEnd type="arrow" w="med" len="med"/>
          </a:ln>
        </p:spPr>
      </p:cxnSp>
      <p:cxnSp>
        <p:nvCxnSpPr>
          <p:cNvPr id="84" name=""/>
          <p:cNvCxnSpPr>
            <a:stCxn xmlns:a="http://schemas.openxmlformats.org/drawingml/2006/main" id="11" idx="2"/>
            <a:endCxn xmlns:a="http://schemas.openxmlformats.org/drawingml/2006/main" id="26" idx="0"/>
          </p:cNvCxnSpPr>
          <p:nvPr/>
        </p:nvCxnSpPr>
        <p:spPr>
          <a:xfrm xmlns:a="http://schemas.openxmlformats.org/drawingml/2006/main">
            <a:off x="2095500" y="5810250"/>
            <a:ext cx="3619500" cy="1809750"/>
          </a:xfrm>
          <a:prstGeom xmlns:a="http://schemas.openxmlformats.org/drawingml/2006/main" prst="bentConnector4">
            <a:avLst>
              <a:gd name="adj1" fmla="val 0"/>
              <a:gd name="adj2" fmla="val 50000"/>
            </a:avLst>
          </a:prstGeom>
          <a:ln xmlns:a="http://schemas.openxmlformats.org/drawingml/2006/main" w="23813">
            <a:solidFill>
              <a:srgbClr val="CC2453"/>
            </a:solidFill>
            <a:prstDash val="solid"/>
            <a:headEnd type="arrow" w="med" len="med"/>
          </a:ln>
        </p:spPr>
      </p:cxnSp>
      <p:cxnSp>
        <p:nvCxnSpPr>
          <p:cNvPr id="85" name=""/>
          <p:cNvCxnSpPr>
            <a:stCxn xmlns:a="http://schemas.openxmlformats.org/drawingml/2006/main" id="26" idx="3"/>
            <a:endCxn xmlns:a="http://schemas.openxmlformats.org/drawingml/2006/main" id="29" idx="1"/>
          </p:cNvCxnSpPr>
          <p:nvPr/>
        </p:nvCxnSpPr>
        <p:spPr>
          <a:xfrm xmlns:a="http://schemas.openxmlformats.org/drawingml/2006/main">
            <a:off x="7239000" y="8334375"/>
            <a:ext cx="7810500" cy="0"/>
          </a:xfrm>
          <a:prstGeom xmlns:a="http://schemas.openxmlformats.org/drawingml/2006/main" prst="straightConnector1">
            <a:avLst/>
          </a:prstGeom>
          <a:ln xmlns:a="http://schemas.openxmlformats.org/drawingml/2006/main" w="23813">
            <a:solidFill>
              <a:srgbClr val="CC2453"/>
            </a:solidFill>
            <a:prstDash val="solid"/>
            <a:headEnd type="arrow" w="med" len="med"/>
          </a:ln>
        </p:spPr>
      </p:cxnSp>
      <p:sp>
        <p:nvSpPr>
          <p:cNvPr id="42" name="">
            <a:extLst xmlns:a="http://schemas.openxmlformats.org/drawingml/2006/main">
              <a:ext uri="{FF2B5EF4-FFF2-40B4-BE49-F238E27FC236}">
                <a16:creationId xmlns:a16="http://schemas.microsoft.com/office/drawing/2014/main" id="{35AF96A4-34B9-4F42-AEFF-61880B3373EA}"/>
              </a:ext>
            </a:extLst>
          </p:cNvPr>
          <p:cNvSpPr>
            <a:spLocks xmlns:a="http://schemas.openxmlformats.org/drawingml/2006/main" noGrp="1"/>
          </p:cNvSpPr>
          <p:nvPr/>
        </p:nvSpPr>
        <p:spPr>
          <a:xfrm xmlns:a="http://schemas.openxmlformats.org/drawingml/2006/main">
            <a:off x="7762875" y="43338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96B77"/>
                </a:solidFill>
                <a:latin typeface="Inter"/>
                <a:ea typeface="Inter"/>
                <a:cs typeface="Inter"/>
              </a:defRPr>
            </a:pPr>
            <a:r>
              <a:rPr sz="1500" b="0">
                <a:solidFill>
                  <a:srgbClr val="596B77"/>
                </a:solidFill>
                <a:latin typeface="Inter"/>
                <a:ea typeface="Inter"/>
                <a:cs typeface="Inter"/>
              </a:rPr>
              <a:t>Patient-reported events</a:t>
            </a:r>
          </a:p>
        </p:txBody>
      </p:sp>
      <p:sp>
        <p:nvSpPr>
          <p:cNvPr id="43" name="">
            <a:extLst xmlns:a="http://schemas.openxmlformats.org/drawingml/2006/main">
              <a:ext uri="{FF2B5EF4-FFF2-40B4-BE49-F238E27FC236}">
                <a16:creationId xmlns:a16="http://schemas.microsoft.com/office/drawing/2014/main" id="{97E82089-7779-48BA-B827-455ADFF3C405}"/>
              </a:ext>
            </a:extLst>
          </p:cNvPr>
          <p:cNvSpPr>
            <a:spLocks xmlns:a="http://schemas.openxmlformats.org/drawingml/2006/main" noGrp="1"/>
          </p:cNvSpPr>
          <p:nvPr/>
        </p:nvSpPr>
        <p:spPr>
          <a:xfrm xmlns:a="http://schemas.openxmlformats.org/drawingml/2006/main">
            <a:off x="9144000" y="3667125"/>
            <a:ext cx="2047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96B77"/>
                </a:solidFill>
                <a:latin typeface="Inter"/>
                <a:ea typeface="Inter"/>
                <a:cs typeface="Inter"/>
              </a:defRPr>
            </a:pPr>
            <a:r>
              <a:rPr sz="1500" b="0">
                <a:solidFill>
                  <a:srgbClr val="596B77"/>
                </a:solidFill>
                <a:latin typeface="Inter"/>
                <a:ea typeface="Inter"/>
                <a:cs typeface="Inter"/>
              </a:rPr>
              <a:t>Approved facts</a:t>
            </a:r>
          </a:p>
        </p:txBody>
      </p:sp>
      <p:sp>
        <p:nvSpPr>
          <p:cNvPr id="44" name="">
            <a:extLst xmlns:a="http://schemas.openxmlformats.org/drawingml/2006/main">
              <a:ext uri="{FF2B5EF4-FFF2-40B4-BE49-F238E27FC236}">
                <a16:creationId xmlns:a16="http://schemas.microsoft.com/office/drawing/2014/main" id="{F95F6950-C498-48CB-8EEA-7CCEE957CC07}"/>
              </a:ext>
            </a:extLst>
          </p:cNvPr>
          <p:cNvSpPr>
            <a:spLocks xmlns:a="http://schemas.openxmlformats.org/drawingml/2006/main" noGrp="1"/>
          </p:cNvSpPr>
          <p:nvPr/>
        </p:nvSpPr>
        <p:spPr>
          <a:xfrm xmlns:a="http://schemas.openxmlformats.org/drawingml/2006/main">
            <a:off x="571500" y="9858375"/>
            <a:ext cx="1714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96B77"/>
                </a:solidFill>
                <a:latin typeface="Inter"/>
                <a:ea typeface="Inter"/>
                <a:cs typeface="Inter"/>
              </a:defRPr>
            </a:pPr>
            <a:r>
              <a:rPr sz="1350" b="0">
                <a:solidFill>
                  <a:srgbClr val="596B77"/>
                </a:solidFill>
                <a:latin typeface="Inter"/>
                <a:ea typeface="Inter"/>
                <a:cs typeface="Inter"/>
              </a:rPr>
              <a:t>SOS routes to the demo clinic inbox; it does not dispatch emergency services.</a:t>
            </a:r>
          </a:p>
        </p:txBody>
      </p:sp>
    </p:spTree>
    <p:extLst>
      <p:ext uri="{BB962C8B-B14F-4D97-AF65-F5344CB8AC3E}">
        <p14:creationId xmlns:p14="http://schemas.microsoft.com/office/powerpoint/2010/main" val="775480166"/>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1BB97A4-A52D-4788-87AA-DCA268606DDC}"/>
              </a:ext>
            </a:extLst>
          </p:cNvPr>
          <p:cNvSpPr>
            <a:spLocks xmlns:a="http://schemas.openxmlformats.org/drawingml/2006/main" noGrp="1"/>
          </p:cNvSpPr>
          <p:nvPr/>
        </p:nvSpPr>
        <p:spPr>
          <a:xfrm xmlns:a="http://schemas.openxmlformats.org/drawingml/2006/main">
            <a:off x="571500" y="361950"/>
            <a:ext cx="1714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Inter"/>
                <a:ea typeface="Inter"/>
                <a:cs typeface="Inter"/>
              </a:defRPr>
            </a:pPr>
            <a:r>
              <a:rPr sz="3000" b="1">
                <a:solidFill>
                  <a:srgbClr val="142735"/>
                </a:solidFill>
                <a:latin typeface="Inter"/>
                <a:ea typeface="Inter"/>
                <a:cs typeface="Inter"/>
              </a:rPr>
              <a:t>Impact</a:t>
            </a:r>
          </a:p>
        </p:txBody>
      </p:sp>
      <p:sp>
        <p:nvSpPr>
          <p:cNvPr id="2" name="">
            <a:extLst xmlns:a="http://schemas.openxmlformats.org/drawingml/2006/main">
              <a:ext uri="{FF2B5EF4-FFF2-40B4-BE49-F238E27FC236}">
                <a16:creationId xmlns:a16="http://schemas.microsoft.com/office/drawing/2014/main" id="{0257C9CE-1D85-4CBA-A7F6-255ACEB4FC3A}"/>
              </a:ext>
            </a:extLst>
          </p:cNvPr>
          <p:cNvSpPr>
            <a:spLocks xmlns:a="http://schemas.openxmlformats.org/drawingml/2006/main" noGrp="1"/>
          </p:cNvSpPr>
          <p:nvPr/>
        </p:nvSpPr>
        <p:spPr>
          <a:xfrm xmlns:a="http://schemas.openxmlformats.org/drawingml/2006/main">
            <a:off x="571500" y="233362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37A76"/>
                </a:solidFill>
                <a:latin typeface="Inter"/>
                <a:ea typeface="Inter"/>
                <a:cs typeface="Inter"/>
              </a:defRPr>
            </a:pPr>
            <a:r>
              <a:rPr sz="2250" b="1">
                <a:solidFill>
                  <a:srgbClr val="137A76"/>
                </a:solidFill>
                <a:latin typeface="Inter"/>
                <a:ea typeface="Inter"/>
                <a:cs typeface="Inter"/>
              </a:rPr>
              <a:t>Doctors</a:t>
            </a:r>
          </a:p>
        </p:txBody>
      </p:sp>
      <p:sp>
        <p:nvSpPr>
          <p:cNvPr id="3" name="">
            <a:extLst xmlns:a="http://schemas.openxmlformats.org/drawingml/2006/main">
              <a:ext uri="{FF2B5EF4-FFF2-40B4-BE49-F238E27FC236}">
                <a16:creationId xmlns:a16="http://schemas.microsoft.com/office/drawing/2014/main" id="{58214B06-29DC-4B11-B5FD-F2CD01A47FAE}"/>
              </a:ext>
            </a:extLst>
          </p:cNvPr>
          <p:cNvSpPr>
            <a:spLocks xmlns:a="http://schemas.openxmlformats.org/drawingml/2006/main" noGrp="1"/>
          </p:cNvSpPr>
          <p:nvPr/>
        </p:nvSpPr>
        <p:spPr>
          <a:xfrm xmlns:a="http://schemas.openxmlformats.org/drawingml/2006/main">
            <a:off x="571500" y="3095625"/>
            <a:ext cx="5143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735"/>
                </a:solidFill>
                <a:latin typeface="Inter"/>
                <a:ea typeface="Inter"/>
                <a:cs typeface="Inter"/>
              </a:defRPr>
            </a:pPr>
            <a:r>
              <a:rPr sz="2250" b="0">
                <a:solidFill>
                  <a:srgbClr val="142735"/>
                </a:solidFill>
                <a:latin typeface="Inter"/>
                <a:ea typeface="Inter"/>
                <a:cs typeface="Inter"/>
              </a:rPr>
              <a:t>Review trends and medication history together. Inspect a source report without searching through separate files.</a:t>
            </a:r>
          </a:p>
        </p:txBody>
      </p:sp>
      <p:sp>
        <p:nvSpPr>
          <p:cNvPr id="4" name="">
            <a:extLst xmlns:a="http://schemas.openxmlformats.org/drawingml/2006/main">
              <a:ext uri="{FF2B5EF4-FFF2-40B4-BE49-F238E27FC236}">
                <a16:creationId xmlns:a16="http://schemas.microsoft.com/office/drawing/2014/main" id="{0F16F182-2068-4814-9413-3D49E230A4FC}"/>
              </a:ext>
            </a:extLst>
          </p:cNvPr>
          <p:cNvSpPr>
            <a:spLocks xmlns:a="http://schemas.openxmlformats.org/drawingml/2006/main" noGrp="1"/>
          </p:cNvSpPr>
          <p:nvPr/>
        </p:nvSpPr>
        <p:spPr>
          <a:xfrm xmlns:a="http://schemas.openxmlformats.org/drawingml/2006/main">
            <a:off x="6524625" y="233362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37A76"/>
                </a:solidFill>
                <a:latin typeface="Inter"/>
                <a:ea typeface="Inter"/>
                <a:cs typeface="Inter"/>
              </a:defRPr>
            </a:pPr>
            <a:r>
              <a:rPr sz="2250" b="1">
                <a:solidFill>
                  <a:srgbClr val="137A76"/>
                </a:solidFill>
                <a:latin typeface="Inter"/>
                <a:ea typeface="Inter"/>
                <a:cs typeface="Inter"/>
              </a:rPr>
              <a:t>Clinic teams</a:t>
            </a:r>
          </a:p>
        </p:txBody>
      </p:sp>
      <p:sp>
        <p:nvSpPr>
          <p:cNvPr id="5" name="">
            <a:extLst xmlns:a="http://schemas.openxmlformats.org/drawingml/2006/main">
              <a:ext uri="{FF2B5EF4-FFF2-40B4-BE49-F238E27FC236}">
                <a16:creationId xmlns:a16="http://schemas.microsoft.com/office/drawing/2014/main" id="{B6CE1B8D-0753-4131-9A9A-A9546D698AA1}"/>
              </a:ext>
            </a:extLst>
          </p:cNvPr>
          <p:cNvSpPr>
            <a:spLocks xmlns:a="http://schemas.openxmlformats.org/drawingml/2006/main" noGrp="1"/>
          </p:cNvSpPr>
          <p:nvPr/>
        </p:nvSpPr>
        <p:spPr>
          <a:xfrm xmlns:a="http://schemas.openxmlformats.org/drawingml/2006/main">
            <a:off x="6524625" y="3095625"/>
            <a:ext cx="5143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735"/>
                </a:solidFill>
                <a:latin typeface="Inter"/>
                <a:ea typeface="Inter"/>
                <a:cs typeface="Inter"/>
              </a:defRPr>
            </a:pPr>
            <a:r>
              <a:rPr sz="2250" b="0">
                <a:solidFill>
                  <a:srgbClr val="142735"/>
                </a:solidFill>
                <a:latin typeface="Inter"/>
                <a:ea typeface="Inter"/>
                <a:cs typeface="Inter"/>
              </a:rPr>
              <a:t>Manage extraction and approval in one queue. Keep unresolved records and pending follow-up visible.</a:t>
            </a:r>
          </a:p>
        </p:txBody>
      </p:sp>
      <p:sp>
        <p:nvSpPr>
          <p:cNvPr id="6" name="">
            <a:extLst xmlns:a="http://schemas.openxmlformats.org/drawingml/2006/main">
              <a:ext uri="{FF2B5EF4-FFF2-40B4-BE49-F238E27FC236}">
                <a16:creationId xmlns:a16="http://schemas.microsoft.com/office/drawing/2014/main" id="{CBF9F3B3-82C2-4249-8198-1AE3FCB42398}"/>
              </a:ext>
            </a:extLst>
          </p:cNvPr>
          <p:cNvSpPr>
            <a:spLocks xmlns:a="http://schemas.openxmlformats.org/drawingml/2006/main" noGrp="1"/>
          </p:cNvSpPr>
          <p:nvPr/>
        </p:nvSpPr>
        <p:spPr>
          <a:xfrm xmlns:a="http://schemas.openxmlformats.org/drawingml/2006/main">
            <a:off x="12477750" y="233362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37A76"/>
                </a:solidFill>
                <a:latin typeface="Inter"/>
                <a:ea typeface="Inter"/>
                <a:cs typeface="Inter"/>
              </a:defRPr>
            </a:pPr>
            <a:r>
              <a:rPr sz="2250" b="1">
                <a:solidFill>
                  <a:srgbClr val="137A76"/>
                </a:solidFill>
                <a:latin typeface="Inter"/>
                <a:ea typeface="Inter"/>
                <a:cs typeface="Inter"/>
              </a:rPr>
              <a:t>Patients</a:t>
            </a:r>
          </a:p>
        </p:txBody>
      </p:sp>
      <p:sp>
        <p:nvSpPr>
          <p:cNvPr id="7" name="">
            <a:extLst xmlns:a="http://schemas.openxmlformats.org/drawingml/2006/main">
              <a:ext uri="{FF2B5EF4-FFF2-40B4-BE49-F238E27FC236}">
                <a16:creationId xmlns:a16="http://schemas.microsoft.com/office/drawing/2014/main" id="{8A0279FD-1F5B-4025-9997-B32C60A44C2A}"/>
              </a:ext>
            </a:extLst>
          </p:cNvPr>
          <p:cNvSpPr>
            <a:spLocks xmlns:a="http://schemas.openxmlformats.org/drawingml/2006/main" noGrp="1"/>
          </p:cNvSpPr>
          <p:nvPr/>
        </p:nvSpPr>
        <p:spPr>
          <a:xfrm xmlns:a="http://schemas.openxmlformats.org/drawingml/2006/main">
            <a:off x="12477750" y="3095625"/>
            <a:ext cx="5143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735"/>
                </a:solidFill>
                <a:latin typeface="Inter"/>
                <a:ea typeface="Inter"/>
                <a:cs typeface="Inter"/>
              </a:defRPr>
            </a:pPr>
            <a:r>
              <a:rPr sz="2250" b="0">
                <a:solidFill>
                  <a:srgbClr val="142735"/>
                </a:solidFill>
                <a:latin typeface="Inter"/>
                <a:ea typeface="Inter"/>
                <a:cs typeface="Inter"/>
              </a:rPr>
              <a:t>Upload reports between visits and record home readings and symptoms in the same patient record.</a:t>
            </a:r>
          </a:p>
        </p:txBody>
      </p:sp>
      <p:sp>
        <p:nvSpPr>
          <p:cNvPr id="8" name="">
            <a:extLst xmlns:a="http://schemas.openxmlformats.org/drawingml/2006/main">
              <a:ext uri="{FF2B5EF4-FFF2-40B4-BE49-F238E27FC236}">
                <a16:creationId xmlns:a16="http://schemas.microsoft.com/office/drawing/2014/main" id="{F12A7156-CEFE-46F8-A43C-DF1D10E2EE99}"/>
              </a:ext>
            </a:extLst>
          </p:cNvPr>
          <p:cNvSpPr>
            <a:spLocks xmlns:a="http://schemas.openxmlformats.org/drawingml/2006/main" noGrp="1"/>
          </p:cNvSpPr>
          <p:nvPr/>
        </p:nvSpPr>
        <p:spPr>
          <a:xfrm xmlns:a="http://schemas.openxmlformats.org/drawingml/2006/main">
            <a:off x="571500" y="7191375"/>
            <a:ext cx="1666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37A76"/>
                </a:solidFill>
                <a:latin typeface="Inter"/>
                <a:ea typeface="Inter"/>
                <a:cs typeface="Inter"/>
              </a:defRPr>
            </a:pPr>
            <a:r>
              <a:rPr sz="2700" b="1">
                <a:solidFill>
                  <a:srgbClr val="137A76"/>
                </a:solidFill>
                <a:latin typeface="Inter"/>
                <a:ea typeface="Inter"/>
                <a:cs typeface="Inter"/>
              </a:rPr>
              <a:t>Pilot target: 30% less preparation time</a:t>
            </a:r>
          </a:p>
        </p:txBody>
      </p:sp>
      <p:sp>
        <p:nvSpPr>
          <p:cNvPr id="9" name="">
            <a:extLst xmlns:a="http://schemas.openxmlformats.org/drawingml/2006/main">
              <a:ext uri="{FF2B5EF4-FFF2-40B4-BE49-F238E27FC236}">
                <a16:creationId xmlns:a16="http://schemas.microsoft.com/office/drawing/2014/main" id="{AFD7777B-8052-45B4-917F-68E0BC00AE45}"/>
              </a:ext>
            </a:extLst>
          </p:cNvPr>
          <p:cNvSpPr>
            <a:spLocks xmlns:a="http://schemas.openxmlformats.org/drawingml/2006/main" noGrp="1"/>
          </p:cNvSpPr>
          <p:nvPr/>
        </p:nvSpPr>
        <p:spPr>
          <a:xfrm xmlns:a="http://schemas.openxmlformats.org/drawingml/2006/main">
            <a:off x="571500" y="8143875"/>
            <a:ext cx="1666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96B77"/>
                </a:solidFill>
                <a:latin typeface="Inter"/>
                <a:ea typeface="Inter"/>
                <a:cs typeface="Inter"/>
              </a:defRPr>
            </a:pPr>
            <a:r>
              <a:rPr sz="2100" b="0">
                <a:solidFill>
                  <a:srgbClr val="596B77"/>
                </a:solidFill>
                <a:latin typeface="Inter"/>
                <a:ea typeface="Inter"/>
                <a:cs typeface="Inter"/>
              </a:rPr>
              <a:t>Over 60–90 days, compare combined staff and doctor time with manual preparation. Also measure correction rates and report retrieval. Time savings have not yet been measured.</a:t>
            </a:r>
          </a:p>
        </p:txBody>
      </p:sp>
    </p:spTree>
    <p:extLst>
      <p:ext uri="{BB962C8B-B14F-4D97-AF65-F5344CB8AC3E}">
        <p14:creationId xmlns:p14="http://schemas.microsoft.com/office/powerpoint/2010/main" val="49724026"/>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5596CB9-EE90-4797-AA53-91E610121A7D}"/>
              </a:ext>
            </a:extLst>
          </p:cNvPr>
          <p:cNvSpPr>
            <a:spLocks xmlns:a="http://schemas.openxmlformats.org/drawingml/2006/main" noGrp="1"/>
          </p:cNvSpPr>
          <p:nvPr/>
        </p:nvSpPr>
        <p:spPr>
          <a:xfrm xmlns:a="http://schemas.openxmlformats.org/drawingml/2006/main">
            <a:off x="571500" y="361950"/>
            <a:ext cx="1714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Inter"/>
                <a:ea typeface="Inter"/>
                <a:cs typeface="Inter"/>
              </a:defRPr>
            </a:pPr>
            <a:r>
              <a:rPr sz="3000" b="1">
                <a:solidFill>
                  <a:srgbClr val="142735"/>
                </a:solidFill>
                <a:latin typeface="Inter"/>
                <a:ea typeface="Inter"/>
                <a:cs typeface="Inter"/>
              </a:rPr>
              <a:t>Scalability and business model</a:t>
            </a:r>
          </a:p>
        </p:txBody>
      </p:sp>
      <p:sp>
        <p:nvSpPr>
          <p:cNvPr id="2" name="">
            <a:extLst xmlns:a="http://schemas.openxmlformats.org/drawingml/2006/main">
              <a:ext uri="{FF2B5EF4-FFF2-40B4-BE49-F238E27FC236}">
                <a16:creationId xmlns:a16="http://schemas.microsoft.com/office/drawing/2014/main" id="{8A783C36-AC6C-4D71-AD2B-156F2B37F252}"/>
              </a:ext>
            </a:extLst>
          </p:cNvPr>
          <p:cNvSpPr>
            <a:spLocks xmlns:a="http://schemas.openxmlformats.org/drawingml/2006/main" noGrp="1"/>
          </p:cNvSpPr>
          <p:nvPr/>
        </p:nvSpPr>
        <p:spPr>
          <a:xfrm xmlns:a="http://schemas.openxmlformats.org/drawingml/2006/main">
            <a:off x="571500" y="238125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37A76"/>
                </a:solidFill>
                <a:latin typeface="Inter"/>
                <a:ea typeface="Inter"/>
                <a:cs typeface="Inter"/>
              </a:defRPr>
            </a:pPr>
            <a:r>
              <a:rPr sz="2250" b="1">
                <a:solidFill>
                  <a:srgbClr val="137A76"/>
                </a:solidFill>
                <a:latin typeface="Inter"/>
                <a:ea typeface="Inter"/>
                <a:cs typeface="Inter"/>
              </a:rPr>
              <a:t>Clinic subscription</a:t>
            </a:r>
          </a:p>
        </p:txBody>
      </p:sp>
      <p:sp>
        <p:nvSpPr>
          <p:cNvPr id="3" name="">
            <a:extLst xmlns:a="http://schemas.openxmlformats.org/drawingml/2006/main">
              <a:ext uri="{FF2B5EF4-FFF2-40B4-BE49-F238E27FC236}">
                <a16:creationId xmlns:a16="http://schemas.microsoft.com/office/drawing/2014/main" id="{1E5F3A13-5058-47BF-A773-C84BBFFEFE6A}"/>
              </a:ext>
            </a:extLst>
          </p:cNvPr>
          <p:cNvSpPr>
            <a:spLocks xmlns:a="http://schemas.openxmlformats.org/drawingml/2006/main" noGrp="1"/>
          </p:cNvSpPr>
          <p:nvPr/>
        </p:nvSpPr>
        <p:spPr>
          <a:xfrm xmlns:a="http://schemas.openxmlformats.org/drawingml/2006/main">
            <a:off x="571500" y="3143250"/>
            <a:ext cx="5143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735"/>
                </a:solidFill>
                <a:latin typeface="Inter"/>
                <a:ea typeface="Inter"/>
                <a:cs typeface="Inter"/>
              </a:defRPr>
            </a:pPr>
            <a:r>
              <a:rPr sz="2250" b="0">
                <a:solidFill>
                  <a:srgbClr val="142735"/>
                </a:solidFill>
                <a:latin typeface="Inter"/>
                <a:ea typeface="Inter"/>
                <a:cs typeface="Inter"/>
              </a:rPr>
              <a:t>Proposed subscription per clinic, with a document-processing allowance. Validate pricing in a supervised diabetes OPD pilot.</a:t>
            </a:r>
          </a:p>
        </p:txBody>
      </p:sp>
      <p:sp>
        <p:nvSpPr>
          <p:cNvPr id="4" name="">
            <a:extLst xmlns:a="http://schemas.openxmlformats.org/drawingml/2006/main">
              <a:ext uri="{FF2B5EF4-FFF2-40B4-BE49-F238E27FC236}">
                <a16:creationId xmlns:a16="http://schemas.microsoft.com/office/drawing/2014/main" id="{15D1FC89-DF9E-44DD-B244-D18495CFC5D8}"/>
              </a:ext>
            </a:extLst>
          </p:cNvPr>
          <p:cNvSpPr>
            <a:spLocks xmlns:a="http://schemas.openxmlformats.org/drawingml/2006/main" noGrp="1"/>
          </p:cNvSpPr>
          <p:nvPr/>
        </p:nvSpPr>
        <p:spPr>
          <a:xfrm xmlns:a="http://schemas.openxmlformats.org/drawingml/2006/main">
            <a:off x="6524625" y="238125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37A76"/>
                </a:solidFill>
                <a:latin typeface="Inter"/>
                <a:ea typeface="Inter"/>
                <a:cs typeface="Inter"/>
              </a:defRPr>
            </a:pPr>
            <a:r>
              <a:rPr sz="2250" b="1">
                <a:solidFill>
                  <a:srgbClr val="137A76"/>
                </a:solidFill>
                <a:latin typeface="Inter"/>
                <a:ea typeface="Inter"/>
                <a:cs typeface="Inter"/>
              </a:rPr>
              <a:t>Processing at scale</a:t>
            </a:r>
          </a:p>
        </p:txBody>
      </p:sp>
      <p:sp>
        <p:nvSpPr>
          <p:cNvPr id="5" name="">
            <a:extLst xmlns:a="http://schemas.openxmlformats.org/drawingml/2006/main">
              <a:ext uri="{FF2B5EF4-FFF2-40B4-BE49-F238E27FC236}">
                <a16:creationId xmlns:a16="http://schemas.microsoft.com/office/drawing/2014/main" id="{CE5B0509-DAEB-43FB-878F-14062344852A}"/>
              </a:ext>
            </a:extLst>
          </p:cNvPr>
          <p:cNvSpPr>
            <a:spLocks xmlns:a="http://schemas.openxmlformats.org/drawingml/2006/main" noGrp="1"/>
          </p:cNvSpPr>
          <p:nvPr/>
        </p:nvSpPr>
        <p:spPr>
          <a:xfrm xmlns:a="http://schemas.openxmlformats.org/drawingml/2006/main">
            <a:off x="6524625" y="3143250"/>
            <a:ext cx="5143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735"/>
                </a:solidFill>
                <a:latin typeface="Inter"/>
                <a:ea typeface="Inter"/>
                <a:cs typeface="Inter"/>
              </a:defRPr>
            </a:pPr>
            <a:r>
              <a:rPr sz="2250" b="0">
                <a:solidFill>
                  <a:srgbClr val="142735"/>
                </a:solidFill>
                <a:latin typeface="Inter"/>
                <a:ea typeface="Inter"/>
                <a:cs typeface="Inter"/>
              </a:rPr>
              <a:t>Separate services for browsing and report processing. Failed jobs can retry. Clinic and patient access stays isolated.</a:t>
            </a:r>
          </a:p>
        </p:txBody>
      </p:sp>
      <p:sp>
        <p:nvSpPr>
          <p:cNvPr id="6" name="">
            <a:extLst xmlns:a="http://schemas.openxmlformats.org/drawingml/2006/main">
              <a:ext uri="{FF2B5EF4-FFF2-40B4-BE49-F238E27FC236}">
                <a16:creationId xmlns:a16="http://schemas.microsoft.com/office/drawing/2014/main" id="{EFB1ECE3-14A8-4AEE-A692-7707AC9EB6BB}"/>
              </a:ext>
            </a:extLst>
          </p:cNvPr>
          <p:cNvSpPr>
            <a:spLocks xmlns:a="http://schemas.openxmlformats.org/drawingml/2006/main" noGrp="1"/>
          </p:cNvSpPr>
          <p:nvPr/>
        </p:nvSpPr>
        <p:spPr>
          <a:xfrm xmlns:a="http://schemas.openxmlformats.org/drawingml/2006/main">
            <a:off x="12477750" y="238125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37A76"/>
                </a:solidFill>
                <a:latin typeface="Inter"/>
                <a:ea typeface="Inter"/>
                <a:cs typeface="Inter"/>
              </a:defRPr>
            </a:pPr>
            <a:r>
              <a:rPr sz="2250" b="1">
                <a:solidFill>
                  <a:srgbClr val="137A76"/>
                </a:solidFill>
                <a:latin typeface="Inter"/>
                <a:ea typeface="Inter"/>
                <a:cs typeface="Inter"/>
              </a:rPr>
              <a:t>Expansion</a:t>
            </a:r>
          </a:p>
        </p:txBody>
      </p:sp>
      <p:sp>
        <p:nvSpPr>
          <p:cNvPr id="7" name="">
            <a:extLst xmlns:a="http://schemas.openxmlformats.org/drawingml/2006/main">
              <a:ext uri="{FF2B5EF4-FFF2-40B4-BE49-F238E27FC236}">
                <a16:creationId xmlns:a16="http://schemas.microsoft.com/office/drawing/2014/main" id="{F3C619A2-AA73-4E15-BC6B-2432E15258F4}"/>
              </a:ext>
            </a:extLst>
          </p:cNvPr>
          <p:cNvSpPr>
            <a:spLocks xmlns:a="http://schemas.openxmlformats.org/drawingml/2006/main" noGrp="1"/>
          </p:cNvSpPr>
          <p:nvPr/>
        </p:nvSpPr>
        <p:spPr>
          <a:xfrm xmlns:a="http://schemas.openxmlformats.org/drawingml/2006/main">
            <a:off x="12477750" y="3143250"/>
            <a:ext cx="5143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735"/>
                </a:solidFill>
                <a:latin typeface="Inter"/>
                <a:ea typeface="Inter"/>
                <a:cs typeface="Inter"/>
              </a:defRPr>
            </a:pPr>
            <a:r>
              <a:rPr sz="2250" b="0">
                <a:solidFill>
                  <a:srgbClr val="142735"/>
                </a:solidFill>
                <a:latin typeface="Inter"/>
                <a:ea typeface="Inter"/>
                <a:cs typeface="Inter"/>
              </a:rPr>
              <a:t>Support more report layouts and regional languages. Later, add clinic-system integrations and consent-based ABHA access.</a:t>
            </a:r>
          </a:p>
        </p:txBody>
      </p:sp>
      <p:sp>
        <p:nvSpPr>
          <p:cNvPr id="8" name="">
            <a:extLst xmlns:a="http://schemas.openxmlformats.org/drawingml/2006/main">
              <a:ext uri="{FF2B5EF4-FFF2-40B4-BE49-F238E27FC236}">
                <a16:creationId xmlns:a16="http://schemas.microsoft.com/office/drawing/2014/main" id="{E2A3F0DD-58E3-4FE9-9696-FDCDC08E845D}"/>
              </a:ext>
            </a:extLst>
          </p:cNvPr>
          <p:cNvSpPr>
            <a:spLocks xmlns:a="http://schemas.openxmlformats.org/drawingml/2006/main" noGrp="1"/>
          </p:cNvSpPr>
          <p:nvPr/>
        </p:nvSpPr>
        <p:spPr>
          <a:xfrm xmlns:a="http://schemas.openxmlformats.org/drawingml/2006/main">
            <a:off x="571500" y="7762875"/>
            <a:ext cx="16668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42735"/>
                </a:solidFill>
                <a:latin typeface="Inter"/>
                <a:ea typeface="Inter"/>
                <a:cs typeface="Inter"/>
              </a:defRPr>
            </a:pPr>
            <a:r>
              <a:rPr sz="2550" b="1">
                <a:solidFill>
                  <a:srgbClr val="142735"/>
                </a:solidFill>
                <a:latin typeface="Inter"/>
                <a:ea typeface="Inter"/>
                <a:cs typeface="Inter"/>
              </a:rPr>
              <a:t>Expand after measuring review effort, processing cost and clinic willingness to pay.</a:t>
            </a:r>
          </a:p>
        </p:txBody>
      </p:sp>
    </p:spTree>
    <p:extLst>
      <p:ext uri="{BB962C8B-B14F-4D97-AF65-F5344CB8AC3E}">
        <p14:creationId xmlns:p14="http://schemas.microsoft.com/office/powerpoint/2010/main" val="1404617982"/>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421D9CB-0780-44DA-9874-0D4EB8EBDB71}"/>
              </a:ext>
            </a:extLst>
          </p:cNvPr>
          <p:cNvSpPr>
            <a:spLocks xmlns:a="http://schemas.openxmlformats.org/drawingml/2006/main" noGrp="1"/>
          </p:cNvSpPr>
          <p:nvPr/>
        </p:nvSpPr>
        <p:spPr>
          <a:xfrm xmlns:a="http://schemas.openxmlformats.org/drawingml/2006/main">
            <a:off x="571500" y="361950"/>
            <a:ext cx="1714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Inter"/>
                <a:ea typeface="Inter"/>
                <a:cs typeface="Inter"/>
              </a:defRPr>
            </a:pPr>
            <a:r>
              <a:rPr sz="3000" b="1">
                <a:solidFill>
                  <a:srgbClr val="142735"/>
                </a:solidFill>
                <a:latin typeface="Inter"/>
                <a:ea typeface="Inter"/>
                <a:cs typeface="Inter"/>
              </a:rPr>
              <a:t>Conclusion</a:t>
            </a:r>
          </a:p>
        </p:txBody>
      </p:sp>
      <p:sp>
        <p:nvSpPr>
          <p:cNvPr id="2" name="">
            <a:extLst xmlns:a="http://schemas.openxmlformats.org/drawingml/2006/main">
              <a:ext uri="{FF2B5EF4-FFF2-40B4-BE49-F238E27FC236}">
                <a16:creationId xmlns:a16="http://schemas.microsoft.com/office/drawing/2014/main" id="{277CAB91-C572-4156-B678-3A0AD6785585}"/>
              </a:ext>
            </a:extLst>
          </p:cNvPr>
          <p:cNvSpPr>
            <a:spLocks xmlns:a="http://schemas.openxmlformats.org/drawingml/2006/main" noGrp="1"/>
          </p:cNvSpPr>
          <p:nvPr/>
        </p:nvSpPr>
        <p:spPr>
          <a:xfrm xmlns:a="http://schemas.openxmlformats.org/drawingml/2006/main">
            <a:off x="571500" y="2333625"/>
            <a:ext cx="16668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Inter"/>
                <a:ea typeface="Inter"/>
                <a:cs typeface="Inter"/>
              </a:defRPr>
            </a:pPr>
            <a:r>
              <a:rPr sz="3000" b="1">
                <a:solidFill>
                  <a:srgbClr val="142735"/>
                </a:solidFill>
                <a:latin typeface="Inter"/>
                <a:ea typeface="Inter"/>
                <a:cs typeface="Inter"/>
              </a:rPr>
              <a:t>Glucoflow brings the follow-up history into one place, so doctors can review progression and inspect the records behind it.</a:t>
            </a:r>
          </a:p>
        </p:txBody>
      </p:sp>
      <p:sp>
        <p:nvSpPr>
          <p:cNvPr id="3" name="">
            <a:extLst xmlns:a="http://schemas.openxmlformats.org/drawingml/2006/main">
              <a:ext uri="{FF2B5EF4-FFF2-40B4-BE49-F238E27FC236}">
                <a16:creationId xmlns:a16="http://schemas.microsoft.com/office/drawing/2014/main" id="{DF48C0CC-5004-4344-A7A9-0FF46A680C8C}"/>
              </a:ext>
            </a:extLst>
          </p:cNvPr>
          <p:cNvSpPr>
            <a:spLocks xmlns:a="http://schemas.openxmlformats.org/drawingml/2006/main" noGrp="1"/>
          </p:cNvSpPr>
          <p:nvPr/>
        </p:nvSpPr>
        <p:spPr>
          <a:xfrm xmlns:a="http://schemas.openxmlformats.org/drawingml/2006/main">
            <a:off x="571500" y="5191125"/>
            <a:ext cx="16668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596B77"/>
                </a:solidFill>
                <a:latin typeface="Inter"/>
                <a:ea typeface="Inter"/>
                <a:cs typeface="Inter"/>
              </a:defRPr>
            </a:pPr>
            <a:r>
              <a:rPr sz="2400" b="0">
                <a:solidFill>
                  <a:srgbClr val="596B77"/>
                </a:solidFill>
                <a:latin typeface="Inter"/>
                <a:ea typeface="Inter"/>
                <a:cs typeface="Inter"/>
              </a:rPr>
              <a:t>Patients add records. Clinic teams verify them. Doctors review the history.</a:t>
            </a:r>
          </a:p>
        </p:txBody>
      </p:sp>
      <p:sp>
        <p:nvSpPr>
          <p:cNvPr id="4" name="">
            <a:extLst xmlns:a="http://schemas.openxmlformats.org/drawingml/2006/main">
              <a:ext uri="{FF2B5EF4-FFF2-40B4-BE49-F238E27FC236}">
                <a16:creationId xmlns:a16="http://schemas.microsoft.com/office/drawing/2014/main" id="{710B46D2-B83F-4163-BA53-EFC7766CFE0B}"/>
              </a:ext>
            </a:extLst>
          </p:cNvPr>
          <p:cNvSpPr>
            <a:spLocks xmlns:a="http://schemas.openxmlformats.org/drawingml/2006/main" noGrp="1"/>
          </p:cNvSpPr>
          <p:nvPr/>
        </p:nvSpPr>
        <p:spPr>
          <a:xfrm xmlns:a="http://schemas.openxmlformats.org/drawingml/2006/main">
            <a:off x="571500" y="7762875"/>
            <a:ext cx="1666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37A76"/>
                </a:solidFill>
                <a:latin typeface="Inter"/>
                <a:ea typeface="Inter"/>
                <a:cs typeface="Inter"/>
              </a:defRPr>
            </a:pPr>
            <a:r>
              <a:rPr sz="3000" b="1">
                <a:solidFill>
                  <a:srgbClr val="137A76"/>
                </a:solidFill>
                <a:latin typeface="Inter"/>
                <a:ea typeface="Inter"/>
                <a:cs typeface="Inter"/>
              </a:rPr>
              <a:t>glucoflow.vercel.app</a:t>
            </a:r>
          </a:p>
        </p:txBody>
      </p:sp>
      <p:sp>
        <p:nvSpPr>
          <p:cNvPr id="5" name="">
            <a:extLst xmlns:a="http://schemas.openxmlformats.org/drawingml/2006/main">
              <a:ext uri="{FF2B5EF4-FFF2-40B4-BE49-F238E27FC236}">
                <a16:creationId xmlns:a16="http://schemas.microsoft.com/office/drawing/2014/main" id="{F13AD87A-74AA-4337-896B-6875CB35470B}"/>
              </a:ext>
            </a:extLst>
          </p:cNvPr>
          <p:cNvSpPr>
            <a:spLocks xmlns:a="http://schemas.openxmlformats.org/drawingml/2006/main" noGrp="1"/>
          </p:cNvSpPr>
          <p:nvPr/>
        </p:nvSpPr>
        <p:spPr>
          <a:xfrm xmlns:a="http://schemas.openxmlformats.org/drawingml/2006/main">
            <a:off x="571500" y="8810625"/>
            <a:ext cx="1666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96B77"/>
                </a:solidFill>
                <a:latin typeface="Inter"/>
                <a:ea typeface="Inter"/>
                <a:cs typeface="Inter"/>
              </a:defRPr>
            </a:pPr>
            <a:r>
              <a:rPr sz="2100" b="0">
                <a:solidFill>
                  <a:srgbClr val="596B77"/>
                </a:solidFill>
                <a:latin typeface="Inter"/>
                <a:ea typeface="Inter"/>
                <a:cs typeface="Inter"/>
              </a:rPr>
              <a:t>Choose Doctor, Clinic team or Patient to explore the workflow.</a:t>
            </a:r>
          </a:p>
        </p:txBody>
      </p:sp>
    </p:spTree>
    <p:extLst>
      <p:ext uri="{BB962C8B-B14F-4D97-AF65-F5344CB8AC3E}">
        <p14:creationId xmlns:p14="http://schemas.microsoft.com/office/powerpoint/2010/main" val="64290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2026-10-03T18:15:54.9440000Z</dcterms:created>
  <dcterms:modified xsi:type="dcterms:W3CDTF">2026-10-03T18:15:54.9440000Z</dcterms:modified>
</coreProperties>
</file>