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be57ca5eb8d442c" /><Relationship Type="http://schemas.openxmlformats.org/officeDocument/2006/relationships/extended-properties" Target="/docProps/app.xml" Id="Rec2f1353d12e4ac4" /><Relationship Type="http://schemas.openxmlformats.org/officeDocument/2006/relationships/officeDocument" Target="/ppt/presentation.xml" Id="R0aaf7489c73b4118" /></Relationships>
</file>

<file path=ppt/presentation.xml><?xml version="1.0" encoding="utf-8"?>
<p:presentation xmlns:p="http://schemas.openxmlformats.org/presentationml/2006/main">
  <p:sldMasterIdLst>
    <p:sldMasterId xmlns:r="http://schemas.openxmlformats.org/officeDocument/2006/relationships" id="2147483648" r:id="R5f9390d267e84606"/>
  </p:sldMasterIdLst>
  <p:notesMasterIdLst>
    <p:notesMasterId xmlns:r="http://schemas.openxmlformats.org/officeDocument/2006/relationships" r:id="R6007561ac2a84192"/>
  </p:notesMasterIdLst>
  <p:sldIdLst>
    <p:sldId xmlns:r="http://schemas.openxmlformats.org/officeDocument/2006/relationships" id="256" r:id="R4c3511d01e6b4f4c"/>
    <p:sldId xmlns:r="http://schemas.openxmlformats.org/officeDocument/2006/relationships" id="257" r:id="R37faea34274b4975"/>
    <p:sldId xmlns:r="http://schemas.openxmlformats.org/officeDocument/2006/relationships" id="258" r:id="Rc2a0b95619854b93"/>
    <p:sldId xmlns:r="http://schemas.openxmlformats.org/officeDocument/2006/relationships" id="259" r:id="R98ef17431ad4454a"/>
    <p:sldId xmlns:r="http://schemas.openxmlformats.org/officeDocument/2006/relationships" id="260" r:id="Rc91fb1f4695e43f7"/>
    <p:sldId xmlns:r="http://schemas.openxmlformats.org/officeDocument/2006/relationships" id="261" r:id="R3c16e377bcc34156"/>
    <p:sldId xmlns:r="http://schemas.openxmlformats.org/officeDocument/2006/relationships" id="262" r:id="R7815a1622627425d"/>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0908dbc6a1e4c71" /><Relationship Type="http://schemas.openxmlformats.org/officeDocument/2006/relationships/slideMaster" Target="/ppt/slideMasters/slideMaster1.xml" Id="R5f9390d267e84606" /><Relationship Type="http://schemas.openxmlformats.org/officeDocument/2006/relationships/notesMaster" Target="/ppt/notesMasters/notesMaster1.xml" Id="R6007561ac2a84192" /><Relationship Type="http://schemas.openxmlformats.org/officeDocument/2006/relationships/presProps" Target="/ppt/presProps.xml" Id="R2cb5b4ddd92a4fd0" /><Relationship Type="http://schemas.openxmlformats.org/officeDocument/2006/relationships/tableStyles" Target="/ppt/tableStyles.xml" Id="Re818c1ec576e4aa2" /><Relationship Type="http://schemas.openxmlformats.org/officeDocument/2006/relationships/slide" Target="/ppt/slides/slide1.xml" Id="R4c3511d01e6b4f4c" /><Relationship Type="http://schemas.openxmlformats.org/officeDocument/2006/relationships/slide" Target="/ppt/slides/slide2.xml" Id="R37faea34274b4975" /><Relationship Type="http://schemas.openxmlformats.org/officeDocument/2006/relationships/slide" Target="/ppt/slides/slide3.xml" Id="Rc2a0b95619854b93" /><Relationship Type="http://schemas.openxmlformats.org/officeDocument/2006/relationships/slide" Target="/ppt/slides/slide4.xml" Id="R98ef17431ad4454a" /><Relationship Type="http://schemas.openxmlformats.org/officeDocument/2006/relationships/slide" Target="/ppt/slides/slide5.xml" Id="Rc91fb1f4695e43f7" /><Relationship Type="http://schemas.openxmlformats.org/officeDocument/2006/relationships/slide" Target="/ppt/slides/slide6.xml" Id="R3c16e377bcc34156" /><Relationship Type="http://schemas.openxmlformats.org/officeDocument/2006/relationships/slide" Target="/ppt/slides/slide7.xml" Id="R7815a162262742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2ab5835cf240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f61a2fbc59c49f7" /><Relationship Type="http://schemas.openxmlformats.org/officeDocument/2006/relationships/notesMaster" Target="/ppt/notesMasters/notesMaster1.xml" Id="R15b37c5b899f4a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3adb85581254d82" /><Relationship Type="http://schemas.openxmlformats.org/officeDocument/2006/relationships/notesMaster" Target="/ppt/notesMasters/notesMaster1.xml" Id="R2076e4258db04c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0f79f9ce38b4b3b" /><Relationship Type="http://schemas.openxmlformats.org/officeDocument/2006/relationships/notesMaster" Target="/ppt/notesMasters/notesMaster1.xml" Id="Rdbbaf61b1f2f44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a2abd786f2468b" /><Relationship Type="http://schemas.openxmlformats.org/officeDocument/2006/relationships/notesMaster" Target="/ppt/notesMasters/notesMaster1.xml" Id="R2d818dd3e6394056"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9802ec927d4ef0" /><Relationship Type="http://schemas.openxmlformats.org/officeDocument/2006/relationships/notesMaster" Target="/ppt/notesMasters/notesMaster1.xml" Id="R92d428fe1f9f4af6" /></Relationships>
</file>

<file path=ppt/notesSlides/_rels/notesSlide6.xml.rels>&#65279;<?xml version="1.0" encoding="utf-8"?><Relationships xmlns="http://schemas.openxmlformats.org/package/2006/relationships"><Relationship Type="http://schemas.openxmlformats.org/officeDocument/2006/relationships/slide" Target="/ppt/slides/slide6.xml" Id="R8a3a40d07df548b2" /><Relationship Type="http://schemas.openxmlformats.org/officeDocument/2006/relationships/notesMaster" Target="/ppt/notesMasters/notesMaster1.xml" Id="R104741a34cd54b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26ddbff3124cb7" /><Relationship Type="http://schemas.openxmlformats.org/officeDocument/2006/relationships/notesMaster" Target="/ppt/notesMasters/notesMaster1.xml" Id="R23a686954d804a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screenshot from the deployed application. New role picker and PDF dashboard changes are implemented and in hosted verification as of 3 October 2026. No clinical validation or productivity measurement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framing follows the supplied PDFs and earlier user clinical context. No universal Indian OPD timing statistic or claim that missing data proves an overdue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graph values copied exactly from text_to_pdf_Imagetotext.pdf. Dual axes are required: HbA1c 5–10% left, blood glucose 70–250 mg/dL right. Full supplied medication history: 2022–Q1 2023 metformin 500mg BID; June12 2023 metformin1000mg daily and glargine10units bedtime; June12 2024 lispro4units pre-prandial and glimepiride2mg; 2026Q1–Q2 metformin1000mg, glargine14units nightly, lispro4unitsTID. 500mg BID already totals1000mg daily. Reference labels and calendar rules require clinical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Workflow reflects Vite/React client, Fastify API, Azure worker and Supabase Auth/PostgreSQL/private Storage. AI output is a proposal until approval. Separate event stream keeps patient reports out of measured approved facts. Snapshot integrity is an application digest, not a guarantee against database-administrator modification.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135 tests measured after the PDF-demo additions. The 25/25 hosted API and12/12 SQL policy checks are from the previously deployed baseline, not presented as verification of every new feature. Desired productivity benefit is a hypothesis for pilot measurement.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model is proposed, not validated revenue. Hosting price is measured Azure Retail Prices ACR Basic US$0.1666/day, approximatelyUS$5/30days. Vercel Hobby eligibility and free-plan limitations apply. Model charges separate. Live ABHA integration is not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hackathon scope: https://healthathon.reskilll.com/ focuses on non-clinical operational/workflow problems, working with existing workflows, assistive human-centered solutions measurable within60–90days. Clinical interpretation, risk scoring and decision support are out of scope. Clinical threshold examples in source PDFs are not the submission core. Submission deck follows the seven slides requested: intro, problem statement, solution, workflow, impact, scalability/business, conclusion. App changes are implemented locally and undergoing hosted verification. All accounts and records used for the demo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3f5af2dae114ae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c284922b6f49e1" /><Relationship Type="http://schemas.openxmlformats.org/officeDocument/2006/relationships/slideLayout" Target="/ppt/slideLayouts/slideLayout1.xml" Id="Rfee96bcf3f71441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ee96bcf3f71441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b5b83ffeedb4a7c" /><Relationship Type="http://schemas.openxmlformats.org/officeDocument/2006/relationships/image" Target="/ppt/media/image.jpeg" Id="R2585be4815de4a34" /><Relationship Type="http://schemas.openxmlformats.org/officeDocument/2006/relationships/notesSlide" Target="/ppt/notesSlides/notesSlide1.xml" Id="R16add4a0d4c0416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9b2bf56e4994550" /><Relationship Type="http://schemas.openxmlformats.org/officeDocument/2006/relationships/notesSlide" Target="/ppt/notesSlides/notesSlide2.xml" Id="Rcd566f71ffed4f9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7dabb7a9a1a45d6" /><Relationship Type="http://schemas.openxmlformats.org/officeDocument/2006/relationships/chart" Target="/ppt/slides/charts/chart1.xml" Id="R6d05d6572f574914" /><Relationship Type="http://schemas.openxmlformats.org/officeDocument/2006/relationships/notesSlide" Target="/ppt/notesSlides/notesSlide3.xml" Id="Ra529c1afdabc44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251539a81ae46d9" /><Relationship Type="http://schemas.openxmlformats.org/officeDocument/2006/relationships/notesSlide" Target="/ppt/notesSlides/notesSlide4.xml" Id="Rd87bb9baff2a4f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1653d5267b46d7" /><Relationship Type="http://schemas.openxmlformats.org/officeDocument/2006/relationships/notesSlide" Target="/ppt/notesSlides/notesSlide5.xml" Id="R3b64f8f215b1437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8e954ebeaa74306" /><Relationship Type="http://schemas.openxmlformats.org/officeDocument/2006/relationships/notesSlide" Target="/ppt/notesSlides/notesSlide6.xml" Id="R68614761207044f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2d4f87163f84cd2" /><Relationship Type="http://schemas.openxmlformats.org/officeDocument/2006/relationships/notesSlide" Target="/ppt/notesSlides/notesSlide7.xml" Id="Rc66931d7ef5049b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HbA1c (%)</c:v>
          </c:tx>
          <c:spPr>
            <a:ln xmlns:a="http://schemas.openxmlformats.org/drawingml/2006/main" w="28575">
              <a:solidFill>
                <a:srgbClr val="CC2453"/>
              </a:solidFill>
            </a:ln>
          </c:spPr>
          <c:marker>
            <c:symbol val="circle"/>
            <c:size val="7"/>
            <c:spPr>
              <a:solidFill xmlns:a="http://schemas.openxmlformats.org/drawingml/2006/main">
                <a:srgbClr val="CC2453"/>
              </a:solidFill>
            </c:spPr>
          </c:marker>
          <c:cat>
            <c:strRef>
              <c:f>'Chart Data'!$A$2:$A$6</c:f>
              <c:strCache>
                <c:ptCount val="5"/>
                <c:pt idx="0">
                  <c:v>2022</c:v>
                </c:pt>
                <c:pt idx="1">
                  <c:v>2023</c:v>
                </c:pt>
                <c:pt idx="2">
                  <c:v>2024</c:v>
                </c:pt>
                <c:pt idx="3">
                  <c:v>2025</c:v>
                </c:pt>
                <c:pt idx="4">
                  <c:v>2026 Q2</c:v>
                </c:pt>
              </c:strCache>
            </c:strRef>
          </c:cat>
          <c:val>
            <c:numRef>
              <c:f>'Chart Data'!$B$2:$B$6</c:f>
              <c:numCache>
                <c:formatCode>0.0"%"</c:formatCode>
                <c:ptCount val="5"/>
                <c:pt idx="0">
                  <c:v>7.2</c:v>
                </c:pt>
                <c:pt idx="1">
                  <c:v>7.3</c:v>
                </c:pt>
                <c:pt idx="2">
                  <c:v>7</c:v>
                </c:pt>
                <c:pt idx="3">
                  <c:v>7.6</c:v>
                </c:pt>
                <c:pt idx="4">
                  <c:v>8</c:v>
                </c:pt>
              </c:numCache>
            </c:numRef>
          </c:val>
          <c:smooth val="0"/>
        </c:ser>
        <c:smooth val="0"/>
        <c:axId val="48650112"/>
        <c:axId val="48672768"/>
      </c:lineChart>
      <c:lineChart>
        <c:grouping val="standard"/>
        <c:ser>
          <c:idx val="1"/>
          <c:order val="1"/>
          <c:tx>
            <c:v>Fasting (mg/dL)</c:v>
          </c:tx>
          <c:spPr>
            <a:ln xmlns:a="http://schemas.openxmlformats.org/drawingml/2006/main" w="28575">
              <a:solidFill>
                <a:srgbClr val="CF800B"/>
              </a:solidFill>
            </a:ln>
          </c:spPr>
          <c:marker>
            <c:symbol val="circle"/>
            <c:size val="7"/>
            <c:spPr>
              <a:solidFill xmlns:a="http://schemas.openxmlformats.org/drawingml/2006/main">
                <a:srgbClr val="CF800B"/>
              </a:solidFill>
            </c:spPr>
          </c:marker>
          <c:cat>
            <c:strRef>
              <c:f>'Chart Data'!$C$2:$C$6</c:f>
              <c:strCache>
                <c:ptCount val="5"/>
                <c:pt idx="0">
                  <c:v>2022</c:v>
                </c:pt>
                <c:pt idx="1">
                  <c:v>2023</c:v>
                </c:pt>
                <c:pt idx="2">
                  <c:v>2024</c:v>
                </c:pt>
                <c:pt idx="3">
                  <c:v>2025</c:v>
                </c:pt>
                <c:pt idx="4">
                  <c:v>2026 Q2</c:v>
                </c:pt>
              </c:strCache>
            </c:strRef>
          </c:cat>
          <c:val>
            <c:numRef>
              <c:f>'Chart Data'!$D$2:$D$6</c:f>
              <c:numCache>
                <c:formatCode>0.0"%"</c:formatCode>
                <c:ptCount val="5"/>
                <c:pt idx="0">
                  <c:v>132</c:v>
                </c:pt>
                <c:pt idx="1">
                  <c:v>140</c:v>
                </c:pt>
                <c:pt idx="2">
                  <c:v>118</c:v>
                </c:pt>
                <c:pt idx="3">
                  <c:v>135</c:v>
                </c:pt>
                <c:pt idx="4">
                  <c:v>142</c:v>
                </c:pt>
              </c:numCache>
            </c:numRef>
          </c:val>
          <c:smooth val="0"/>
        </c:ser>
        <c:ser>
          <c:idx val="2"/>
          <c:order val="2"/>
          <c:tx>
            <c:v>Post-meal (mg/dL)</c:v>
          </c:tx>
          <c:spPr>
            <a:ln xmlns:a="http://schemas.openxmlformats.org/drawingml/2006/main" w="28575">
              <a:solidFill>
                <a:srgbClr val="137A76"/>
              </a:solidFill>
            </a:ln>
          </c:spPr>
          <c:marker>
            <c:symbol val="circle"/>
            <c:size val="7"/>
            <c:spPr>
              <a:solidFill xmlns:a="http://schemas.openxmlformats.org/drawingml/2006/main">
                <a:srgbClr val="137A76"/>
              </a:solidFill>
            </c:spPr>
          </c:marker>
          <c:cat>
            <c:strRef>
              <c:f>'Chart Data'!$E$2:$E$6</c:f>
              <c:strCache>
                <c:ptCount val="5"/>
                <c:pt idx="0">
                  <c:v>2022</c:v>
                </c:pt>
                <c:pt idx="1">
                  <c:v>2023</c:v>
                </c:pt>
                <c:pt idx="2">
                  <c:v>2024</c:v>
                </c:pt>
                <c:pt idx="3">
                  <c:v>2025</c:v>
                </c:pt>
                <c:pt idx="4">
                  <c:v>2026 Q2</c:v>
                </c:pt>
              </c:strCache>
            </c:strRef>
          </c:cat>
          <c:val>
            <c:numRef>
              <c:f>'Chart Data'!$F$2:$F$6</c:f>
              <c:numCache>
                <c:formatCode>0.0"%"</c:formatCode>
                <c:ptCount val="5"/>
                <c:pt idx="0">
                  <c:v>175</c:v>
                </c:pt>
                <c:pt idx="1">
                  <c:v>188</c:v>
                </c:pt>
                <c:pt idx="2">
                  <c:v>165</c:v>
                </c:pt>
                <c:pt idx="3">
                  <c:v>195</c:v>
                </c:pt>
                <c:pt idx="4">
                  <c:v>210</c:v>
                </c:pt>
              </c:numCache>
            </c:numRef>
          </c:val>
          <c:smooth val="0"/>
        </c:ser>
        <c:axId val="48650112"/>
        <c:axId val="400002"/>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Inter"/>
                <a:ea typeface="Inter"/>
                <a:cs typeface="Inter"/>
              </a:defRPr>
            </a:pPr>
          </a:p>
        </c:txPr>
        <c:crossAx val="48672768"/>
      </c:catAx>
      <c:valAx>
        <c:axId val="48672768"/>
        <c:scaling>
          <c:orientation val="minMax"/>
          <c:max val="10"/>
          <c:min val="5"/>
        </c:scaling>
        <c:delete val="0"/>
        <c:axPos val="l"/>
        <c:majorGridlines>
          <c:spPr>
            <a:ln xmlns:a="http://schemas.openxmlformats.org/drawingml/2006/main" w="9525">
              <a:solidFill>
                <a:srgbClr val="E4EAF0"/>
              </a:solidFill>
            </a:ln>
          </c:spPr>
        </c:majorGridlines>
        <c:numFmt formatCode="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Inter"/>
                <a:ea typeface="Inter"/>
                <a:cs typeface="Inter"/>
              </a:defRPr>
            </a:pPr>
          </a:p>
        </c:txPr>
        <c:crossAx val="48650112"/>
        <c:crossBetween val="between"/>
        <c:majorUnit val="1.25"/>
      </c:valAx>
      <c:spPr>
        <a:solidFill xmlns:a="http://schemas.openxmlformats.org/drawingml/2006/main">
          <a:srgbClr val="FFFFFF"/>
        </a:solidFill>
      </c:spPr>
      <c:valAx>
        <c:axId val="400002"/>
        <c:scaling>
          <c:orientation val="minMax"/>
          <c:max val="250"/>
          <c:min val="70"/>
        </c:scaling>
        <c:delete val="0"/>
        <c:axPos val="r"/>
        <c:numFmt formatCode="0"/>
        <c:majorTickMark val="none"/>
        <c:minorTickMark val="none"/>
        <c:tickLblPos val="high"/>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Inter"/>
                <a:ea typeface="Inter"/>
                <a:cs typeface="Inter"/>
              </a:defRPr>
            </a:pPr>
          </a:p>
        </c:txPr>
        <c:crossAx val="48650112"/>
        <c:crossBetween val="between"/>
        <c:majorUnit val="45"/>
      </c:valAx>
    </c:plotArea>
    <c:legend>
      <c:legendPos val="b"/>
      <c:overlay val="0"/>
      <c:txPr>
        <a:bodyPr xmlns:a="http://schemas.openxmlformats.org/drawingml/2006/main" anchorCtr="1"/>
        <a:lstStyle xmlns:a="http://schemas.openxmlformats.org/drawingml/2006/main"/>
        <a:p xmlns:a="http://schemas.openxmlformats.org/drawingml/2006/main">
          <a:pPr>
            <a:defRPr sz="1350">
              <a:latin typeface="Inter"/>
              <a:ea typeface="Inter"/>
              <a:cs typeface="Inter"/>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E595350-4626-4D2A-8F18-24BCF49733EA}"/>
              </a:ext>
            </a:extLst>
          </p:cNvPr>
          <p:cNvSpPr>
            <a:spLocks xmlns:a="http://schemas.openxmlformats.org/drawingml/2006/main" noGrp="1"/>
          </p:cNvSpPr>
          <p:nvPr/>
        </p:nvSpPr>
        <p:spPr>
          <a:xfrm xmlns:a="http://schemas.openxmlformats.org/drawingml/2006/main">
            <a:off x="571500" y="361950"/>
            <a:ext cx="1714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Inter"/>
                <a:ea typeface="Inter"/>
                <a:cs typeface="Inter"/>
              </a:defRPr>
            </a:pPr>
            <a:r>
              <a:rPr sz="3000" b="1">
                <a:solidFill>
                  <a:srgbClr val="142735"/>
                </a:solidFill>
                <a:latin typeface="Inter"/>
                <a:ea typeface="Inter"/>
                <a:cs typeface="Inter"/>
              </a:rPr>
              <a:t>Glucoflow</a:t>
            </a:r>
          </a:p>
        </p:txBody>
      </p:sp>
      <p:sp>
        <p:nvSpPr>
          <p:cNvPr id="2" name="">
            <a:extLst xmlns:a="http://schemas.openxmlformats.org/drawingml/2006/main">
              <a:ext uri="{FF2B5EF4-FFF2-40B4-BE49-F238E27FC236}">
                <a16:creationId xmlns:a16="http://schemas.microsoft.com/office/drawing/2014/main" id="{EA31D21C-654F-42A0-89AE-2BA30568C98B}"/>
              </a:ext>
            </a:extLst>
          </p:cNvPr>
          <p:cNvSpPr>
            <a:spLocks xmlns:a="http://schemas.openxmlformats.org/drawingml/2006/main" noGrp="1"/>
          </p:cNvSpPr>
          <p:nvPr/>
        </p:nvSpPr>
        <p:spPr>
          <a:xfrm xmlns:a="http://schemas.openxmlformats.org/drawingml/2006/main">
            <a:off x="571500" y="1019175"/>
            <a:ext cx="1714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B77"/>
                </a:solidFill>
                <a:latin typeface="Inter"/>
                <a:ea typeface="Inter"/>
                <a:cs typeface="Inter"/>
              </a:defRPr>
            </a:pPr>
            <a:r>
              <a:rPr sz="1725" b="0">
                <a:solidFill>
                  <a:srgbClr val="596B77"/>
                </a:solidFill>
                <a:latin typeface="Inter"/>
                <a:ea typeface="Inter"/>
                <a:cs typeface="Inter"/>
              </a:rPr>
              <a:t>Diabetes follow-up history, source reports and patient reporting in one workspace</a:t>
            </a:r>
          </a:p>
        </p:txBody>
      </p:sp>
      <p:sp>
        <p:nvSpPr>
          <p:cNvPr id="3" name="">
            <a:extLst xmlns:a="http://schemas.openxmlformats.org/drawingml/2006/main">
              <a:ext uri="{FF2B5EF4-FFF2-40B4-BE49-F238E27FC236}">
                <a16:creationId xmlns:a16="http://schemas.microsoft.com/office/drawing/2014/main" id="{F7787828-0C42-4284-9035-ECE984EFF101}"/>
              </a:ext>
            </a:extLst>
          </p:cNvPr>
          <p:cNvSpPr>
            <a:spLocks xmlns:a="http://schemas.openxmlformats.org/drawingml/2006/main" noGrp="1"/>
          </p:cNvSpPr>
          <p:nvPr/>
        </p:nvSpPr>
        <p:spPr>
          <a:xfrm xmlns:a="http://schemas.openxmlformats.org/drawingml/2006/main">
            <a:off x="571500" y="2095500"/>
            <a:ext cx="533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37A76"/>
                </a:solidFill>
                <a:latin typeface="Inter"/>
                <a:ea typeface="Inter"/>
                <a:cs typeface="Inter"/>
              </a:defRPr>
            </a:pPr>
            <a:r>
              <a:rPr sz="3375" b="1">
                <a:solidFill>
                  <a:srgbClr val="137A76"/>
                </a:solidFill>
                <a:latin typeface="Inter"/>
                <a:ea typeface="Inter"/>
                <a:cs typeface="Inter"/>
              </a:rPr>
              <a:t>Working web MVP</a:t>
            </a:r>
          </a:p>
        </p:txBody>
      </p:sp>
      <p:sp>
        <p:nvSpPr>
          <p:cNvPr id="4" name="">
            <a:extLst xmlns:a="http://schemas.openxmlformats.org/drawingml/2006/main">
              <a:ext uri="{FF2B5EF4-FFF2-40B4-BE49-F238E27FC236}">
                <a16:creationId xmlns:a16="http://schemas.microsoft.com/office/drawing/2014/main" id="{8E3B5C7E-1984-4273-825F-ECF0E9C49FC3}"/>
              </a:ext>
            </a:extLst>
          </p:cNvPr>
          <p:cNvSpPr>
            <a:spLocks xmlns:a="http://schemas.openxmlformats.org/drawingml/2006/main" noGrp="1"/>
          </p:cNvSpPr>
          <p:nvPr/>
        </p:nvSpPr>
        <p:spPr>
          <a:xfrm xmlns:a="http://schemas.openxmlformats.org/drawingml/2006/main">
            <a:off x="571500" y="3276600"/>
            <a:ext cx="4953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735"/>
                </a:solidFill>
                <a:latin typeface="Inter"/>
                <a:ea typeface="Inter"/>
                <a:cs typeface="Inter"/>
              </a:defRPr>
            </a:pPr>
            <a:r>
              <a:rPr sz="2175" b="0">
                <a:solidFill>
                  <a:srgbClr val="142735"/>
                </a:solidFill>
                <a:latin typeface="Inter"/>
                <a:ea typeface="Inter"/>
                <a:cs typeface="Inter"/>
              </a:rPr>
              <a:t>Doctors inspect recorded progression.</a:t>
            </a:r>
          </a:p>
          <a:p xmlns:a="http://schemas.openxmlformats.org/drawingml/2006/main">
            <a:pPr>
              <a:defRPr sz="2175" b="0">
                <a:solidFill>
                  <a:srgbClr val="142735"/>
                </a:solidFill>
                <a:latin typeface="Inter"/>
                <a:ea typeface="Inter"/>
                <a:cs typeface="Inter"/>
              </a:defRPr>
            </a:pPr>
            <a:r>
              <a:rPr sz="2175" b="0">
                <a:solidFill>
                  <a:srgbClr val="142735"/>
                </a:solidFill>
                <a:latin typeface="Inter"/>
                <a:ea typeface="Inter"/>
                <a:cs typeface="Inter"/>
              </a:rPr>
              <a:t>Clinic teams review extracted reports.</a:t>
            </a:r>
          </a:p>
          <a:p xmlns:a="http://schemas.openxmlformats.org/drawingml/2006/main">
            <a:pPr>
              <a:defRPr sz="2175" b="0">
                <a:solidFill>
                  <a:srgbClr val="142735"/>
                </a:solidFill>
                <a:latin typeface="Inter"/>
                <a:ea typeface="Inter"/>
                <a:cs typeface="Inter"/>
              </a:defRPr>
            </a:pPr>
            <a:r>
              <a:rPr sz="2175" b="0">
                <a:solidFill>
                  <a:srgbClr val="142735"/>
                </a:solidFill>
                <a:latin typeface="Inter"/>
                <a:ea typeface="Inter"/>
                <a:cs typeface="Inter"/>
              </a:rPr>
              <a:t>Patients add records and home events.</a:t>
            </a:r>
          </a:p>
        </p:txBody>
      </p:sp>
      <p:sp>
        <p:nvSpPr>
          <p:cNvPr id="5" name="">
            <a:extLst xmlns:a="http://schemas.openxmlformats.org/drawingml/2006/main">
              <a:ext uri="{FF2B5EF4-FFF2-40B4-BE49-F238E27FC236}">
                <a16:creationId xmlns:a16="http://schemas.microsoft.com/office/drawing/2014/main" id="{65ACC5F6-B462-4AE9-9706-4085C6D75BF9}"/>
              </a:ext>
            </a:extLst>
          </p:cNvPr>
          <p:cNvSpPr>
            <a:spLocks xmlns:a="http://schemas.openxmlformats.org/drawingml/2006/main" noGrp="1"/>
          </p:cNvSpPr>
          <p:nvPr/>
        </p:nvSpPr>
        <p:spPr>
          <a:xfrm xmlns:a="http://schemas.openxmlformats.org/drawingml/2006/main">
            <a:off x="571500" y="581025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37A76"/>
                </a:solidFill>
                <a:latin typeface="Inter"/>
                <a:ea typeface="Inter"/>
                <a:cs typeface="Inter"/>
              </a:defRPr>
            </a:pPr>
            <a:r>
              <a:rPr sz="2100" b="1">
                <a:solidFill>
                  <a:srgbClr val="137A76"/>
                </a:solidFill>
                <a:latin typeface="Inter"/>
                <a:ea typeface="Inter"/>
                <a:cs typeface="Inter"/>
              </a:rPr>
              <a:t>Open the demo</a:t>
            </a:r>
          </a:p>
          <a:p xmlns:a="http://schemas.openxmlformats.org/drawingml/2006/main">
            <a:pPr>
              <a:defRPr sz="2100" b="1">
                <a:solidFill>
                  <a:srgbClr val="137A76"/>
                </a:solidFill>
                <a:latin typeface="Inter"/>
                <a:ea typeface="Inter"/>
                <a:cs typeface="Inter"/>
              </a:defRPr>
            </a:pPr>
            <a:r>
              <a:rPr sz="2100" b="1">
                <a:solidFill>
                  <a:srgbClr val="137A76"/>
                </a:solidFill>
                <a:latin typeface="Inter"/>
                <a:ea typeface="Inter"/>
                <a:cs typeface="Inter"/>
              </a:rPr>
              <a:t>glucoflow.vercel.app</a:t>
            </a:r>
          </a:p>
        </p:txBody>
      </p:sp>
      <p:sp>
        <p:nvSpPr>
          <p:cNvPr id="6" name="">
            <a:extLst xmlns:a="http://schemas.openxmlformats.org/drawingml/2006/main">
              <a:ext uri="{FF2B5EF4-FFF2-40B4-BE49-F238E27FC236}">
                <a16:creationId xmlns:a16="http://schemas.microsoft.com/office/drawing/2014/main" id="{31566B92-34BC-4880-987F-A45B28BFE5D7}"/>
              </a:ext>
            </a:extLst>
          </p:cNvPr>
          <p:cNvSpPr>
            <a:spLocks xmlns:a="http://schemas.openxmlformats.org/drawingml/2006/main" noGrp="1"/>
          </p:cNvSpPr>
          <p:nvPr/>
        </p:nvSpPr>
        <p:spPr>
          <a:xfrm xmlns:a="http://schemas.openxmlformats.org/drawingml/2006/main">
            <a:off x="571500" y="7334250"/>
            <a:ext cx="4762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Choose Doctor, Clinic team or Patient.</a:t>
            </a:r>
          </a:p>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No credential entry is needed in the revised demo.</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585be4815de4a34"/>
          <a:stretch xmlns:a="http://schemas.openxmlformats.org/drawingml/2006/main"/>
        </p:blipFill>
        <p:spPr>
          <a:xfrm xmlns:a="http://schemas.openxmlformats.org/drawingml/2006/main">
            <a:off x="6196542" y="2143125"/>
            <a:ext cx="11514667" cy="6477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5899CCA8-2F85-4196-A65E-75A02903A13D}"/>
              </a:ext>
            </a:extLst>
          </p:cNvPr>
          <p:cNvSpPr>
            <a:spLocks xmlns:a="http://schemas.openxmlformats.org/drawingml/2006/main" noGrp="1"/>
          </p:cNvSpPr>
          <p:nvPr/>
        </p:nvSpPr>
        <p:spPr>
          <a:xfrm xmlns:a="http://schemas.openxmlformats.org/drawingml/2006/main">
            <a:off x="571500" y="9763125"/>
            <a:ext cx="1714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96B77"/>
                </a:solidFill>
                <a:latin typeface="Inter"/>
                <a:ea typeface="Inter"/>
                <a:cs typeface="Inter"/>
              </a:defRPr>
            </a:pPr>
            <a:r>
              <a:rPr sz="1500" b="0">
                <a:solidFill>
                  <a:srgbClr val="596B77"/>
                </a:solidFill>
                <a:latin typeface="Inter"/>
                <a:ea typeface="Inter"/>
                <a:cs typeface="Inter"/>
              </a:rPr>
              <a:t>Synthetic patient data. Human review controls publication. Clinical interpretation remains with the physician.</a:t>
            </a:r>
          </a:p>
        </p:txBody>
      </p:sp>
    </p:spTree>
    <p:extLst>
      <p:ext uri="{BB962C8B-B14F-4D97-AF65-F5344CB8AC3E}">
        <p14:creationId xmlns:p14="http://schemas.microsoft.com/office/powerpoint/2010/main" val="904815445"/>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C804CD1-5AF3-4B7F-AD4A-23439B64F0E4}"/>
              </a:ext>
            </a:extLst>
          </p:cNvPr>
          <p:cNvSpPr>
            <a:spLocks xmlns:a="http://schemas.openxmlformats.org/drawingml/2006/main" noGrp="1"/>
          </p:cNvSpPr>
          <p:nvPr/>
        </p:nvSpPr>
        <p:spPr>
          <a:xfrm xmlns:a="http://schemas.openxmlformats.org/drawingml/2006/main">
            <a:off x="571500" y="361950"/>
            <a:ext cx="1714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Inter"/>
                <a:ea typeface="Inter"/>
                <a:cs typeface="Inter"/>
              </a:defRPr>
            </a:pPr>
            <a:r>
              <a:rPr sz="3000" b="1">
                <a:solidFill>
                  <a:srgbClr val="142735"/>
                </a:solidFill>
                <a:latin typeface="Inter"/>
                <a:ea typeface="Inter"/>
                <a:cs typeface="Inter"/>
              </a:rPr>
              <a:t>Problem statement</a:t>
            </a:r>
          </a:p>
        </p:txBody>
      </p:sp>
      <p:sp>
        <p:nvSpPr>
          <p:cNvPr id="2" name="">
            <a:extLst xmlns:a="http://schemas.openxmlformats.org/drawingml/2006/main">
              <a:ext uri="{FF2B5EF4-FFF2-40B4-BE49-F238E27FC236}">
                <a16:creationId xmlns:a16="http://schemas.microsoft.com/office/drawing/2014/main" id="{3A7573C9-A433-401A-9DAC-B31ACC3C8C40}"/>
              </a:ext>
            </a:extLst>
          </p:cNvPr>
          <p:cNvSpPr>
            <a:spLocks xmlns:a="http://schemas.openxmlformats.org/drawingml/2006/main" noGrp="1"/>
          </p:cNvSpPr>
          <p:nvPr/>
        </p:nvSpPr>
        <p:spPr>
          <a:xfrm xmlns:a="http://schemas.openxmlformats.org/drawingml/2006/main">
            <a:off x="571500" y="1019175"/>
            <a:ext cx="1714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B77"/>
                </a:solidFill>
                <a:latin typeface="Inter"/>
                <a:ea typeface="Inter"/>
                <a:cs typeface="Inter"/>
              </a:defRPr>
            </a:pPr>
            <a:r>
              <a:rPr sz="1725" b="0">
                <a:solidFill>
                  <a:srgbClr val="596B77"/>
                </a:solidFill>
                <a:latin typeface="Inter"/>
                <a:ea typeface="Inter"/>
                <a:cs typeface="Inter"/>
              </a:rPr>
              <a:t>Preparing a diabetes follow-up history takes work before the doctor can review progression</a:t>
            </a:r>
          </a:p>
        </p:txBody>
      </p:sp>
      <p:sp>
        <p:nvSpPr>
          <p:cNvPr id="3" name="">
            <a:extLst xmlns:a="http://schemas.openxmlformats.org/drawingml/2006/main">
              <a:ext uri="{FF2B5EF4-FFF2-40B4-BE49-F238E27FC236}">
                <a16:creationId xmlns:a16="http://schemas.microsoft.com/office/drawing/2014/main" id="{EB750FD0-A9E2-4D5C-9623-E8E1B0186315}"/>
              </a:ext>
            </a:extLst>
          </p:cNvPr>
          <p:cNvSpPr>
            <a:spLocks xmlns:a="http://schemas.openxmlformats.org/drawingml/2006/main" noGrp="1"/>
          </p:cNvSpPr>
          <p:nvPr/>
        </p:nvSpPr>
        <p:spPr>
          <a:xfrm xmlns:a="http://schemas.openxmlformats.org/drawingml/2006/main">
            <a:off x="571500" y="2095500"/>
            <a:ext cx="5334000" cy="2952750"/>
          </a:xfrm>
          <a:prstGeom xmlns:a="http://schemas.openxmlformats.org/drawingml/2006/main" prst="roundRect">
            <a:avLst>
              <a:gd name="adj" fmla="val 2581"/>
            </a:avLst>
          </a:prstGeom>
          <a:solidFill xmlns:a="http://schemas.openxmlformats.org/drawingml/2006/main">
            <a:srgbClr val="FFFFFF"/>
          </a:solidFill>
          <a:ln xmlns:a="http://schemas.openxmlformats.org/drawingml/2006/main" w="9525">
            <a:solidFill>
              <a:srgbClr val="DCE4EA"/>
            </a:solidFill>
          </a:ln>
        </p:spPr>
      </p:sp>
      <p:sp>
        <p:nvSpPr>
          <p:cNvPr id="4" name="">
            <a:extLst xmlns:a="http://schemas.openxmlformats.org/drawingml/2006/main">
              <a:ext uri="{FF2B5EF4-FFF2-40B4-BE49-F238E27FC236}">
                <a16:creationId xmlns:a16="http://schemas.microsoft.com/office/drawing/2014/main" id="{367BFDD9-8537-4CCC-AF9E-81FC955FF8B8}"/>
              </a:ext>
            </a:extLst>
          </p:cNvPr>
          <p:cNvSpPr>
            <a:spLocks xmlns:a="http://schemas.openxmlformats.org/drawingml/2006/main" noGrp="1"/>
          </p:cNvSpPr>
          <p:nvPr/>
        </p:nvSpPr>
        <p:spPr>
          <a:xfrm xmlns:a="http://schemas.openxmlformats.org/drawingml/2006/main">
            <a:off x="762000" y="224790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Scattered records</a:t>
            </a:r>
          </a:p>
        </p:txBody>
      </p:sp>
      <p:sp>
        <p:nvSpPr>
          <p:cNvPr id="5" name="">
            <a:extLst xmlns:a="http://schemas.openxmlformats.org/drawingml/2006/main">
              <a:ext uri="{FF2B5EF4-FFF2-40B4-BE49-F238E27FC236}">
                <a16:creationId xmlns:a16="http://schemas.microsoft.com/office/drawing/2014/main" id="{7DA91D99-60ED-4FE5-9E94-8295F1B2D1E0}"/>
              </a:ext>
            </a:extLst>
          </p:cNvPr>
          <p:cNvSpPr>
            <a:spLocks xmlns:a="http://schemas.openxmlformats.org/drawingml/2006/main" noGrp="1"/>
          </p:cNvSpPr>
          <p:nvPr/>
        </p:nvSpPr>
        <p:spPr>
          <a:xfrm xmlns:a="http://schemas.openxmlformats.org/drawingml/2006/main">
            <a:off x="762000" y="2695575"/>
            <a:ext cx="49530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96B77"/>
                </a:solidFill>
                <a:latin typeface="Inter"/>
                <a:ea typeface="Inter"/>
                <a:cs typeface="Inter"/>
              </a:defRPr>
            </a:pPr>
            <a:r>
              <a:rPr sz="2175" b="0">
                <a:solidFill>
                  <a:srgbClr val="596B77"/>
                </a:solidFill>
                <a:latin typeface="Inter"/>
                <a:ea typeface="Inter"/>
                <a:cs typeface="Inter"/>
              </a:rPr>
              <a:t>Laboratory slips and prescriptions arrive from different visits. Staff and doctors must locate the relevant result, date, unit and original report.</a:t>
            </a:r>
          </a:p>
        </p:txBody>
      </p:sp>
      <p:sp>
        <p:nvSpPr>
          <p:cNvPr id="6" name="">
            <a:extLst xmlns:a="http://schemas.openxmlformats.org/drawingml/2006/main">
              <a:ext uri="{FF2B5EF4-FFF2-40B4-BE49-F238E27FC236}">
                <a16:creationId xmlns:a16="http://schemas.microsoft.com/office/drawing/2014/main" id="{BE41B0BF-F552-483D-B325-704001E92171}"/>
              </a:ext>
            </a:extLst>
          </p:cNvPr>
          <p:cNvSpPr>
            <a:spLocks xmlns:a="http://schemas.openxmlformats.org/drawingml/2006/main" noGrp="1"/>
          </p:cNvSpPr>
          <p:nvPr/>
        </p:nvSpPr>
        <p:spPr>
          <a:xfrm xmlns:a="http://schemas.openxmlformats.org/drawingml/2006/main">
            <a:off x="6477000" y="2095500"/>
            <a:ext cx="5334000" cy="2952750"/>
          </a:xfrm>
          <a:prstGeom xmlns:a="http://schemas.openxmlformats.org/drawingml/2006/main" prst="roundRect">
            <a:avLst>
              <a:gd name="adj" fmla="val 2581"/>
            </a:avLst>
          </a:prstGeom>
          <a:solidFill xmlns:a="http://schemas.openxmlformats.org/drawingml/2006/main">
            <a:srgbClr val="FFFFFF"/>
          </a:solidFill>
          <a:ln xmlns:a="http://schemas.openxmlformats.org/drawingml/2006/main" w="9525">
            <a:solidFill>
              <a:srgbClr val="DCE4EA"/>
            </a:solidFill>
          </a:ln>
        </p:spPr>
      </p:sp>
      <p:sp>
        <p:nvSpPr>
          <p:cNvPr id="7" name="">
            <a:extLst xmlns:a="http://schemas.openxmlformats.org/drawingml/2006/main">
              <a:ext uri="{FF2B5EF4-FFF2-40B4-BE49-F238E27FC236}">
                <a16:creationId xmlns:a16="http://schemas.microsoft.com/office/drawing/2014/main" id="{ED6D3513-5830-4516-BECC-682DEC816144}"/>
              </a:ext>
            </a:extLst>
          </p:cNvPr>
          <p:cNvSpPr>
            <a:spLocks xmlns:a="http://schemas.openxmlformats.org/drawingml/2006/main" noGrp="1"/>
          </p:cNvSpPr>
          <p:nvPr/>
        </p:nvSpPr>
        <p:spPr>
          <a:xfrm xmlns:a="http://schemas.openxmlformats.org/drawingml/2006/main">
            <a:off x="6667500" y="224790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Disconnected timelines</a:t>
            </a:r>
          </a:p>
        </p:txBody>
      </p:sp>
      <p:sp>
        <p:nvSpPr>
          <p:cNvPr id="8" name="">
            <a:extLst xmlns:a="http://schemas.openxmlformats.org/drawingml/2006/main">
              <a:ext uri="{FF2B5EF4-FFF2-40B4-BE49-F238E27FC236}">
                <a16:creationId xmlns:a16="http://schemas.microsoft.com/office/drawing/2014/main" id="{DF924647-4A94-4506-B446-91986F9839D7}"/>
              </a:ext>
            </a:extLst>
          </p:cNvPr>
          <p:cNvSpPr>
            <a:spLocks xmlns:a="http://schemas.openxmlformats.org/drawingml/2006/main" noGrp="1"/>
          </p:cNvSpPr>
          <p:nvPr/>
        </p:nvSpPr>
        <p:spPr>
          <a:xfrm xmlns:a="http://schemas.openxmlformats.org/drawingml/2006/main">
            <a:off x="6667500" y="2695575"/>
            <a:ext cx="49530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96B77"/>
                </a:solidFill>
                <a:latin typeface="Inter"/>
                <a:ea typeface="Inter"/>
                <a:cs typeface="Inter"/>
              </a:defRPr>
            </a:pPr>
            <a:r>
              <a:rPr sz="2175" b="0">
                <a:solidFill>
                  <a:srgbClr val="596B77"/>
                </a:solidFill>
                <a:latin typeface="Inter"/>
                <a:ea typeface="Inter"/>
                <a:cs typeface="Inter"/>
              </a:rPr>
              <a:t>A lab curve alone hides the dated prescription history and patient-reported problems. Comparing visits means assembling that context manually.</a:t>
            </a:r>
          </a:p>
        </p:txBody>
      </p:sp>
      <p:sp>
        <p:nvSpPr>
          <p:cNvPr id="9" name="">
            <a:extLst xmlns:a="http://schemas.openxmlformats.org/drawingml/2006/main">
              <a:ext uri="{FF2B5EF4-FFF2-40B4-BE49-F238E27FC236}">
                <a16:creationId xmlns:a16="http://schemas.microsoft.com/office/drawing/2014/main" id="{0F43F8D6-E09B-40B6-87EB-5FD33EEFF96E}"/>
              </a:ext>
            </a:extLst>
          </p:cNvPr>
          <p:cNvSpPr>
            <a:spLocks xmlns:a="http://schemas.openxmlformats.org/drawingml/2006/main" noGrp="1"/>
          </p:cNvSpPr>
          <p:nvPr/>
        </p:nvSpPr>
        <p:spPr>
          <a:xfrm xmlns:a="http://schemas.openxmlformats.org/drawingml/2006/main">
            <a:off x="12382500" y="2095500"/>
            <a:ext cx="5334000" cy="2952750"/>
          </a:xfrm>
          <a:prstGeom xmlns:a="http://schemas.openxmlformats.org/drawingml/2006/main" prst="roundRect">
            <a:avLst>
              <a:gd name="adj" fmla="val 2581"/>
            </a:avLst>
          </a:prstGeom>
          <a:solidFill xmlns:a="http://schemas.openxmlformats.org/drawingml/2006/main">
            <a:srgbClr val="FFFFFF"/>
          </a:solidFill>
          <a:ln xmlns:a="http://schemas.openxmlformats.org/drawingml/2006/main" w="9525">
            <a:solidFill>
              <a:srgbClr val="DCE4EA"/>
            </a:solidFill>
          </a:ln>
        </p:spPr>
      </p:sp>
      <p:sp>
        <p:nvSpPr>
          <p:cNvPr id="10" name="">
            <a:extLst xmlns:a="http://schemas.openxmlformats.org/drawingml/2006/main">
              <a:ext uri="{FF2B5EF4-FFF2-40B4-BE49-F238E27FC236}">
                <a16:creationId xmlns:a16="http://schemas.microsoft.com/office/drawing/2014/main" id="{1EAC68EB-149A-468D-9B26-EB42FBCE5061}"/>
              </a:ext>
            </a:extLst>
          </p:cNvPr>
          <p:cNvSpPr>
            <a:spLocks xmlns:a="http://schemas.openxmlformats.org/drawingml/2006/main" noGrp="1"/>
          </p:cNvSpPr>
          <p:nvPr/>
        </p:nvSpPr>
        <p:spPr>
          <a:xfrm xmlns:a="http://schemas.openxmlformats.org/drawingml/2006/main">
            <a:off x="12573000" y="224790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Tracking gaps</a:t>
            </a:r>
          </a:p>
        </p:txBody>
      </p:sp>
      <p:sp>
        <p:nvSpPr>
          <p:cNvPr id="11" name="">
            <a:extLst xmlns:a="http://schemas.openxmlformats.org/drawingml/2006/main">
              <a:ext uri="{FF2B5EF4-FFF2-40B4-BE49-F238E27FC236}">
                <a16:creationId xmlns:a16="http://schemas.microsoft.com/office/drawing/2014/main" id="{A151C662-3EC0-48DD-AF7B-3AB7FFF9B854}"/>
              </a:ext>
            </a:extLst>
          </p:cNvPr>
          <p:cNvSpPr>
            <a:spLocks xmlns:a="http://schemas.openxmlformats.org/drawingml/2006/main" noGrp="1"/>
          </p:cNvSpPr>
          <p:nvPr/>
        </p:nvSpPr>
        <p:spPr>
          <a:xfrm xmlns:a="http://schemas.openxmlformats.org/drawingml/2006/main">
            <a:off x="12573000" y="2695575"/>
            <a:ext cx="49530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96B77"/>
                </a:solidFill>
                <a:latin typeface="Inter"/>
                <a:ea typeface="Inter"/>
                <a:cs typeface="Inter"/>
              </a:defRPr>
            </a:pPr>
            <a:r>
              <a:rPr sz="2175" b="0">
                <a:solidFill>
                  <a:srgbClr val="596B77"/>
                </a:solidFill>
                <a:latin typeface="Inter"/>
                <a:ea typeface="Inter"/>
                <a:cs typeface="Inter"/>
              </a:rPr>
              <a:t>An absent report gives no reliable explanation. A recorded screening date and configured review interval help staff distinguish pending follow-up from unknown history.</a:t>
            </a:r>
          </a:p>
        </p:txBody>
      </p:sp>
      <p:sp>
        <p:nvSpPr>
          <p:cNvPr id="12" name="">
            <a:extLst xmlns:a="http://schemas.openxmlformats.org/drawingml/2006/main">
              <a:ext uri="{FF2B5EF4-FFF2-40B4-BE49-F238E27FC236}">
                <a16:creationId xmlns:a16="http://schemas.microsoft.com/office/drawing/2014/main" id="{9DFF30A8-BA2B-487D-9A9F-97FB991EF1B5}"/>
              </a:ext>
            </a:extLst>
          </p:cNvPr>
          <p:cNvSpPr>
            <a:spLocks xmlns:a="http://schemas.openxmlformats.org/drawingml/2006/main" noGrp="1"/>
          </p:cNvSpPr>
          <p:nvPr/>
        </p:nvSpPr>
        <p:spPr>
          <a:xfrm xmlns:a="http://schemas.openxmlformats.org/drawingml/2006/main">
            <a:off x="571500" y="6191250"/>
            <a:ext cx="17145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735"/>
                </a:solidFill>
                <a:latin typeface="Inter"/>
                <a:ea typeface="Inter"/>
                <a:cs typeface="Inter"/>
              </a:defRPr>
            </a:pPr>
            <a:r>
              <a:rPr sz="2850" b="1">
                <a:solidFill>
                  <a:srgbClr val="142735"/>
                </a:solidFill>
                <a:latin typeface="Inter"/>
                <a:ea typeface="Inter"/>
                <a:cs typeface="Inter"/>
              </a:rPr>
              <a:t>The workflow to improve</a:t>
            </a:r>
          </a:p>
        </p:txBody>
      </p:sp>
      <p:sp>
        <p:nvSpPr>
          <p:cNvPr id="13" name="">
            <a:extLst xmlns:a="http://schemas.openxmlformats.org/drawingml/2006/main">
              <a:ext uri="{FF2B5EF4-FFF2-40B4-BE49-F238E27FC236}">
                <a16:creationId xmlns:a16="http://schemas.microsoft.com/office/drawing/2014/main" id="{99D05E90-149D-4F02-9F6C-6D1101E24C55}"/>
              </a:ext>
            </a:extLst>
          </p:cNvPr>
          <p:cNvSpPr>
            <a:spLocks xmlns:a="http://schemas.openxmlformats.org/drawingml/2006/main" noGrp="1"/>
          </p:cNvSpPr>
          <p:nvPr/>
        </p:nvSpPr>
        <p:spPr>
          <a:xfrm xmlns:a="http://schemas.openxmlformats.org/drawingml/2006/main">
            <a:off x="571500" y="7191375"/>
            <a:ext cx="17145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7A76"/>
                </a:solidFill>
                <a:latin typeface="Inter"/>
                <a:ea typeface="Inter"/>
                <a:cs typeface="Inter"/>
              </a:defRPr>
            </a:pPr>
            <a:r>
              <a:rPr sz="2550" b="1">
                <a:solidFill>
                  <a:srgbClr val="137A76"/>
                </a:solidFill>
                <a:latin typeface="Inter"/>
                <a:ea typeface="Inter"/>
                <a:cs typeface="Inter"/>
              </a:rPr>
              <a:t>Record collection → structured capture → human verification → physician review</a:t>
            </a:r>
          </a:p>
        </p:txBody>
      </p:sp>
      <p:sp>
        <p:nvSpPr>
          <p:cNvPr id="14" name="">
            <a:extLst xmlns:a="http://schemas.openxmlformats.org/drawingml/2006/main">
              <a:ext uri="{FF2B5EF4-FFF2-40B4-BE49-F238E27FC236}">
                <a16:creationId xmlns:a16="http://schemas.microsoft.com/office/drawing/2014/main" id="{0046A6BD-0ED0-435D-A948-82046B54645A}"/>
              </a:ext>
            </a:extLst>
          </p:cNvPr>
          <p:cNvSpPr>
            <a:spLocks xmlns:a="http://schemas.openxmlformats.org/drawingml/2006/main" noGrp="1"/>
          </p:cNvSpPr>
          <p:nvPr/>
        </p:nvSpPr>
        <p:spPr>
          <a:xfrm xmlns:a="http://schemas.openxmlformats.org/drawingml/2006/main">
            <a:off x="571500" y="9191625"/>
            <a:ext cx="1714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B77"/>
                </a:solidFill>
                <a:latin typeface="Inter"/>
                <a:ea typeface="Inter"/>
                <a:cs typeface="Inter"/>
              </a:defRPr>
            </a:pPr>
            <a:r>
              <a:rPr sz="1725" b="0">
                <a:solidFill>
                  <a:srgbClr val="596B77"/>
                </a:solidFill>
                <a:latin typeface="Inter"/>
                <a:ea typeface="Inter"/>
                <a:cs typeface="Inter"/>
              </a:rPr>
              <a:t>Design goal: prepare the history before the consultation, with original reports available for inspection.</a:t>
            </a:r>
          </a:p>
        </p:txBody>
      </p:sp>
    </p:spTree>
    <p:extLst>
      <p:ext uri="{BB962C8B-B14F-4D97-AF65-F5344CB8AC3E}">
        <p14:creationId xmlns:p14="http://schemas.microsoft.com/office/powerpoint/2010/main" val="738650261"/>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795FFFC-1AFB-4BBE-A2ED-965CDCBBFBCF}"/>
              </a:ext>
            </a:extLst>
          </p:cNvPr>
          <p:cNvSpPr>
            <a:spLocks xmlns:a="http://schemas.openxmlformats.org/drawingml/2006/main" noGrp="1"/>
          </p:cNvSpPr>
          <p:nvPr/>
        </p:nvSpPr>
        <p:spPr>
          <a:xfrm xmlns:a="http://schemas.openxmlformats.org/drawingml/2006/main">
            <a:off x="571500" y="361950"/>
            <a:ext cx="1714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Inter"/>
                <a:ea typeface="Inter"/>
                <a:cs typeface="Inter"/>
              </a:defRPr>
            </a:pPr>
            <a:r>
              <a:rPr sz="3000" b="1">
                <a:solidFill>
                  <a:srgbClr val="142735"/>
                </a:solidFill>
                <a:latin typeface="Inter"/>
                <a:ea typeface="Inter"/>
                <a:cs typeface="Inter"/>
              </a:rPr>
              <a:t>Solution</a:t>
            </a:r>
          </a:p>
        </p:txBody>
      </p:sp>
      <p:sp>
        <p:nvSpPr>
          <p:cNvPr id="2" name="">
            <a:extLst xmlns:a="http://schemas.openxmlformats.org/drawingml/2006/main">
              <a:ext uri="{FF2B5EF4-FFF2-40B4-BE49-F238E27FC236}">
                <a16:creationId xmlns:a16="http://schemas.microsoft.com/office/drawing/2014/main" id="{93C53C9D-4924-412F-A5B7-F841E7309E64}"/>
              </a:ext>
            </a:extLst>
          </p:cNvPr>
          <p:cNvSpPr>
            <a:spLocks xmlns:a="http://schemas.openxmlformats.org/drawingml/2006/main" noGrp="1"/>
          </p:cNvSpPr>
          <p:nvPr/>
        </p:nvSpPr>
        <p:spPr>
          <a:xfrm xmlns:a="http://schemas.openxmlformats.org/drawingml/2006/main">
            <a:off x="571500" y="1019175"/>
            <a:ext cx="1714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B77"/>
                </a:solidFill>
                <a:latin typeface="Inter"/>
                <a:ea typeface="Inter"/>
                <a:cs typeface="Inter"/>
              </a:defRPr>
            </a:pPr>
            <a:r>
              <a:rPr sz="1725" b="0">
                <a:solidFill>
                  <a:srgbClr val="596B77"/>
                </a:solidFill>
                <a:latin typeface="Inter"/>
                <a:ea typeface="Inter"/>
                <a:cs typeface="Inter"/>
              </a:rPr>
              <a:t>A longitudinal dashboard with synchronized medication events and patient reporting</a:t>
            </a:r>
          </a:p>
        </p:txBody>
      </p:sp>
      <p:sp>
        <p:nvSpPr>
          <p:cNvPr id="3" name="">
            <a:extLst xmlns:a="http://schemas.openxmlformats.org/drawingml/2006/main">
              <a:ext uri="{FF2B5EF4-FFF2-40B4-BE49-F238E27FC236}">
                <a16:creationId xmlns:a16="http://schemas.microsoft.com/office/drawing/2014/main" id="{E2975D27-8160-4A69-98F1-05DA98CF29F9}"/>
              </a:ext>
            </a:extLst>
          </p:cNvPr>
          <p:cNvSpPr>
            <a:spLocks xmlns:a="http://schemas.openxmlformats.org/drawingml/2006/main" noGrp="1"/>
          </p:cNvSpPr>
          <p:nvPr/>
        </p:nvSpPr>
        <p:spPr>
          <a:xfrm xmlns:a="http://schemas.openxmlformats.org/drawingml/2006/main">
            <a:off x="571500" y="1857375"/>
            <a:ext cx="12477750" cy="4905375"/>
          </a:xfrm>
          <a:prstGeom xmlns:a="http://schemas.openxmlformats.org/drawingml/2006/main" prst="roundRect">
            <a:avLst>
              <a:gd name="adj" fmla="val 1553"/>
            </a:avLst>
          </a:prstGeom>
          <a:solidFill xmlns:a="http://schemas.openxmlformats.org/drawingml/2006/main">
            <a:srgbClr val="FFFFFF"/>
          </a:solidFill>
          <a:ln xmlns:a="http://schemas.openxmlformats.org/drawingml/2006/main" w="9525">
            <a:solidFill>
              <a:srgbClr val="DCE4EA"/>
            </a:solidFill>
          </a:ln>
        </p:spPr>
      </p:sp>
      <p:sp>
        <p:nvSpPr>
          <p:cNvPr id="4" name="">
            <a:extLst xmlns:a="http://schemas.openxmlformats.org/drawingml/2006/main">
              <a:ext uri="{FF2B5EF4-FFF2-40B4-BE49-F238E27FC236}">
                <a16:creationId xmlns:a16="http://schemas.microsoft.com/office/drawing/2014/main" id="{E5DCE8D7-174F-4AF3-B719-19ADA76A1409}"/>
              </a:ext>
            </a:extLst>
          </p:cNvPr>
          <p:cNvSpPr>
            <a:spLocks xmlns:a="http://schemas.openxmlformats.org/drawingml/2006/main" noGrp="1"/>
          </p:cNvSpPr>
          <p:nvPr/>
        </p:nvSpPr>
        <p:spPr>
          <a:xfrm xmlns:a="http://schemas.openxmlformats.org/drawingml/2006/main">
            <a:off x="762000" y="2009775"/>
            <a:ext cx="1209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42735"/>
                </a:solidFill>
                <a:latin typeface="Inter"/>
                <a:ea typeface="Inter"/>
                <a:cs typeface="Inter"/>
              </a:defRPr>
            </a:pPr>
            <a:r>
              <a:rPr sz="1725" b="1">
                <a:solidFill>
                  <a:srgbClr val="142735"/>
                </a:solidFill>
                <a:latin typeface="Inter"/>
                <a:ea typeface="Inter"/>
                <a:cs typeface="Inter"/>
              </a:rPr>
              <a:t>Dual-axis glucose trends | 2022–2026 Q2</a:t>
            </a:r>
          </a:p>
        </p:txBody>
      </p:sp>
      <p:sp>
        <p:nvSpPr>
          <p:cNvPr id="5" name="">
            <a:extLst xmlns:a="http://schemas.openxmlformats.org/drawingml/2006/main">
              <a:ext uri="{FF2B5EF4-FFF2-40B4-BE49-F238E27FC236}">
                <a16:creationId xmlns:a16="http://schemas.microsoft.com/office/drawing/2014/main" id="{5271C439-4204-45AC-88C6-09384405C9A5}"/>
              </a:ext>
            </a:extLst>
          </p:cNvPr>
          <p:cNvSpPr>
            <a:spLocks xmlns:a="http://schemas.openxmlformats.org/drawingml/2006/main" noGrp="1"/>
          </p:cNvSpPr>
          <p:nvPr/>
        </p:nvSpPr>
        <p:spPr>
          <a:xfrm xmlns:a="http://schemas.openxmlformats.org/drawingml/2006/main">
            <a:off x="762000" y="2457450"/>
            <a:ext cx="1209675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6" name="">
            <a:extLst xmlns:a="http://schemas.openxmlformats.org/drawingml/2006/main">
              <a:ext uri="{FF2B5EF4-FFF2-40B4-BE49-F238E27FC236}">
                <a16:creationId xmlns:a16="http://schemas.microsoft.com/office/drawing/2014/main" id="{FD72DEDA-4BD9-4262-8EC2-B61BFBE6F378}"/>
              </a:ext>
            </a:extLst>
          </p:cNvPr>
          <p:cNvSpPr>
            <a:spLocks xmlns:a="http://schemas.openxmlformats.org/drawingml/2006/main" noGrp="1"/>
          </p:cNvSpPr>
          <p:nvPr/>
        </p:nvSpPr>
        <p:spPr>
          <a:xfrm xmlns:a="http://schemas.openxmlformats.org/drawingml/2006/main">
            <a:off x="904875" y="2333625"/>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CC2453"/>
                </a:solidFill>
                <a:latin typeface="Inter"/>
                <a:ea typeface="Inter"/>
                <a:cs typeface="Inter"/>
              </a:defRPr>
            </a:pPr>
            <a:r>
              <a:rPr sz="1500" b="1">
                <a:solidFill>
                  <a:srgbClr val="CC2453"/>
                </a:solidFill>
                <a:latin typeface="Inter"/>
                <a:ea typeface="Inter"/>
                <a:cs typeface="Inter"/>
              </a:rPr>
              <a:t>HbA1c (%)</a:t>
            </a:r>
          </a:p>
        </p:txBody>
      </p:sp>
      <p:sp>
        <p:nvSpPr>
          <p:cNvPr id="7" name="">
            <a:extLst xmlns:a="http://schemas.openxmlformats.org/drawingml/2006/main">
              <a:ext uri="{FF2B5EF4-FFF2-40B4-BE49-F238E27FC236}">
                <a16:creationId xmlns:a16="http://schemas.microsoft.com/office/drawing/2014/main" id="{976A8B6A-8273-4A78-A29B-6213606C70E0}"/>
              </a:ext>
            </a:extLst>
          </p:cNvPr>
          <p:cNvSpPr>
            <a:spLocks xmlns:a="http://schemas.openxmlformats.org/drawingml/2006/main" noGrp="1"/>
          </p:cNvSpPr>
          <p:nvPr/>
        </p:nvSpPr>
        <p:spPr>
          <a:xfrm xmlns:a="http://schemas.openxmlformats.org/drawingml/2006/main">
            <a:off x="9906000" y="2333625"/>
            <a:ext cx="2809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37A76"/>
                </a:solidFill>
                <a:latin typeface="Inter"/>
                <a:ea typeface="Inter"/>
                <a:cs typeface="Inter"/>
              </a:defRPr>
            </a:pPr>
            <a:r>
              <a:rPr sz="1500" b="1">
                <a:solidFill>
                  <a:srgbClr val="137A76"/>
                </a:solidFill>
                <a:latin typeface="Inter"/>
                <a:ea typeface="Inter"/>
                <a:cs typeface="Inter"/>
              </a:rPr>
              <a:t>Blood glucose (mg/dL)</a:t>
            </a:r>
          </a:p>
        </p:txBody>
      </p:sp>
      <p:graphicFrame>
        <p:nvGraphicFramePr>
          <p:cNvPr id="29" name="Chart"/>
          <p:cNvGraphicFramePr/>
          <p:nvPr/>
        </p:nvGraphicFramePr>
        <p:xfrm>
          <a:off xmlns:a="http://schemas.openxmlformats.org/drawingml/2006/main" x="762000" y="2667000"/>
          <a:ext xmlns:a="http://schemas.openxmlformats.org/drawingml/2006/main" cx="12096750" cy="3952875"/>
        </p:xfrm>
        <a:graphic xmlns:a="http://schemas.openxmlformats.org/drawingml/2006/main">
          <a:graphicData uri="http://schemas.openxmlformats.org/drawingml/2006/chart">
            <c:chart xmlns:r="http://schemas.openxmlformats.org/officeDocument/2006/relationships" xmlns:c="http://schemas.openxmlformats.org/drawingml/2006/chart" r:id="R6d05d6572f574914"/>
          </a:graphicData>
        </a:graphic>
      </p:graphicFrame>
      <p:sp>
        <p:nvSpPr>
          <p:cNvPr id="9" name="">
            <a:extLst xmlns:a="http://schemas.openxmlformats.org/drawingml/2006/main">
              <a:ext uri="{FF2B5EF4-FFF2-40B4-BE49-F238E27FC236}">
                <a16:creationId xmlns:a16="http://schemas.microsoft.com/office/drawing/2014/main" id="{3D64CC1F-F5D5-4701-9AAC-D7AECA9F2335}"/>
              </a:ext>
            </a:extLst>
          </p:cNvPr>
          <p:cNvSpPr>
            <a:spLocks xmlns:a="http://schemas.openxmlformats.org/drawingml/2006/main" noGrp="1"/>
          </p:cNvSpPr>
          <p:nvPr/>
        </p:nvSpPr>
        <p:spPr>
          <a:xfrm xmlns:a="http://schemas.openxmlformats.org/drawingml/2006/main">
            <a:off x="13430250" y="1857375"/>
            <a:ext cx="4286250" cy="4905375"/>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DCE4EA"/>
            </a:solidFill>
          </a:ln>
        </p:spPr>
      </p:sp>
      <p:sp>
        <p:nvSpPr>
          <p:cNvPr id="10" name="">
            <a:extLst xmlns:a="http://schemas.openxmlformats.org/drawingml/2006/main">
              <a:ext uri="{FF2B5EF4-FFF2-40B4-BE49-F238E27FC236}">
                <a16:creationId xmlns:a16="http://schemas.microsoft.com/office/drawing/2014/main" id="{C52E2D08-0726-4420-B675-3F5C67C8D0D5}"/>
              </a:ext>
            </a:extLst>
          </p:cNvPr>
          <p:cNvSpPr>
            <a:spLocks xmlns:a="http://schemas.openxmlformats.org/drawingml/2006/main" noGrp="1"/>
          </p:cNvSpPr>
          <p:nvPr/>
        </p:nvSpPr>
        <p:spPr>
          <a:xfrm xmlns:a="http://schemas.openxmlformats.org/drawingml/2006/main">
            <a:off x="13620750" y="20097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Review context</a:t>
            </a:r>
          </a:p>
        </p:txBody>
      </p:sp>
      <p:sp>
        <p:nvSpPr>
          <p:cNvPr id="11" name="">
            <a:extLst xmlns:a="http://schemas.openxmlformats.org/drawingml/2006/main">
              <a:ext uri="{FF2B5EF4-FFF2-40B4-BE49-F238E27FC236}">
                <a16:creationId xmlns:a16="http://schemas.microsoft.com/office/drawing/2014/main" id="{6290CBC4-D7F6-4AF0-99A5-61FA7C112ACC}"/>
              </a:ext>
            </a:extLst>
          </p:cNvPr>
          <p:cNvSpPr>
            <a:spLocks xmlns:a="http://schemas.openxmlformats.org/drawingml/2006/main" noGrp="1"/>
          </p:cNvSpPr>
          <p:nvPr/>
        </p:nvSpPr>
        <p:spPr>
          <a:xfrm xmlns:a="http://schemas.openxmlformats.org/drawingml/2006/main">
            <a:off x="13620750" y="2457450"/>
            <a:ext cx="390525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B77"/>
                </a:solidFill>
                <a:latin typeface="Inter"/>
                <a:ea typeface="Inter"/>
                <a:cs typeface="Inter"/>
              </a:defRPr>
            </a:pPr>
            <a:r>
              <a:rPr sz="1725" b="0">
                <a:solidFill>
                  <a:srgbClr val="596B77"/>
                </a:solidFill>
                <a:latin typeface="Inter"/>
                <a:ea typeface="Inter"/>
                <a:cs typeface="Inter"/>
              </a:rPr>
              <a:t>HbA1c: 7.2 → 7.3 → 7.0 → 7.6 → 8.0%</a:t>
            </a:r>
          </a:p>
          <a:p xmlns:a="http://schemas.openxmlformats.org/drawingml/2006/main">
            <a:r>
              <a:t/>
            </a:r>
          </a:p>
          <a:p xmlns:a="http://schemas.openxmlformats.org/drawingml/2006/main">
            <a:pPr>
              <a:defRPr sz="1725" b="0">
                <a:solidFill>
                  <a:srgbClr val="596B77"/>
                </a:solidFill>
                <a:latin typeface="Inter"/>
                <a:ea typeface="Inter"/>
                <a:cs typeface="Inter"/>
              </a:defRPr>
            </a:pPr>
            <a:r>
              <a:rPr sz="1725" b="0">
                <a:solidFill>
                  <a:srgbClr val="596B77"/>
                </a:solidFill>
                <a:latin typeface="Inter"/>
                <a:ea typeface="Inter"/>
                <a:cs typeface="Inter"/>
              </a:rPr>
              <a:t>Fasting: 132 → 140 → 118 → 135 → 142 mg/dL</a:t>
            </a:r>
          </a:p>
          <a:p xmlns:a="http://schemas.openxmlformats.org/drawingml/2006/main">
            <a:r>
              <a:t/>
            </a:r>
          </a:p>
          <a:p xmlns:a="http://schemas.openxmlformats.org/drawingml/2006/main">
            <a:pPr>
              <a:defRPr sz="1725" b="0">
                <a:solidFill>
                  <a:srgbClr val="596B77"/>
                </a:solidFill>
                <a:latin typeface="Inter"/>
                <a:ea typeface="Inter"/>
                <a:cs typeface="Inter"/>
              </a:defRPr>
            </a:pPr>
            <a:r>
              <a:rPr sz="1725" b="0">
                <a:solidFill>
                  <a:srgbClr val="596B77"/>
                </a:solidFill>
                <a:latin typeface="Inter"/>
                <a:ea typeface="Inter"/>
                <a:cs typeface="Inter"/>
              </a:rPr>
              <a:t>Post-meal: 175 → 188 → 165 → 195 → 210 mg/dL</a:t>
            </a:r>
          </a:p>
          <a:p xmlns:a="http://schemas.openxmlformats.org/drawingml/2006/main">
            <a:r>
              <a:t/>
            </a:r>
          </a:p>
          <a:p xmlns:a="http://schemas.openxmlformats.org/drawingml/2006/main">
            <a:pPr>
              <a:defRPr sz="1725" b="0">
                <a:solidFill>
                  <a:srgbClr val="596B77"/>
                </a:solidFill>
                <a:latin typeface="Inter"/>
                <a:ea typeface="Inter"/>
                <a:cs typeface="Inter"/>
              </a:defRPr>
            </a:pPr>
            <a:r>
              <a:rPr sz="1725" b="0">
                <a:solidFill>
                  <a:srgbClr val="596B77"/>
                </a:solidFill>
                <a:latin typeface="Inter"/>
                <a:ea typeface="Inter"/>
                <a:cs typeface="Inter"/>
              </a:rPr>
              <a:t>eGFR: 75 → 70 → 64 → 58 → 55 mL/min</a:t>
            </a:r>
          </a:p>
          <a:p xmlns:a="http://schemas.openxmlformats.org/drawingml/2006/main">
            <a:pPr>
              <a:defRPr sz="1725" b="0">
                <a:solidFill>
                  <a:srgbClr val="596B77"/>
                </a:solidFill>
                <a:latin typeface="Inter"/>
                <a:ea typeface="Inter"/>
                <a:cs typeface="Inter"/>
              </a:defRPr>
            </a:pPr>
            <a:r>
              <a:rPr sz="1725" b="0">
                <a:solidFill>
                  <a:srgbClr val="596B77"/>
                </a:solidFill>
                <a:latin typeface="Inter"/>
                <a:ea typeface="Inter"/>
                <a:cs typeface="Inter"/>
              </a:rPr>
              <a:t>LDL: 125 → 148 mg/dL</a:t>
            </a:r>
          </a:p>
          <a:p xmlns:a="http://schemas.openxmlformats.org/drawingml/2006/main">
            <a:pPr>
              <a:defRPr sz="1725" b="0">
                <a:solidFill>
                  <a:srgbClr val="596B77"/>
                </a:solidFill>
                <a:latin typeface="Inter"/>
                <a:ea typeface="Inter"/>
                <a:cs typeface="Inter"/>
              </a:defRPr>
            </a:pPr>
            <a:r>
              <a:rPr sz="1725" b="0">
                <a:solidFill>
                  <a:srgbClr val="596B77"/>
                </a:solidFill>
                <a:latin typeface="Inter"/>
                <a:ea typeface="Inter"/>
                <a:cs typeface="Inter"/>
              </a:rPr>
              <a:t>HDL: 45 → 38 mg/dL</a:t>
            </a:r>
          </a:p>
        </p:txBody>
      </p:sp>
      <p:sp>
        <p:nvSpPr>
          <p:cNvPr id="12" name="">
            <a:extLst xmlns:a="http://schemas.openxmlformats.org/drawingml/2006/main">
              <a:ext uri="{FF2B5EF4-FFF2-40B4-BE49-F238E27FC236}">
                <a16:creationId xmlns:a16="http://schemas.microsoft.com/office/drawing/2014/main" id="{5FD274A5-DF54-471F-B982-3B0A265A7D3C}"/>
              </a:ext>
            </a:extLst>
          </p:cNvPr>
          <p:cNvSpPr>
            <a:spLocks xmlns:a="http://schemas.openxmlformats.org/drawingml/2006/main" noGrp="1"/>
          </p:cNvSpPr>
          <p:nvPr/>
        </p:nvSpPr>
        <p:spPr>
          <a:xfrm xmlns:a="http://schemas.openxmlformats.org/drawingml/2006/main">
            <a:off x="571500" y="7191375"/>
            <a:ext cx="5429250" cy="19812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DCE4EA"/>
            </a:solidFill>
          </a:ln>
        </p:spPr>
      </p:sp>
      <p:sp>
        <p:nvSpPr>
          <p:cNvPr id="13" name="">
            <a:extLst xmlns:a="http://schemas.openxmlformats.org/drawingml/2006/main">
              <a:ext uri="{FF2B5EF4-FFF2-40B4-BE49-F238E27FC236}">
                <a16:creationId xmlns:a16="http://schemas.microsoft.com/office/drawing/2014/main" id="{16D54181-C6C4-4CA7-B01C-927BF2E6FFD8}"/>
              </a:ext>
            </a:extLst>
          </p:cNvPr>
          <p:cNvSpPr>
            <a:spLocks xmlns:a="http://schemas.openxmlformats.org/drawingml/2006/main" noGrp="1"/>
          </p:cNvSpPr>
          <p:nvPr/>
        </p:nvSpPr>
        <p:spPr>
          <a:xfrm xmlns:a="http://schemas.openxmlformats.org/drawingml/2006/main">
            <a:off x="762000" y="734377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AI-assisted preparation</a:t>
            </a:r>
          </a:p>
        </p:txBody>
      </p:sp>
      <p:sp>
        <p:nvSpPr>
          <p:cNvPr id="14" name="">
            <a:extLst xmlns:a="http://schemas.openxmlformats.org/drawingml/2006/main">
              <a:ext uri="{FF2B5EF4-FFF2-40B4-BE49-F238E27FC236}">
                <a16:creationId xmlns:a16="http://schemas.microsoft.com/office/drawing/2014/main" id="{68222609-396D-44C5-B4B9-260337978702}"/>
              </a:ext>
            </a:extLst>
          </p:cNvPr>
          <p:cNvSpPr>
            <a:spLocks xmlns:a="http://schemas.openxmlformats.org/drawingml/2006/main" noGrp="1"/>
          </p:cNvSpPr>
          <p:nvPr/>
        </p:nvSpPr>
        <p:spPr>
          <a:xfrm xmlns:a="http://schemas.openxmlformats.org/drawingml/2006/main">
            <a:off x="762000" y="7791450"/>
            <a:ext cx="50482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PDF / OCR + GPT-6 Luna propose</a:t>
            </a:r>
          </a:p>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patient, test, value, unit and date.</a:t>
            </a:r>
          </a:p>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Quoted evidence accompanies entries.</a:t>
            </a:r>
          </a:p>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A reviewer controls publication.</a:t>
            </a:r>
          </a:p>
        </p:txBody>
      </p:sp>
      <p:sp>
        <p:nvSpPr>
          <p:cNvPr id="15" name="">
            <a:extLst xmlns:a="http://schemas.openxmlformats.org/drawingml/2006/main">
              <a:ext uri="{FF2B5EF4-FFF2-40B4-BE49-F238E27FC236}">
                <a16:creationId xmlns:a16="http://schemas.microsoft.com/office/drawing/2014/main" id="{9B2F8642-1C5E-4689-AA50-5631932A6F36}"/>
              </a:ext>
            </a:extLst>
          </p:cNvPr>
          <p:cNvSpPr>
            <a:spLocks xmlns:a="http://schemas.openxmlformats.org/drawingml/2006/main" noGrp="1"/>
          </p:cNvSpPr>
          <p:nvPr/>
        </p:nvSpPr>
        <p:spPr>
          <a:xfrm xmlns:a="http://schemas.openxmlformats.org/drawingml/2006/main">
            <a:off x="6429375" y="7191375"/>
            <a:ext cx="5429250" cy="19812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DCE4EA"/>
            </a:solidFill>
          </a:ln>
        </p:spPr>
      </p:sp>
      <p:sp>
        <p:nvSpPr>
          <p:cNvPr id="16" name="">
            <a:extLst xmlns:a="http://schemas.openxmlformats.org/drawingml/2006/main">
              <a:ext uri="{FF2B5EF4-FFF2-40B4-BE49-F238E27FC236}">
                <a16:creationId xmlns:a16="http://schemas.microsoft.com/office/drawing/2014/main" id="{04398CAA-C842-483F-BFE0-66213F490FF6}"/>
              </a:ext>
            </a:extLst>
          </p:cNvPr>
          <p:cNvSpPr>
            <a:spLocks xmlns:a="http://schemas.openxmlformats.org/drawingml/2006/main" noGrp="1"/>
          </p:cNvSpPr>
          <p:nvPr/>
        </p:nvSpPr>
        <p:spPr>
          <a:xfrm xmlns:a="http://schemas.openxmlformats.org/drawingml/2006/main">
            <a:off x="6619875" y="734377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Patient reporting</a:t>
            </a:r>
          </a:p>
        </p:txBody>
      </p:sp>
      <p:sp>
        <p:nvSpPr>
          <p:cNvPr id="17" name="">
            <a:extLst xmlns:a="http://schemas.openxmlformats.org/drawingml/2006/main">
              <a:ext uri="{FF2B5EF4-FFF2-40B4-BE49-F238E27FC236}">
                <a16:creationId xmlns:a16="http://schemas.microsoft.com/office/drawing/2014/main" id="{633D9CF9-6B13-48BC-AF11-9A4CD02D83C2}"/>
              </a:ext>
            </a:extLst>
          </p:cNvPr>
          <p:cNvSpPr>
            <a:spLocks xmlns:a="http://schemas.openxmlformats.org/drawingml/2006/main" noGrp="1"/>
          </p:cNvSpPr>
          <p:nvPr/>
        </p:nvSpPr>
        <p:spPr>
          <a:xfrm xmlns:a="http://schemas.openxmlformats.org/drawingml/2006/main">
            <a:off x="6619875" y="7791450"/>
            <a:ext cx="50482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Home glucose readings, timestamped symptoms and severity. Medication timing sits beside patient reports. A frozen SOS snapshot reaches the demo clinic desk.</a:t>
            </a:r>
          </a:p>
        </p:txBody>
      </p:sp>
      <p:sp>
        <p:nvSpPr>
          <p:cNvPr id="18" name="">
            <a:extLst xmlns:a="http://schemas.openxmlformats.org/drawingml/2006/main">
              <a:ext uri="{FF2B5EF4-FFF2-40B4-BE49-F238E27FC236}">
                <a16:creationId xmlns:a16="http://schemas.microsoft.com/office/drawing/2014/main" id="{10F8F113-80F7-4C1A-85EA-C779A9997920}"/>
              </a:ext>
            </a:extLst>
          </p:cNvPr>
          <p:cNvSpPr>
            <a:spLocks xmlns:a="http://schemas.openxmlformats.org/drawingml/2006/main" noGrp="1"/>
          </p:cNvSpPr>
          <p:nvPr/>
        </p:nvSpPr>
        <p:spPr>
          <a:xfrm xmlns:a="http://schemas.openxmlformats.org/drawingml/2006/main">
            <a:off x="12287250" y="7191375"/>
            <a:ext cx="5429250" cy="19812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DCE4EA"/>
            </a:solidFill>
          </a:ln>
        </p:spPr>
      </p:sp>
      <p:sp>
        <p:nvSpPr>
          <p:cNvPr id="19" name="">
            <a:extLst xmlns:a="http://schemas.openxmlformats.org/drawingml/2006/main">
              <a:ext uri="{FF2B5EF4-FFF2-40B4-BE49-F238E27FC236}">
                <a16:creationId xmlns:a16="http://schemas.microsoft.com/office/drawing/2014/main" id="{7CBCFC32-502A-417F-B075-5079D8D447AF}"/>
              </a:ext>
            </a:extLst>
          </p:cNvPr>
          <p:cNvSpPr>
            <a:spLocks xmlns:a="http://schemas.openxmlformats.org/drawingml/2006/main" noGrp="1"/>
          </p:cNvSpPr>
          <p:nvPr/>
        </p:nvSpPr>
        <p:spPr>
          <a:xfrm xmlns:a="http://schemas.openxmlformats.org/drawingml/2006/main">
            <a:off x="12477750" y="734377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CC2453"/>
                </a:solidFill>
                <a:latin typeface="Inter"/>
                <a:ea typeface="Inter"/>
                <a:cs typeface="Inter"/>
              </a:defRPr>
            </a:pPr>
            <a:r>
              <a:rPr sz="1725" b="1">
                <a:solidFill>
                  <a:srgbClr val="CC2453"/>
                </a:solidFill>
                <a:latin typeface="Inter"/>
                <a:ea typeface="Inter"/>
                <a:cs typeface="Inter"/>
              </a:rPr>
              <a:t>Review and follow-up work</a:t>
            </a:r>
          </a:p>
        </p:txBody>
      </p:sp>
      <p:sp>
        <p:nvSpPr>
          <p:cNvPr id="20" name="">
            <a:extLst xmlns:a="http://schemas.openxmlformats.org/drawingml/2006/main">
              <a:ext uri="{FF2B5EF4-FFF2-40B4-BE49-F238E27FC236}">
                <a16:creationId xmlns:a16="http://schemas.microsoft.com/office/drawing/2014/main" id="{677B281D-1E89-4E1F-9648-D4CC7072F929}"/>
              </a:ext>
            </a:extLst>
          </p:cNvPr>
          <p:cNvSpPr>
            <a:spLocks xmlns:a="http://schemas.openxmlformats.org/drawingml/2006/main" noGrp="1"/>
          </p:cNvSpPr>
          <p:nvPr/>
        </p:nvSpPr>
        <p:spPr>
          <a:xfrm xmlns:a="http://schemas.openxmlformats.org/drawingml/2006/main">
            <a:off x="12477750" y="7791450"/>
            <a:ext cx="50482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Identity conflicts block publication.</a:t>
            </a:r>
          </a:p>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Every extracted entry needs review.</a:t>
            </a:r>
          </a:p>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Clinician-entered dates support tracking.</a:t>
            </a:r>
          </a:p>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Missing measurements remain gaps.</a:t>
            </a:r>
          </a:p>
        </p:txBody>
      </p:sp>
      <p:sp>
        <p:nvSpPr>
          <p:cNvPr id="21" name="">
            <a:extLst xmlns:a="http://schemas.openxmlformats.org/drawingml/2006/main">
              <a:ext uri="{FF2B5EF4-FFF2-40B4-BE49-F238E27FC236}">
                <a16:creationId xmlns:a16="http://schemas.microsoft.com/office/drawing/2014/main" id="{2DE51860-5D2C-422F-940D-73E2F93D64F5}"/>
              </a:ext>
            </a:extLst>
          </p:cNvPr>
          <p:cNvSpPr>
            <a:spLocks xmlns:a="http://schemas.openxmlformats.org/drawingml/2006/main" noGrp="1"/>
          </p:cNvSpPr>
          <p:nvPr/>
        </p:nvSpPr>
        <p:spPr>
          <a:xfrm xmlns:a="http://schemas.openxmlformats.org/drawingml/2006/main">
            <a:off x="571500" y="9477375"/>
            <a:ext cx="1714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96B77"/>
                </a:solidFill>
                <a:latin typeface="Inter"/>
                <a:ea typeface="Inter"/>
                <a:cs typeface="Inter"/>
              </a:defRPr>
            </a:pPr>
            <a:r>
              <a:rPr sz="1500" b="0">
                <a:solidFill>
                  <a:srgbClr val="596B77"/>
                </a:solidFill>
                <a:latin typeface="Inter"/>
                <a:ea typeface="Inter"/>
                <a:cs typeface="Inter"/>
              </a:rPr>
              <a:t>Illustrative supplied scenario. No invented quarterly points. Reference ranges appear in the app. Year-only data gives approximate timing; no treatment causation or diagnosis is inferred.</a:t>
            </a:r>
          </a:p>
        </p:txBody>
      </p:sp>
    </p:spTree>
    <p:extLst>
      <p:ext uri="{BB962C8B-B14F-4D97-AF65-F5344CB8AC3E}">
        <p14:creationId xmlns:p14="http://schemas.microsoft.com/office/powerpoint/2010/main" val="1380049302"/>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F646DFFE-C035-44D5-A67D-B316DBE31510}"/>
              </a:ext>
            </a:extLst>
          </p:cNvPr>
          <p:cNvSpPr>
            <a:spLocks xmlns:a="http://schemas.openxmlformats.org/drawingml/2006/main" noGrp="1"/>
          </p:cNvSpPr>
          <p:nvPr/>
        </p:nvSpPr>
        <p:spPr>
          <a:xfrm xmlns:a="http://schemas.openxmlformats.org/drawingml/2006/main">
            <a:off x="571500" y="361950"/>
            <a:ext cx="1714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Inter"/>
                <a:ea typeface="Inter"/>
                <a:cs typeface="Inter"/>
              </a:defRPr>
            </a:pPr>
            <a:r>
              <a:rPr sz="3000" b="1">
                <a:solidFill>
                  <a:srgbClr val="142735"/>
                </a:solidFill>
                <a:latin typeface="Inter"/>
                <a:ea typeface="Inter"/>
                <a:cs typeface="Inter"/>
              </a:rPr>
              <a:t>Workflow</a:t>
            </a:r>
          </a:p>
        </p:txBody>
      </p:sp>
      <p:sp>
        <p:nvSpPr>
          <p:cNvPr id="2" name="">
            <a:extLst xmlns:a="http://schemas.openxmlformats.org/drawingml/2006/main">
              <a:ext uri="{FF2B5EF4-FFF2-40B4-BE49-F238E27FC236}">
                <a16:creationId xmlns:a16="http://schemas.microsoft.com/office/drawing/2014/main" id="{2CD18892-1806-49C1-8741-06FFD4B36B93}"/>
              </a:ext>
            </a:extLst>
          </p:cNvPr>
          <p:cNvSpPr>
            <a:spLocks xmlns:a="http://schemas.openxmlformats.org/drawingml/2006/main" noGrp="1"/>
          </p:cNvSpPr>
          <p:nvPr/>
        </p:nvSpPr>
        <p:spPr>
          <a:xfrm xmlns:a="http://schemas.openxmlformats.org/drawingml/2006/main">
            <a:off x="571500" y="1019175"/>
            <a:ext cx="1714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B77"/>
                </a:solidFill>
                <a:latin typeface="Inter"/>
                <a:ea typeface="Inter"/>
                <a:cs typeface="Inter"/>
              </a:defRPr>
            </a:pPr>
            <a:r>
              <a:rPr sz="1725" b="0">
                <a:solidFill>
                  <a:srgbClr val="596B77"/>
                </a:solidFill>
                <a:latin typeface="Inter"/>
                <a:ea typeface="Inter"/>
                <a:cs typeface="Inter"/>
              </a:rPr>
              <a:t>The complete working path from records and home events to physician review</a:t>
            </a:r>
          </a:p>
        </p:txBody>
      </p:sp>
      <p:sp>
        <p:nvSpPr>
          <p:cNvPr id="3" name="">
            <a:extLst xmlns:a="http://schemas.openxmlformats.org/drawingml/2006/main">
              <a:ext uri="{FF2B5EF4-FFF2-40B4-BE49-F238E27FC236}">
                <a16:creationId xmlns:a16="http://schemas.microsoft.com/office/drawing/2014/main" id="{D6D94701-7E8B-4741-9B32-69716328AAAB}"/>
              </a:ext>
            </a:extLst>
          </p:cNvPr>
          <p:cNvSpPr>
            <a:spLocks xmlns:a="http://schemas.openxmlformats.org/drawingml/2006/main" noGrp="1"/>
          </p:cNvSpPr>
          <p:nvPr/>
        </p:nvSpPr>
        <p:spPr>
          <a:xfrm xmlns:a="http://schemas.openxmlformats.org/drawingml/2006/main">
            <a:off x="571500" y="2190750"/>
            <a:ext cx="30480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CE4EA"/>
            </a:solidFill>
          </a:ln>
        </p:spPr>
      </p:sp>
      <p:sp>
        <p:nvSpPr>
          <p:cNvPr id="4" name="">
            <a:extLst xmlns:a="http://schemas.openxmlformats.org/drawingml/2006/main">
              <a:ext uri="{FF2B5EF4-FFF2-40B4-BE49-F238E27FC236}">
                <a16:creationId xmlns:a16="http://schemas.microsoft.com/office/drawing/2014/main" id="{0EB9D1EF-85D5-4553-86C1-83C9BE83A68D}"/>
              </a:ext>
            </a:extLst>
          </p:cNvPr>
          <p:cNvSpPr>
            <a:spLocks xmlns:a="http://schemas.openxmlformats.org/drawingml/2006/main" noGrp="1"/>
          </p:cNvSpPr>
          <p:nvPr/>
        </p:nvSpPr>
        <p:spPr>
          <a:xfrm xmlns:a="http://schemas.openxmlformats.org/drawingml/2006/main">
            <a:off x="762000" y="234315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Hospital / clinic</a:t>
            </a:r>
          </a:p>
        </p:txBody>
      </p:sp>
      <p:sp>
        <p:nvSpPr>
          <p:cNvPr id="5" name="">
            <a:extLst xmlns:a="http://schemas.openxmlformats.org/drawingml/2006/main">
              <a:ext uri="{FF2B5EF4-FFF2-40B4-BE49-F238E27FC236}">
                <a16:creationId xmlns:a16="http://schemas.microsoft.com/office/drawing/2014/main" id="{38E9761C-ED77-4267-8188-163971D7DAA9}"/>
              </a:ext>
            </a:extLst>
          </p:cNvPr>
          <p:cNvSpPr>
            <a:spLocks xmlns:a="http://schemas.openxmlformats.org/drawingml/2006/main" noGrp="1"/>
          </p:cNvSpPr>
          <p:nvPr/>
        </p:nvSpPr>
        <p:spPr>
          <a:xfrm xmlns:a="http://schemas.openxmlformats.org/drawingml/2006/main">
            <a:off x="762000" y="2790825"/>
            <a:ext cx="2667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Legacy records</a:t>
            </a:r>
          </a:p>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Scan or upload</a:t>
            </a:r>
          </a:p>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PDF, JPEG, PNG</a:t>
            </a:r>
          </a:p>
        </p:txBody>
      </p:sp>
      <p:sp>
        <p:nvSpPr>
          <p:cNvPr id="6" name="">
            <a:extLst xmlns:a="http://schemas.openxmlformats.org/drawingml/2006/main">
              <a:ext uri="{FF2B5EF4-FFF2-40B4-BE49-F238E27FC236}">
                <a16:creationId xmlns:a16="http://schemas.microsoft.com/office/drawing/2014/main" id="{FCB39769-00C3-4A5C-BBCA-91B5890C22A4}"/>
              </a:ext>
            </a:extLst>
          </p:cNvPr>
          <p:cNvSpPr>
            <a:spLocks xmlns:a="http://schemas.openxmlformats.org/drawingml/2006/main" noGrp="1"/>
          </p:cNvSpPr>
          <p:nvPr/>
        </p:nvSpPr>
        <p:spPr>
          <a:xfrm xmlns:a="http://schemas.openxmlformats.org/drawingml/2006/main">
            <a:off x="3667125" y="3048000"/>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7A76"/>
                </a:solidFill>
                <a:latin typeface="Inter"/>
                <a:ea typeface="Inter"/>
                <a:cs typeface="Inter"/>
              </a:defRPr>
            </a:pPr>
            <a:r>
              <a:rPr sz="3000" b="1">
                <a:solidFill>
                  <a:srgbClr val="137A76"/>
                </a:solidFill>
                <a:latin typeface="Inter"/>
                <a:ea typeface="Inter"/>
                <a:cs typeface="Inter"/>
              </a:rPr>
              <a:t>→</a:t>
            </a:r>
          </a:p>
        </p:txBody>
      </p:sp>
      <p:sp>
        <p:nvSpPr>
          <p:cNvPr id="7" name="">
            <a:extLst xmlns:a="http://schemas.openxmlformats.org/drawingml/2006/main">
              <a:ext uri="{FF2B5EF4-FFF2-40B4-BE49-F238E27FC236}">
                <a16:creationId xmlns:a16="http://schemas.microsoft.com/office/drawing/2014/main" id="{4E1EAE28-5D54-4D8B-9A4C-131BB8364EB3}"/>
              </a:ext>
            </a:extLst>
          </p:cNvPr>
          <p:cNvSpPr>
            <a:spLocks xmlns:a="http://schemas.openxmlformats.org/drawingml/2006/main" noGrp="1"/>
          </p:cNvSpPr>
          <p:nvPr/>
        </p:nvSpPr>
        <p:spPr>
          <a:xfrm xmlns:a="http://schemas.openxmlformats.org/drawingml/2006/main">
            <a:off x="4095750" y="2190750"/>
            <a:ext cx="30480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CE4EA"/>
            </a:solidFill>
          </a:ln>
        </p:spPr>
      </p:sp>
      <p:sp>
        <p:nvSpPr>
          <p:cNvPr id="8" name="">
            <a:extLst xmlns:a="http://schemas.openxmlformats.org/drawingml/2006/main">
              <a:ext uri="{FF2B5EF4-FFF2-40B4-BE49-F238E27FC236}">
                <a16:creationId xmlns:a16="http://schemas.microsoft.com/office/drawing/2014/main" id="{12DAE5C5-1924-471F-BDEB-BF9535534207}"/>
              </a:ext>
            </a:extLst>
          </p:cNvPr>
          <p:cNvSpPr>
            <a:spLocks xmlns:a="http://schemas.openxmlformats.org/drawingml/2006/main" noGrp="1"/>
          </p:cNvSpPr>
          <p:nvPr/>
        </p:nvSpPr>
        <p:spPr>
          <a:xfrm xmlns:a="http://schemas.openxmlformats.org/drawingml/2006/main">
            <a:off x="4286250" y="234315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Data ingestion</a:t>
            </a:r>
          </a:p>
        </p:txBody>
      </p:sp>
      <p:sp>
        <p:nvSpPr>
          <p:cNvPr id="9" name="">
            <a:extLst xmlns:a="http://schemas.openxmlformats.org/drawingml/2006/main">
              <a:ext uri="{FF2B5EF4-FFF2-40B4-BE49-F238E27FC236}">
                <a16:creationId xmlns:a16="http://schemas.microsoft.com/office/drawing/2014/main" id="{6A3796DC-D9A2-4D5B-9115-9CAD045B92D5}"/>
              </a:ext>
            </a:extLst>
          </p:cNvPr>
          <p:cNvSpPr>
            <a:spLocks xmlns:a="http://schemas.openxmlformats.org/drawingml/2006/main" noGrp="1"/>
          </p:cNvSpPr>
          <p:nvPr/>
        </p:nvSpPr>
        <p:spPr>
          <a:xfrm xmlns:a="http://schemas.openxmlformats.org/drawingml/2006/main">
            <a:off x="4286250" y="2790825"/>
            <a:ext cx="2667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Private source storage</a:t>
            </a:r>
          </a:p>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PDF / OCR processing</a:t>
            </a:r>
          </a:p>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Live model extraction</a:t>
            </a:r>
          </a:p>
        </p:txBody>
      </p:sp>
      <p:sp>
        <p:nvSpPr>
          <p:cNvPr id="10" name="">
            <a:extLst xmlns:a="http://schemas.openxmlformats.org/drawingml/2006/main">
              <a:ext uri="{FF2B5EF4-FFF2-40B4-BE49-F238E27FC236}">
                <a16:creationId xmlns:a16="http://schemas.microsoft.com/office/drawing/2014/main" id="{C4E10D7D-5CA0-4E4B-9787-80B82A6304B1}"/>
              </a:ext>
            </a:extLst>
          </p:cNvPr>
          <p:cNvSpPr>
            <a:spLocks xmlns:a="http://schemas.openxmlformats.org/drawingml/2006/main" noGrp="1"/>
          </p:cNvSpPr>
          <p:nvPr/>
        </p:nvSpPr>
        <p:spPr>
          <a:xfrm xmlns:a="http://schemas.openxmlformats.org/drawingml/2006/main">
            <a:off x="7191375" y="3048000"/>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7A76"/>
                </a:solidFill>
                <a:latin typeface="Inter"/>
                <a:ea typeface="Inter"/>
                <a:cs typeface="Inter"/>
              </a:defRPr>
            </a:pPr>
            <a:r>
              <a:rPr sz="3000" b="1">
                <a:solidFill>
                  <a:srgbClr val="137A76"/>
                </a:solidFill>
                <a:latin typeface="Inter"/>
                <a:ea typeface="Inter"/>
                <a:cs typeface="Inter"/>
              </a:rPr>
              <a:t>→</a:t>
            </a:r>
          </a:p>
        </p:txBody>
      </p:sp>
      <p:sp>
        <p:nvSpPr>
          <p:cNvPr id="11" name="">
            <a:extLst xmlns:a="http://schemas.openxmlformats.org/drawingml/2006/main">
              <a:ext uri="{FF2B5EF4-FFF2-40B4-BE49-F238E27FC236}">
                <a16:creationId xmlns:a16="http://schemas.microsoft.com/office/drawing/2014/main" id="{45C44020-E944-4121-A455-6123E1F06518}"/>
              </a:ext>
            </a:extLst>
          </p:cNvPr>
          <p:cNvSpPr>
            <a:spLocks xmlns:a="http://schemas.openxmlformats.org/drawingml/2006/main" noGrp="1"/>
          </p:cNvSpPr>
          <p:nvPr/>
        </p:nvSpPr>
        <p:spPr>
          <a:xfrm xmlns:a="http://schemas.openxmlformats.org/drawingml/2006/main">
            <a:off x="7620000" y="2190750"/>
            <a:ext cx="30480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CE4EA"/>
            </a:solidFill>
          </a:ln>
        </p:spPr>
      </p:sp>
      <p:sp>
        <p:nvSpPr>
          <p:cNvPr id="12" name="">
            <a:extLst xmlns:a="http://schemas.openxmlformats.org/drawingml/2006/main">
              <a:ext uri="{FF2B5EF4-FFF2-40B4-BE49-F238E27FC236}">
                <a16:creationId xmlns:a16="http://schemas.microsoft.com/office/drawing/2014/main" id="{3995CC5E-2C41-4337-BE81-5EDE2138E147}"/>
              </a:ext>
            </a:extLst>
          </p:cNvPr>
          <p:cNvSpPr>
            <a:spLocks xmlns:a="http://schemas.openxmlformats.org/drawingml/2006/main" noGrp="1"/>
          </p:cNvSpPr>
          <p:nvPr/>
        </p:nvSpPr>
        <p:spPr>
          <a:xfrm xmlns:a="http://schemas.openxmlformats.org/drawingml/2006/main">
            <a:off x="7810500" y="234315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Human verification</a:t>
            </a:r>
          </a:p>
        </p:txBody>
      </p:sp>
      <p:sp>
        <p:nvSpPr>
          <p:cNvPr id="13" name="">
            <a:extLst xmlns:a="http://schemas.openxmlformats.org/drawingml/2006/main">
              <a:ext uri="{FF2B5EF4-FFF2-40B4-BE49-F238E27FC236}">
                <a16:creationId xmlns:a16="http://schemas.microsoft.com/office/drawing/2014/main" id="{5047EF12-8E17-4BD0-8E8E-DF437495C79A}"/>
              </a:ext>
            </a:extLst>
          </p:cNvPr>
          <p:cNvSpPr>
            <a:spLocks xmlns:a="http://schemas.openxmlformats.org/drawingml/2006/main" noGrp="1"/>
          </p:cNvSpPr>
          <p:nvPr/>
        </p:nvSpPr>
        <p:spPr>
          <a:xfrm xmlns:a="http://schemas.openxmlformats.org/drawingml/2006/main">
            <a:off x="7810500" y="2790825"/>
            <a:ext cx="2667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Identity check</a:t>
            </a:r>
          </a:p>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Source-backed correction</a:t>
            </a:r>
          </a:p>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Approve or exclude</a:t>
            </a:r>
          </a:p>
        </p:txBody>
      </p:sp>
      <p:sp>
        <p:nvSpPr>
          <p:cNvPr id="14" name="">
            <a:extLst xmlns:a="http://schemas.openxmlformats.org/drawingml/2006/main">
              <a:ext uri="{FF2B5EF4-FFF2-40B4-BE49-F238E27FC236}">
                <a16:creationId xmlns:a16="http://schemas.microsoft.com/office/drawing/2014/main" id="{93561B7D-1103-4529-A117-F0A830E653B3}"/>
              </a:ext>
            </a:extLst>
          </p:cNvPr>
          <p:cNvSpPr>
            <a:spLocks xmlns:a="http://schemas.openxmlformats.org/drawingml/2006/main" noGrp="1"/>
          </p:cNvSpPr>
          <p:nvPr/>
        </p:nvSpPr>
        <p:spPr>
          <a:xfrm xmlns:a="http://schemas.openxmlformats.org/drawingml/2006/main">
            <a:off x="10715625" y="3048000"/>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7A76"/>
                </a:solidFill>
                <a:latin typeface="Inter"/>
                <a:ea typeface="Inter"/>
                <a:cs typeface="Inter"/>
              </a:defRPr>
            </a:pPr>
            <a:r>
              <a:rPr sz="3000" b="1">
                <a:solidFill>
                  <a:srgbClr val="137A76"/>
                </a:solidFill>
                <a:latin typeface="Inter"/>
                <a:ea typeface="Inter"/>
                <a:cs typeface="Inter"/>
              </a:rPr>
              <a:t>→</a:t>
            </a:r>
          </a:p>
        </p:txBody>
      </p:sp>
      <p:sp>
        <p:nvSpPr>
          <p:cNvPr id="15" name="">
            <a:extLst xmlns:a="http://schemas.openxmlformats.org/drawingml/2006/main">
              <a:ext uri="{FF2B5EF4-FFF2-40B4-BE49-F238E27FC236}">
                <a16:creationId xmlns:a16="http://schemas.microsoft.com/office/drawing/2014/main" id="{5E4905F3-B937-4CD8-AC4E-635359A8062F}"/>
              </a:ext>
            </a:extLst>
          </p:cNvPr>
          <p:cNvSpPr>
            <a:spLocks xmlns:a="http://schemas.openxmlformats.org/drawingml/2006/main" noGrp="1"/>
          </p:cNvSpPr>
          <p:nvPr/>
        </p:nvSpPr>
        <p:spPr>
          <a:xfrm xmlns:a="http://schemas.openxmlformats.org/drawingml/2006/main">
            <a:off x="11144250" y="2190750"/>
            <a:ext cx="30480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CE4EA"/>
            </a:solidFill>
          </a:ln>
        </p:spPr>
      </p:sp>
      <p:sp>
        <p:nvSpPr>
          <p:cNvPr id="16" name="">
            <a:extLst xmlns:a="http://schemas.openxmlformats.org/drawingml/2006/main">
              <a:ext uri="{FF2B5EF4-FFF2-40B4-BE49-F238E27FC236}">
                <a16:creationId xmlns:a16="http://schemas.microsoft.com/office/drawing/2014/main" id="{25A57E97-A63E-43FE-91EC-8130394D51E6}"/>
              </a:ext>
            </a:extLst>
          </p:cNvPr>
          <p:cNvSpPr>
            <a:spLocks xmlns:a="http://schemas.openxmlformats.org/drawingml/2006/main" noGrp="1"/>
          </p:cNvSpPr>
          <p:nvPr/>
        </p:nvSpPr>
        <p:spPr>
          <a:xfrm xmlns:a="http://schemas.openxmlformats.org/drawingml/2006/main">
            <a:off x="11334750" y="234315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Longitudinal vault</a:t>
            </a:r>
          </a:p>
        </p:txBody>
      </p:sp>
      <p:sp>
        <p:nvSpPr>
          <p:cNvPr id="17" name="">
            <a:extLst xmlns:a="http://schemas.openxmlformats.org/drawingml/2006/main">
              <a:ext uri="{FF2B5EF4-FFF2-40B4-BE49-F238E27FC236}">
                <a16:creationId xmlns:a16="http://schemas.microsoft.com/office/drawing/2014/main" id="{E173904E-E3D3-4516-A263-D6F6E67A43E2}"/>
              </a:ext>
            </a:extLst>
          </p:cNvPr>
          <p:cNvSpPr>
            <a:spLocks xmlns:a="http://schemas.openxmlformats.org/drawingml/2006/main" noGrp="1"/>
          </p:cNvSpPr>
          <p:nvPr/>
        </p:nvSpPr>
        <p:spPr>
          <a:xfrm xmlns:a="http://schemas.openxmlformats.org/drawingml/2006/main">
            <a:off x="11334750" y="2790825"/>
            <a:ext cx="2667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Versioned approved facts</a:t>
            </a:r>
          </a:p>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Append-only JSON events</a:t>
            </a:r>
          </a:p>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Original source links</a:t>
            </a:r>
          </a:p>
        </p:txBody>
      </p:sp>
      <p:sp>
        <p:nvSpPr>
          <p:cNvPr id="18" name="">
            <a:extLst xmlns:a="http://schemas.openxmlformats.org/drawingml/2006/main">
              <a:ext uri="{FF2B5EF4-FFF2-40B4-BE49-F238E27FC236}">
                <a16:creationId xmlns:a16="http://schemas.microsoft.com/office/drawing/2014/main" id="{E8A5E9B7-8B09-42BF-ADB3-3613AF373398}"/>
              </a:ext>
            </a:extLst>
          </p:cNvPr>
          <p:cNvSpPr>
            <a:spLocks xmlns:a="http://schemas.openxmlformats.org/drawingml/2006/main" noGrp="1"/>
          </p:cNvSpPr>
          <p:nvPr/>
        </p:nvSpPr>
        <p:spPr>
          <a:xfrm xmlns:a="http://schemas.openxmlformats.org/drawingml/2006/main">
            <a:off x="14239875" y="3048000"/>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7A76"/>
                </a:solidFill>
                <a:latin typeface="Inter"/>
                <a:ea typeface="Inter"/>
                <a:cs typeface="Inter"/>
              </a:defRPr>
            </a:pPr>
            <a:r>
              <a:rPr sz="3000" b="1">
                <a:solidFill>
                  <a:srgbClr val="137A76"/>
                </a:solidFill>
                <a:latin typeface="Inter"/>
                <a:ea typeface="Inter"/>
                <a:cs typeface="Inter"/>
              </a:rPr>
              <a:t>→</a:t>
            </a:r>
          </a:p>
        </p:txBody>
      </p:sp>
      <p:sp>
        <p:nvSpPr>
          <p:cNvPr id="19" name="">
            <a:extLst xmlns:a="http://schemas.openxmlformats.org/drawingml/2006/main">
              <a:ext uri="{FF2B5EF4-FFF2-40B4-BE49-F238E27FC236}">
                <a16:creationId xmlns:a16="http://schemas.microsoft.com/office/drawing/2014/main" id="{309128E0-EC0C-441A-A082-20AC4E7DCD06}"/>
              </a:ext>
            </a:extLst>
          </p:cNvPr>
          <p:cNvSpPr>
            <a:spLocks xmlns:a="http://schemas.openxmlformats.org/drawingml/2006/main" noGrp="1"/>
          </p:cNvSpPr>
          <p:nvPr/>
        </p:nvSpPr>
        <p:spPr>
          <a:xfrm xmlns:a="http://schemas.openxmlformats.org/drawingml/2006/main">
            <a:off x="14668500" y="2190750"/>
            <a:ext cx="30480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CE4EA"/>
            </a:solidFill>
          </a:ln>
        </p:spPr>
      </p:sp>
      <p:sp>
        <p:nvSpPr>
          <p:cNvPr id="20" name="">
            <a:extLst xmlns:a="http://schemas.openxmlformats.org/drawingml/2006/main">
              <a:ext uri="{FF2B5EF4-FFF2-40B4-BE49-F238E27FC236}">
                <a16:creationId xmlns:a16="http://schemas.microsoft.com/office/drawing/2014/main" id="{B0A3E8C3-BC46-40C0-A499-BA62165B948C}"/>
              </a:ext>
            </a:extLst>
          </p:cNvPr>
          <p:cNvSpPr>
            <a:spLocks xmlns:a="http://schemas.openxmlformats.org/drawingml/2006/main" noGrp="1"/>
          </p:cNvSpPr>
          <p:nvPr/>
        </p:nvSpPr>
        <p:spPr>
          <a:xfrm xmlns:a="http://schemas.openxmlformats.org/drawingml/2006/main">
            <a:off x="14859000" y="234315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Doctor dashboard</a:t>
            </a:r>
          </a:p>
        </p:txBody>
      </p:sp>
      <p:sp>
        <p:nvSpPr>
          <p:cNvPr id="21" name="">
            <a:extLst xmlns:a="http://schemas.openxmlformats.org/drawingml/2006/main">
              <a:ext uri="{FF2B5EF4-FFF2-40B4-BE49-F238E27FC236}">
                <a16:creationId xmlns:a16="http://schemas.microsoft.com/office/drawing/2014/main" id="{966D2E18-1CB2-4F65-8D36-A7CCBC175CF3}"/>
              </a:ext>
            </a:extLst>
          </p:cNvPr>
          <p:cNvSpPr>
            <a:spLocks xmlns:a="http://schemas.openxmlformats.org/drawingml/2006/main" noGrp="1"/>
          </p:cNvSpPr>
          <p:nvPr/>
        </p:nvSpPr>
        <p:spPr>
          <a:xfrm xmlns:a="http://schemas.openxmlformats.org/drawingml/2006/main">
            <a:off x="14859000" y="2790825"/>
            <a:ext cx="2667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Progression + medications</a:t>
            </a:r>
          </a:p>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Patient reports + flags</a:t>
            </a:r>
          </a:p>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Inspect source / export</a:t>
            </a:r>
          </a:p>
        </p:txBody>
      </p:sp>
      <p:sp>
        <p:nvSpPr>
          <p:cNvPr id="22" name="">
            <a:extLst xmlns:a="http://schemas.openxmlformats.org/drawingml/2006/main">
              <a:ext uri="{FF2B5EF4-FFF2-40B4-BE49-F238E27FC236}">
                <a16:creationId xmlns:a16="http://schemas.microsoft.com/office/drawing/2014/main" id="{DC79737F-BED8-404C-9768-CDD57D711E99}"/>
              </a:ext>
            </a:extLst>
          </p:cNvPr>
          <p:cNvSpPr>
            <a:spLocks xmlns:a="http://schemas.openxmlformats.org/drawingml/2006/main" noGrp="1"/>
          </p:cNvSpPr>
          <p:nvPr/>
        </p:nvSpPr>
        <p:spPr>
          <a:xfrm xmlns:a="http://schemas.openxmlformats.org/drawingml/2006/main">
            <a:off x="571500" y="4762500"/>
            <a:ext cx="1714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2735"/>
                </a:solidFill>
                <a:latin typeface="Inter"/>
                <a:ea typeface="Inter"/>
                <a:cs typeface="Inter"/>
              </a:defRPr>
            </a:pPr>
            <a:r>
              <a:rPr sz="2025" b="1">
                <a:solidFill>
                  <a:srgbClr val="142735"/>
                </a:solidFill>
                <a:latin typeface="Inter"/>
                <a:ea typeface="Inter"/>
                <a:cs typeface="Inter"/>
              </a:rPr>
              <a:t>Patient reporting uses the same authorized patient record</a:t>
            </a:r>
          </a:p>
        </p:txBody>
      </p:sp>
      <p:sp>
        <p:nvSpPr>
          <p:cNvPr id="23" name="">
            <a:extLst xmlns:a="http://schemas.openxmlformats.org/drawingml/2006/main">
              <a:ext uri="{FF2B5EF4-FFF2-40B4-BE49-F238E27FC236}">
                <a16:creationId xmlns:a16="http://schemas.microsoft.com/office/drawing/2014/main" id="{0A859854-26F5-4C75-A975-212DD4B22DCF}"/>
              </a:ext>
            </a:extLst>
          </p:cNvPr>
          <p:cNvSpPr>
            <a:spLocks xmlns:a="http://schemas.openxmlformats.org/drawingml/2006/main" noGrp="1"/>
          </p:cNvSpPr>
          <p:nvPr/>
        </p:nvSpPr>
        <p:spPr>
          <a:xfrm xmlns:a="http://schemas.openxmlformats.org/drawingml/2006/main">
            <a:off x="571500" y="5429250"/>
            <a:ext cx="30480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CE4EA"/>
            </a:solidFill>
          </a:ln>
        </p:spPr>
      </p:sp>
      <p:sp>
        <p:nvSpPr>
          <p:cNvPr id="24" name="">
            <a:extLst xmlns:a="http://schemas.openxmlformats.org/drawingml/2006/main">
              <a:ext uri="{FF2B5EF4-FFF2-40B4-BE49-F238E27FC236}">
                <a16:creationId xmlns:a16="http://schemas.microsoft.com/office/drawing/2014/main" id="{DE61DA2B-9E3E-4F8B-BA31-9021A3ABF5DB}"/>
              </a:ext>
            </a:extLst>
          </p:cNvPr>
          <p:cNvSpPr>
            <a:spLocks xmlns:a="http://schemas.openxmlformats.org/drawingml/2006/main" noGrp="1"/>
          </p:cNvSpPr>
          <p:nvPr/>
        </p:nvSpPr>
        <p:spPr>
          <a:xfrm xmlns:a="http://schemas.openxmlformats.org/drawingml/2006/main">
            <a:off x="762000" y="558165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Patient app</a:t>
            </a:r>
          </a:p>
        </p:txBody>
      </p:sp>
      <p:sp>
        <p:nvSpPr>
          <p:cNvPr id="25" name="">
            <a:extLst xmlns:a="http://schemas.openxmlformats.org/drawingml/2006/main">
              <a:ext uri="{FF2B5EF4-FFF2-40B4-BE49-F238E27FC236}">
                <a16:creationId xmlns:a16="http://schemas.microsoft.com/office/drawing/2014/main" id="{3E2F9536-8DB4-4767-9548-1A66C5ECCF1B}"/>
              </a:ext>
            </a:extLst>
          </p:cNvPr>
          <p:cNvSpPr>
            <a:spLocks xmlns:a="http://schemas.openxmlformats.org/drawingml/2006/main" noGrp="1"/>
          </p:cNvSpPr>
          <p:nvPr/>
        </p:nvSpPr>
        <p:spPr>
          <a:xfrm xmlns:a="http://schemas.openxmlformats.org/drawingml/2006/main">
            <a:off x="762000" y="6029325"/>
            <a:ext cx="2667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Web or Android</a:t>
            </a:r>
          </a:p>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Home glucose reading</a:t>
            </a:r>
          </a:p>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Problem + severity</a:t>
            </a:r>
          </a:p>
        </p:txBody>
      </p:sp>
      <p:sp>
        <p:nvSpPr>
          <p:cNvPr id="26" name="">
            <a:extLst xmlns:a="http://schemas.openxmlformats.org/drawingml/2006/main">
              <a:ext uri="{FF2B5EF4-FFF2-40B4-BE49-F238E27FC236}">
                <a16:creationId xmlns:a16="http://schemas.microsoft.com/office/drawing/2014/main" id="{B81D9B0F-ACB2-4C7C-8D72-1EFB0FB2EAF4}"/>
              </a:ext>
            </a:extLst>
          </p:cNvPr>
          <p:cNvSpPr>
            <a:spLocks xmlns:a="http://schemas.openxmlformats.org/drawingml/2006/main" noGrp="1"/>
          </p:cNvSpPr>
          <p:nvPr/>
        </p:nvSpPr>
        <p:spPr>
          <a:xfrm xmlns:a="http://schemas.openxmlformats.org/drawingml/2006/main">
            <a:off x="3667125" y="6286500"/>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7A76"/>
                </a:solidFill>
                <a:latin typeface="Inter"/>
                <a:ea typeface="Inter"/>
                <a:cs typeface="Inter"/>
              </a:defRPr>
            </a:pPr>
            <a:r>
              <a:rPr sz="3000" b="1">
                <a:solidFill>
                  <a:srgbClr val="137A76"/>
                </a:solidFill>
                <a:latin typeface="Inter"/>
                <a:ea typeface="Inter"/>
                <a:cs typeface="Inter"/>
              </a:rPr>
              <a:t>→</a:t>
            </a:r>
          </a:p>
        </p:txBody>
      </p:sp>
      <p:sp>
        <p:nvSpPr>
          <p:cNvPr id="27" name="">
            <a:extLst xmlns:a="http://schemas.openxmlformats.org/drawingml/2006/main">
              <a:ext uri="{FF2B5EF4-FFF2-40B4-BE49-F238E27FC236}">
                <a16:creationId xmlns:a16="http://schemas.microsoft.com/office/drawing/2014/main" id="{8A41FFB7-DABC-44A3-9A51-D9412BA77B96}"/>
              </a:ext>
            </a:extLst>
          </p:cNvPr>
          <p:cNvSpPr>
            <a:spLocks xmlns:a="http://schemas.openxmlformats.org/drawingml/2006/main" noGrp="1"/>
          </p:cNvSpPr>
          <p:nvPr/>
        </p:nvSpPr>
        <p:spPr>
          <a:xfrm xmlns:a="http://schemas.openxmlformats.org/drawingml/2006/main">
            <a:off x="4095750" y="5429250"/>
            <a:ext cx="30480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CE4EA"/>
            </a:solidFill>
          </a:ln>
        </p:spPr>
      </p:sp>
      <p:sp>
        <p:nvSpPr>
          <p:cNvPr id="28" name="">
            <a:extLst xmlns:a="http://schemas.openxmlformats.org/drawingml/2006/main">
              <a:ext uri="{FF2B5EF4-FFF2-40B4-BE49-F238E27FC236}">
                <a16:creationId xmlns:a16="http://schemas.microsoft.com/office/drawing/2014/main" id="{3BC7E39E-17AE-4204-9C89-7663B3C3B988}"/>
              </a:ext>
            </a:extLst>
          </p:cNvPr>
          <p:cNvSpPr>
            <a:spLocks xmlns:a="http://schemas.openxmlformats.org/drawingml/2006/main" noGrp="1"/>
          </p:cNvSpPr>
          <p:nvPr/>
        </p:nvSpPr>
        <p:spPr>
          <a:xfrm xmlns:a="http://schemas.openxmlformats.org/drawingml/2006/main">
            <a:off x="4286250" y="558165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Timestamped event</a:t>
            </a:r>
          </a:p>
        </p:txBody>
      </p:sp>
      <p:sp>
        <p:nvSpPr>
          <p:cNvPr id="29" name="">
            <a:extLst xmlns:a="http://schemas.openxmlformats.org/drawingml/2006/main">
              <a:ext uri="{FF2B5EF4-FFF2-40B4-BE49-F238E27FC236}">
                <a16:creationId xmlns:a16="http://schemas.microsoft.com/office/drawing/2014/main" id="{DB4F10AF-64CF-4028-8C23-7CDFF050174A}"/>
              </a:ext>
            </a:extLst>
          </p:cNvPr>
          <p:cNvSpPr>
            <a:spLocks xmlns:a="http://schemas.openxmlformats.org/drawingml/2006/main" noGrp="1"/>
          </p:cNvSpPr>
          <p:nvPr/>
        </p:nvSpPr>
        <p:spPr>
          <a:xfrm xmlns:a="http://schemas.openxmlformats.org/drawingml/2006/main">
            <a:off x="4286250" y="6029325"/>
            <a:ext cx="2667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Patient-reported label</a:t>
            </a:r>
          </a:p>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Medication timing</a:t>
            </a:r>
          </a:p>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Append to vault</a:t>
            </a:r>
          </a:p>
        </p:txBody>
      </p:sp>
      <p:sp>
        <p:nvSpPr>
          <p:cNvPr id="30" name="">
            <a:extLst xmlns:a="http://schemas.openxmlformats.org/drawingml/2006/main">
              <a:ext uri="{FF2B5EF4-FFF2-40B4-BE49-F238E27FC236}">
                <a16:creationId xmlns:a16="http://schemas.microsoft.com/office/drawing/2014/main" id="{658212A9-156E-4428-8264-8B30499FBDDC}"/>
              </a:ext>
            </a:extLst>
          </p:cNvPr>
          <p:cNvSpPr>
            <a:spLocks xmlns:a="http://schemas.openxmlformats.org/drawingml/2006/main" noGrp="1"/>
          </p:cNvSpPr>
          <p:nvPr/>
        </p:nvSpPr>
        <p:spPr>
          <a:xfrm xmlns:a="http://schemas.openxmlformats.org/drawingml/2006/main">
            <a:off x="7191375" y="6286500"/>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7A76"/>
                </a:solidFill>
                <a:latin typeface="Inter"/>
                <a:ea typeface="Inter"/>
                <a:cs typeface="Inter"/>
              </a:defRPr>
            </a:pPr>
            <a:r>
              <a:rPr sz="3000" b="1">
                <a:solidFill>
                  <a:srgbClr val="137A76"/>
                </a:solidFill>
                <a:latin typeface="Inter"/>
                <a:ea typeface="Inter"/>
                <a:cs typeface="Inter"/>
              </a:rPr>
              <a:t>→</a:t>
            </a:r>
          </a:p>
        </p:txBody>
      </p:sp>
      <p:sp>
        <p:nvSpPr>
          <p:cNvPr id="31" name="">
            <a:extLst xmlns:a="http://schemas.openxmlformats.org/drawingml/2006/main">
              <a:ext uri="{FF2B5EF4-FFF2-40B4-BE49-F238E27FC236}">
                <a16:creationId xmlns:a16="http://schemas.microsoft.com/office/drawing/2014/main" id="{F6B99A29-B057-49DE-BBB0-6C3C04DBF49D}"/>
              </a:ext>
            </a:extLst>
          </p:cNvPr>
          <p:cNvSpPr>
            <a:spLocks xmlns:a="http://schemas.openxmlformats.org/drawingml/2006/main" noGrp="1"/>
          </p:cNvSpPr>
          <p:nvPr/>
        </p:nvSpPr>
        <p:spPr>
          <a:xfrm xmlns:a="http://schemas.openxmlformats.org/drawingml/2006/main">
            <a:off x="7620000" y="5429250"/>
            <a:ext cx="30480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CE4EA"/>
            </a:solidFill>
          </a:ln>
        </p:spPr>
      </p:sp>
      <p:sp>
        <p:nvSpPr>
          <p:cNvPr id="32" name="">
            <a:extLst xmlns:a="http://schemas.openxmlformats.org/drawingml/2006/main">
              <a:ext uri="{FF2B5EF4-FFF2-40B4-BE49-F238E27FC236}">
                <a16:creationId xmlns:a16="http://schemas.microsoft.com/office/drawing/2014/main" id="{476EEC4C-F2F9-43DB-8F51-424FE94BA81C}"/>
              </a:ext>
            </a:extLst>
          </p:cNvPr>
          <p:cNvSpPr>
            <a:spLocks xmlns:a="http://schemas.openxmlformats.org/drawingml/2006/main" noGrp="1"/>
          </p:cNvSpPr>
          <p:nvPr/>
        </p:nvSpPr>
        <p:spPr>
          <a:xfrm xmlns:a="http://schemas.openxmlformats.org/drawingml/2006/main">
            <a:off x="7810500" y="558165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Tracking engine</a:t>
            </a:r>
          </a:p>
        </p:txBody>
      </p:sp>
      <p:sp>
        <p:nvSpPr>
          <p:cNvPr id="33" name="">
            <a:extLst xmlns:a="http://schemas.openxmlformats.org/drawingml/2006/main">
              <a:ext uri="{FF2B5EF4-FFF2-40B4-BE49-F238E27FC236}">
                <a16:creationId xmlns:a16="http://schemas.microsoft.com/office/drawing/2014/main" id="{E2DB6FC1-DB9A-4336-B043-514241ECDACD}"/>
              </a:ext>
            </a:extLst>
          </p:cNvPr>
          <p:cNvSpPr>
            <a:spLocks xmlns:a="http://schemas.openxmlformats.org/drawingml/2006/main" noGrp="1"/>
          </p:cNvSpPr>
          <p:nvPr/>
        </p:nvSpPr>
        <p:spPr>
          <a:xfrm xmlns:a="http://schemas.openxmlformats.org/drawingml/2006/main">
            <a:off x="7810500" y="6029325"/>
            <a:ext cx="2667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Recorded review dates</a:t>
            </a:r>
          </a:p>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Clinician-set intervals</a:t>
            </a:r>
          </a:p>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Unresolved report fields</a:t>
            </a:r>
          </a:p>
        </p:txBody>
      </p:sp>
      <p:sp>
        <p:nvSpPr>
          <p:cNvPr id="34" name="">
            <a:extLst xmlns:a="http://schemas.openxmlformats.org/drawingml/2006/main">
              <a:ext uri="{FF2B5EF4-FFF2-40B4-BE49-F238E27FC236}">
                <a16:creationId xmlns:a16="http://schemas.microsoft.com/office/drawing/2014/main" id="{BA97F6D9-4437-44A9-A0B9-99F42A5DA6C2}"/>
              </a:ext>
            </a:extLst>
          </p:cNvPr>
          <p:cNvSpPr>
            <a:spLocks xmlns:a="http://schemas.openxmlformats.org/drawingml/2006/main" noGrp="1"/>
          </p:cNvSpPr>
          <p:nvPr/>
        </p:nvSpPr>
        <p:spPr>
          <a:xfrm xmlns:a="http://schemas.openxmlformats.org/drawingml/2006/main">
            <a:off x="10715625" y="6286500"/>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7A76"/>
                </a:solidFill>
                <a:latin typeface="Inter"/>
                <a:ea typeface="Inter"/>
                <a:cs typeface="Inter"/>
              </a:defRPr>
            </a:pPr>
            <a:r>
              <a:rPr sz="3000" b="1">
                <a:solidFill>
                  <a:srgbClr val="137A76"/>
                </a:solidFill>
                <a:latin typeface="Inter"/>
                <a:ea typeface="Inter"/>
                <a:cs typeface="Inter"/>
              </a:rPr>
              <a:t>→</a:t>
            </a:r>
          </a:p>
        </p:txBody>
      </p:sp>
      <p:sp>
        <p:nvSpPr>
          <p:cNvPr id="35" name="">
            <a:extLst xmlns:a="http://schemas.openxmlformats.org/drawingml/2006/main">
              <a:ext uri="{FF2B5EF4-FFF2-40B4-BE49-F238E27FC236}">
                <a16:creationId xmlns:a16="http://schemas.microsoft.com/office/drawing/2014/main" id="{E5D4023F-B31F-465B-B9D0-24FF8F4D74B5}"/>
              </a:ext>
            </a:extLst>
          </p:cNvPr>
          <p:cNvSpPr>
            <a:spLocks xmlns:a="http://schemas.openxmlformats.org/drawingml/2006/main" noGrp="1"/>
          </p:cNvSpPr>
          <p:nvPr/>
        </p:nvSpPr>
        <p:spPr>
          <a:xfrm xmlns:a="http://schemas.openxmlformats.org/drawingml/2006/main">
            <a:off x="11144250" y="5429250"/>
            <a:ext cx="30480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CE4EA"/>
            </a:solidFill>
          </a:ln>
        </p:spPr>
      </p:sp>
      <p:sp>
        <p:nvSpPr>
          <p:cNvPr id="36" name="">
            <a:extLst xmlns:a="http://schemas.openxmlformats.org/drawingml/2006/main">
              <a:ext uri="{FF2B5EF4-FFF2-40B4-BE49-F238E27FC236}">
                <a16:creationId xmlns:a16="http://schemas.microsoft.com/office/drawing/2014/main" id="{6E961ACB-7ABA-45AE-9BD0-E60987606813}"/>
              </a:ext>
            </a:extLst>
          </p:cNvPr>
          <p:cNvSpPr>
            <a:spLocks xmlns:a="http://schemas.openxmlformats.org/drawingml/2006/main" noGrp="1"/>
          </p:cNvSpPr>
          <p:nvPr/>
        </p:nvSpPr>
        <p:spPr>
          <a:xfrm xmlns:a="http://schemas.openxmlformats.org/drawingml/2006/main">
            <a:off x="11334750" y="558165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Clinic review</a:t>
            </a:r>
          </a:p>
        </p:txBody>
      </p:sp>
      <p:sp>
        <p:nvSpPr>
          <p:cNvPr id="37" name="">
            <a:extLst xmlns:a="http://schemas.openxmlformats.org/drawingml/2006/main">
              <a:ext uri="{FF2B5EF4-FFF2-40B4-BE49-F238E27FC236}">
                <a16:creationId xmlns:a16="http://schemas.microsoft.com/office/drawing/2014/main" id="{C29A91E9-FA7B-4DAF-AA7C-48C4F88EF8CB}"/>
              </a:ext>
            </a:extLst>
          </p:cNvPr>
          <p:cNvSpPr>
            <a:spLocks xmlns:a="http://schemas.openxmlformats.org/drawingml/2006/main" noGrp="1"/>
          </p:cNvSpPr>
          <p:nvPr/>
        </p:nvSpPr>
        <p:spPr>
          <a:xfrm xmlns:a="http://schemas.openxmlformats.org/drawingml/2006/main">
            <a:off x="11334750" y="6029325"/>
            <a:ext cx="2667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Screening-date entry</a:t>
            </a:r>
          </a:p>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Manual care category</a:t>
            </a:r>
          </a:p>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Snapshot acknowledgement</a:t>
            </a:r>
          </a:p>
        </p:txBody>
      </p:sp>
      <p:sp>
        <p:nvSpPr>
          <p:cNvPr id="38" name="">
            <a:extLst xmlns:a="http://schemas.openxmlformats.org/drawingml/2006/main">
              <a:ext uri="{FF2B5EF4-FFF2-40B4-BE49-F238E27FC236}">
                <a16:creationId xmlns:a16="http://schemas.microsoft.com/office/drawing/2014/main" id="{4AAB928E-6C5E-4D92-90C0-1732360EB08E}"/>
              </a:ext>
            </a:extLst>
          </p:cNvPr>
          <p:cNvSpPr>
            <a:spLocks xmlns:a="http://schemas.openxmlformats.org/drawingml/2006/main" noGrp="1"/>
          </p:cNvSpPr>
          <p:nvPr/>
        </p:nvSpPr>
        <p:spPr>
          <a:xfrm xmlns:a="http://schemas.openxmlformats.org/drawingml/2006/main">
            <a:off x="14239875" y="6286500"/>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7A76"/>
                </a:solidFill>
                <a:latin typeface="Inter"/>
                <a:ea typeface="Inter"/>
                <a:cs typeface="Inter"/>
              </a:defRPr>
            </a:pPr>
            <a:r>
              <a:rPr sz="3000" b="1">
                <a:solidFill>
                  <a:srgbClr val="137A76"/>
                </a:solidFill>
                <a:latin typeface="Inter"/>
                <a:ea typeface="Inter"/>
                <a:cs typeface="Inter"/>
              </a:rPr>
              <a:t>→</a:t>
            </a:r>
          </a:p>
        </p:txBody>
      </p:sp>
      <p:sp>
        <p:nvSpPr>
          <p:cNvPr id="39" name="">
            <a:extLst xmlns:a="http://schemas.openxmlformats.org/drawingml/2006/main">
              <a:ext uri="{FF2B5EF4-FFF2-40B4-BE49-F238E27FC236}">
                <a16:creationId xmlns:a16="http://schemas.microsoft.com/office/drawing/2014/main" id="{64A4D2BD-C098-4DF2-B825-9ADBF73CE912}"/>
              </a:ext>
            </a:extLst>
          </p:cNvPr>
          <p:cNvSpPr>
            <a:spLocks xmlns:a="http://schemas.openxmlformats.org/drawingml/2006/main" noGrp="1"/>
          </p:cNvSpPr>
          <p:nvPr/>
        </p:nvSpPr>
        <p:spPr>
          <a:xfrm xmlns:a="http://schemas.openxmlformats.org/drawingml/2006/main">
            <a:off x="14668500" y="5429250"/>
            <a:ext cx="30480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CE4EA"/>
            </a:solidFill>
          </a:ln>
        </p:spPr>
      </p:sp>
      <p:sp>
        <p:nvSpPr>
          <p:cNvPr id="40" name="">
            <a:extLst xmlns:a="http://schemas.openxmlformats.org/drawingml/2006/main">
              <a:ext uri="{FF2B5EF4-FFF2-40B4-BE49-F238E27FC236}">
                <a16:creationId xmlns:a16="http://schemas.microsoft.com/office/drawing/2014/main" id="{9C12FD7D-EA50-4568-9607-915C7E593F03}"/>
              </a:ext>
            </a:extLst>
          </p:cNvPr>
          <p:cNvSpPr>
            <a:spLocks xmlns:a="http://schemas.openxmlformats.org/drawingml/2006/main" noGrp="1"/>
          </p:cNvSpPr>
          <p:nvPr/>
        </p:nvSpPr>
        <p:spPr>
          <a:xfrm xmlns:a="http://schemas.openxmlformats.org/drawingml/2006/main">
            <a:off x="14859000" y="558165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Visit overview</a:t>
            </a:r>
          </a:p>
        </p:txBody>
      </p:sp>
      <p:sp>
        <p:nvSpPr>
          <p:cNvPr id="41" name="">
            <a:extLst xmlns:a="http://schemas.openxmlformats.org/drawingml/2006/main">
              <a:ext uri="{FF2B5EF4-FFF2-40B4-BE49-F238E27FC236}">
                <a16:creationId xmlns:a16="http://schemas.microsoft.com/office/drawing/2014/main" id="{18BB5686-F930-4DA2-AE23-E63C932A929A}"/>
              </a:ext>
            </a:extLst>
          </p:cNvPr>
          <p:cNvSpPr>
            <a:spLocks xmlns:a="http://schemas.openxmlformats.org/drawingml/2006/main" noGrp="1"/>
          </p:cNvSpPr>
          <p:nvPr/>
        </p:nvSpPr>
        <p:spPr>
          <a:xfrm xmlns:a="http://schemas.openxmlformats.org/drawingml/2006/main">
            <a:off x="14859000" y="6029325"/>
            <a:ext cx="2667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Synchronized context</a:t>
            </a:r>
          </a:p>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Physician interpretation</a:t>
            </a:r>
          </a:p>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PDF visit summary</a:t>
            </a:r>
          </a:p>
        </p:txBody>
      </p:sp>
      <p:sp>
        <p:nvSpPr>
          <p:cNvPr id="42" name="">
            <a:extLst xmlns:a="http://schemas.openxmlformats.org/drawingml/2006/main">
              <a:ext uri="{FF2B5EF4-FFF2-40B4-BE49-F238E27FC236}">
                <a16:creationId xmlns:a16="http://schemas.microsoft.com/office/drawing/2014/main" id="{503BC06B-B28C-4B46-B9A9-1A715D7F6409}"/>
              </a:ext>
            </a:extLst>
          </p:cNvPr>
          <p:cNvSpPr>
            <a:spLocks xmlns:a="http://schemas.openxmlformats.org/drawingml/2006/main" noGrp="1"/>
          </p:cNvSpPr>
          <p:nvPr/>
        </p:nvSpPr>
        <p:spPr>
          <a:xfrm xmlns:a="http://schemas.openxmlformats.org/drawingml/2006/main">
            <a:off x="571500" y="8191500"/>
            <a:ext cx="5143500" cy="1285875"/>
          </a:xfrm>
          <a:prstGeom xmlns:a="http://schemas.openxmlformats.org/drawingml/2006/main" prst="roundRect">
            <a:avLst>
              <a:gd name="adj" fmla="val 5926"/>
            </a:avLst>
          </a:prstGeom>
          <a:solidFill xmlns:a="http://schemas.openxmlformats.org/drawingml/2006/main">
            <a:srgbClr val="FFFFFF"/>
          </a:solidFill>
          <a:ln xmlns:a="http://schemas.openxmlformats.org/drawingml/2006/main" w="9525">
            <a:solidFill>
              <a:srgbClr val="DCE4EA"/>
            </a:solidFill>
          </a:ln>
        </p:spPr>
      </p:sp>
      <p:sp>
        <p:nvSpPr>
          <p:cNvPr id="43" name="">
            <a:extLst xmlns:a="http://schemas.openxmlformats.org/drawingml/2006/main">
              <a:ext uri="{FF2B5EF4-FFF2-40B4-BE49-F238E27FC236}">
                <a16:creationId xmlns:a16="http://schemas.microsoft.com/office/drawing/2014/main" id="{CF9E956F-9A75-437D-8072-188AB3F036C9}"/>
              </a:ext>
            </a:extLst>
          </p:cNvPr>
          <p:cNvSpPr>
            <a:spLocks xmlns:a="http://schemas.openxmlformats.org/drawingml/2006/main" noGrp="1"/>
          </p:cNvSpPr>
          <p:nvPr/>
        </p:nvSpPr>
        <p:spPr>
          <a:xfrm xmlns:a="http://schemas.openxmlformats.org/drawingml/2006/main">
            <a:off x="762000" y="83439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CC2453"/>
                </a:solidFill>
                <a:latin typeface="Inter"/>
                <a:ea typeface="Inter"/>
                <a:cs typeface="Inter"/>
              </a:defRPr>
            </a:pPr>
            <a:r>
              <a:rPr sz="1725" b="1">
                <a:solidFill>
                  <a:srgbClr val="CC2453"/>
                </a:solidFill>
                <a:latin typeface="Inter"/>
                <a:ea typeface="Inter"/>
                <a:cs typeface="Inter"/>
              </a:rPr>
              <a:t>One-tap SOS</a:t>
            </a:r>
          </a:p>
        </p:txBody>
      </p:sp>
      <p:sp>
        <p:nvSpPr>
          <p:cNvPr id="44" name="">
            <a:extLst xmlns:a="http://schemas.openxmlformats.org/drawingml/2006/main">
              <a:ext uri="{FF2B5EF4-FFF2-40B4-BE49-F238E27FC236}">
                <a16:creationId xmlns:a16="http://schemas.microsoft.com/office/drawing/2014/main" id="{AC75DCB5-E7ED-4641-BFDE-7191B1EF276D}"/>
              </a:ext>
            </a:extLst>
          </p:cNvPr>
          <p:cNvSpPr>
            <a:spLocks xmlns:a="http://schemas.openxmlformats.org/drawingml/2006/main" noGrp="1"/>
          </p:cNvSpPr>
          <p:nvPr/>
        </p:nvSpPr>
        <p:spPr>
          <a:xfrm xmlns:a="http://schemas.openxmlformats.org/drawingml/2006/main">
            <a:off x="762000" y="87915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Freeze history + home events</a:t>
            </a:r>
          </a:p>
        </p:txBody>
      </p:sp>
      <p:sp>
        <p:nvSpPr>
          <p:cNvPr id="45" name="">
            <a:extLst xmlns:a="http://schemas.openxmlformats.org/drawingml/2006/main">
              <a:ext uri="{FF2B5EF4-FFF2-40B4-BE49-F238E27FC236}">
                <a16:creationId xmlns:a16="http://schemas.microsoft.com/office/drawing/2014/main" id="{2236EAF8-1425-4D61-BE7F-85244F1CD4DE}"/>
              </a:ext>
            </a:extLst>
          </p:cNvPr>
          <p:cNvSpPr>
            <a:spLocks xmlns:a="http://schemas.openxmlformats.org/drawingml/2006/main" noGrp="1"/>
          </p:cNvSpPr>
          <p:nvPr/>
        </p:nvSpPr>
        <p:spPr>
          <a:xfrm xmlns:a="http://schemas.openxmlformats.org/drawingml/2006/main">
            <a:off x="5810250" y="85534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CC2453"/>
                </a:solidFill>
                <a:latin typeface="Inter"/>
                <a:ea typeface="Inter"/>
                <a:cs typeface="Inter"/>
              </a:defRPr>
            </a:pPr>
            <a:r>
              <a:rPr sz="3000" b="1">
                <a:solidFill>
                  <a:srgbClr val="CC2453"/>
                </a:solidFill>
                <a:latin typeface="Inter"/>
                <a:ea typeface="Inter"/>
                <a:cs typeface="Inter"/>
              </a:rPr>
              <a:t>→</a:t>
            </a:r>
          </a:p>
        </p:txBody>
      </p:sp>
      <p:sp>
        <p:nvSpPr>
          <p:cNvPr id="46" name="">
            <a:extLst xmlns:a="http://schemas.openxmlformats.org/drawingml/2006/main">
              <a:ext uri="{FF2B5EF4-FFF2-40B4-BE49-F238E27FC236}">
                <a16:creationId xmlns:a16="http://schemas.microsoft.com/office/drawing/2014/main" id="{961F9CAE-8347-4211-B86B-CB0BF8DEE69E}"/>
              </a:ext>
            </a:extLst>
          </p:cNvPr>
          <p:cNvSpPr>
            <a:spLocks xmlns:a="http://schemas.openxmlformats.org/drawingml/2006/main" noGrp="1"/>
          </p:cNvSpPr>
          <p:nvPr/>
        </p:nvSpPr>
        <p:spPr>
          <a:xfrm xmlns:a="http://schemas.openxmlformats.org/drawingml/2006/main">
            <a:off x="6477000" y="8191500"/>
            <a:ext cx="5143500" cy="1285875"/>
          </a:xfrm>
          <a:prstGeom xmlns:a="http://schemas.openxmlformats.org/drawingml/2006/main" prst="roundRect">
            <a:avLst>
              <a:gd name="adj" fmla="val 5926"/>
            </a:avLst>
          </a:prstGeom>
          <a:solidFill xmlns:a="http://schemas.openxmlformats.org/drawingml/2006/main">
            <a:srgbClr val="FFFFFF"/>
          </a:solidFill>
          <a:ln xmlns:a="http://schemas.openxmlformats.org/drawingml/2006/main" w="9525">
            <a:solidFill>
              <a:srgbClr val="DCE4EA"/>
            </a:solidFill>
          </a:ln>
        </p:spPr>
      </p:sp>
      <p:sp>
        <p:nvSpPr>
          <p:cNvPr id="47" name="">
            <a:extLst xmlns:a="http://schemas.openxmlformats.org/drawingml/2006/main">
              <a:ext uri="{FF2B5EF4-FFF2-40B4-BE49-F238E27FC236}">
                <a16:creationId xmlns:a16="http://schemas.microsoft.com/office/drawing/2014/main" id="{38A6408F-7395-4C97-84A1-247FAC6482D2}"/>
              </a:ext>
            </a:extLst>
          </p:cNvPr>
          <p:cNvSpPr>
            <a:spLocks xmlns:a="http://schemas.openxmlformats.org/drawingml/2006/main" noGrp="1"/>
          </p:cNvSpPr>
          <p:nvPr/>
        </p:nvSpPr>
        <p:spPr>
          <a:xfrm xmlns:a="http://schemas.openxmlformats.org/drawingml/2006/main">
            <a:off x="6667500" y="83439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CC2453"/>
                </a:solidFill>
                <a:latin typeface="Inter"/>
                <a:ea typeface="Inter"/>
                <a:cs typeface="Inter"/>
              </a:defRPr>
            </a:pPr>
            <a:r>
              <a:rPr sz="1725" b="1">
                <a:solidFill>
                  <a:srgbClr val="CC2453"/>
                </a:solidFill>
                <a:latin typeface="Inter"/>
                <a:ea typeface="Inter"/>
                <a:cs typeface="Inter"/>
              </a:rPr>
              <a:t>Frozen snapshot</a:t>
            </a:r>
          </a:p>
        </p:txBody>
      </p:sp>
      <p:sp>
        <p:nvSpPr>
          <p:cNvPr id="48" name="">
            <a:extLst xmlns:a="http://schemas.openxmlformats.org/drawingml/2006/main">
              <a:ext uri="{FF2B5EF4-FFF2-40B4-BE49-F238E27FC236}">
                <a16:creationId xmlns:a16="http://schemas.microsoft.com/office/drawing/2014/main" id="{F622BA3C-3D09-4A9D-B574-B3AA39E563D2}"/>
              </a:ext>
            </a:extLst>
          </p:cNvPr>
          <p:cNvSpPr>
            <a:spLocks xmlns:a="http://schemas.openxmlformats.org/drawingml/2006/main" noGrp="1"/>
          </p:cNvSpPr>
          <p:nvPr/>
        </p:nvSpPr>
        <p:spPr>
          <a:xfrm xmlns:a="http://schemas.openxmlformats.org/drawingml/2006/main">
            <a:off x="6667500" y="87915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JSON payload + SHA-256 digest</a:t>
            </a:r>
          </a:p>
        </p:txBody>
      </p:sp>
      <p:sp>
        <p:nvSpPr>
          <p:cNvPr id="49" name="">
            <a:extLst xmlns:a="http://schemas.openxmlformats.org/drawingml/2006/main">
              <a:ext uri="{FF2B5EF4-FFF2-40B4-BE49-F238E27FC236}">
                <a16:creationId xmlns:a16="http://schemas.microsoft.com/office/drawing/2014/main" id="{0687FD0F-2443-4787-9A28-2EC11C6705FB}"/>
              </a:ext>
            </a:extLst>
          </p:cNvPr>
          <p:cNvSpPr>
            <a:spLocks xmlns:a="http://schemas.openxmlformats.org/drawingml/2006/main" noGrp="1"/>
          </p:cNvSpPr>
          <p:nvPr/>
        </p:nvSpPr>
        <p:spPr>
          <a:xfrm xmlns:a="http://schemas.openxmlformats.org/drawingml/2006/main">
            <a:off x="11715750" y="85534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CC2453"/>
                </a:solidFill>
                <a:latin typeface="Inter"/>
                <a:ea typeface="Inter"/>
                <a:cs typeface="Inter"/>
              </a:defRPr>
            </a:pPr>
            <a:r>
              <a:rPr sz="3000" b="1">
                <a:solidFill>
                  <a:srgbClr val="CC2453"/>
                </a:solidFill>
                <a:latin typeface="Inter"/>
                <a:ea typeface="Inter"/>
                <a:cs typeface="Inter"/>
              </a:rPr>
              <a:t>→</a:t>
            </a:r>
          </a:p>
        </p:txBody>
      </p:sp>
      <p:sp>
        <p:nvSpPr>
          <p:cNvPr id="50" name="">
            <a:extLst xmlns:a="http://schemas.openxmlformats.org/drawingml/2006/main">
              <a:ext uri="{FF2B5EF4-FFF2-40B4-BE49-F238E27FC236}">
                <a16:creationId xmlns:a16="http://schemas.microsoft.com/office/drawing/2014/main" id="{44D10925-278B-4879-BA86-C8747F6FB2AB}"/>
              </a:ext>
            </a:extLst>
          </p:cNvPr>
          <p:cNvSpPr>
            <a:spLocks xmlns:a="http://schemas.openxmlformats.org/drawingml/2006/main" noGrp="1"/>
          </p:cNvSpPr>
          <p:nvPr/>
        </p:nvSpPr>
        <p:spPr>
          <a:xfrm xmlns:a="http://schemas.openxmlformats.org/drawingml/2006/main">
            <a:off x="12382500" y="8191500"/>
            <a:ext cx="5334000" cy="1285875"/>
          </a:xfrm>
          <a:prstGeom xmlns:a="http://schemas.openxmlformats.org/drawingml/2006/main" prst="roundRect">
            <a:avLst>
              <a:gd name="adj" fmla="val 5926"/>
            </a:avLst>
          </a:prstGeom>
          <a:solidFill xmlns:a="http://schemas.openxmlformats.org/drawingml/2006/main">
            <a:srgbClr val="FFFFFF"/>
          </a:solidFill>
          <a:ln xmlns:a="http://schemas.openxmlformats.org/drawingml/2006/main" w="9525">
            <a:solidFill>
              <a:srgbClr val="DCE4EA"/>
            </a:solidFill>
          </a:ln>
        </p:spPr>
      </p:sp>
      <p:sp>
        <p:nvSpPr>
          <p:cNvPr id="51" name="">
            <a:extLst xmlns:a="http://schemas.openxmlformats.org/drawingml/2006/main">
              <a:ext uri="{FF2B5EF4-FFF2-40B4-BE49-F238E27FC236}">
                <a16:creationId xmlns:a16="http://schemas.microsoft.com/office/drawing/2014/main" id="{72E33E01-191A-43F8-AAD2-5491683B0EF6}"/>
              </a:ext>
            </a:extLst>
          </p:cNvPr>
          <p:cNvSpPr>
            <a:spLocks xmlns:a="http://schemas.openxmlformats.org/drawingml/2006/main" noGrp="1"/>
          </p:cNvSpPr>
          <p:nvPr/>
        </p:nvSpPr>
        <p:spPr>
          <a:xfrm xmlns:a="http://schemas.openxmlformats.org/drawingml/2006/main">
            <a:off x="12573000" y="834390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CC2453"/>
                </a:solidFill>
                <a:latin typeface="Inter"/>
                <a:ea typeface="Inter"/>
                <a:cs typeface="Inter"/>
              </a:defRPr>
            </a:pPr>
            <a:r>
              <a:rPr sz="1725" b="1">
                <a:solidFill>
                  <a:srgbClr val="CC2453"/>
                </a:solidFill>
                <a:latin typeface="Inter"/>
                <a:ea typeface="Inter"/>
                <a:cs typeface="Inter"/>
              </a:rPr>
              <a:t>Demo clinic desk</a:t>
            </a:r>
          </a:p>
        </p:txBody>
      </p:sp>
      <p:sp>
        <p:nvSpPr>
          <p:cNvPr id="52" name="">
            <a:extLst xmlns:a="http://schemas.openxmlformats.org/drawingml/2006/main">
              <a:ext uri="{FF2B5EF4-FFF2-40B4-BE49-F238E27FC236}">
                <a16:creationId xmlns:a16="http://schemas.microsoft.com/office/drawing/2014/main" id="{74C84FFC-F2BF-48FE-AC95-8759312550AA}"/>
              </a:ext>
            </a:extLst>
          </p:cNvPr>
          <p:cNvSpPr>
            <a:spLocks xmlns:a="http://schemas.openxmlformats.org/drawingml/2006/main" noGrp="1"/>
          </p:cNvSpPr>
          <p:nvPr/>
        </p:nvSpPr>
        <p:spPr>
          <a:xfrm xmlns:a="http://schemas.openxmlformats.org/drawingml/2006/main">
            <a:off x="12573000" y="87915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Inspect, download and acknowledge</a:t>
            </a:r>
          </a:p>
        </p:txBody>
      </p:sp>
      <p:sp>
        <p:nvSpPr>
          <p:cNvPr id="53" name="">
            <a:extLst xmlns:a="http://schemas.openxmlformats.org/drawingml/2006/main">
              <a:ext uri="{FF2B5EF4-FFF2-40B4-BE49-F238E27FC236}">
                <a16:creationId xmlns:a16="http://schemas.microsoft.com/office/drawing/2014/main" id="{5EE00736-8C29-404A-877E-1511EED1777E}"/>
              </a:ext>
            </a:extLst>
          </p:cNvPr>
          <p:cNvSpPr>
            <a:spLocks xmlns:a="http://schemas.openxmlformats.org/drawingml/2006/main" noGrp="1"/>
          </p:cNvSpPr>
          <p:nvPr/>
        </p:nvSpPr>
        <p:spPr>
          <a:xfrm xmlns:a="http://schemas.openxmlformats.org/drawingml/2006/main">
            <a:off x="571500" y="9715500"/>
            <a:ext cx="1714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96B77"/>
                </a:solidFill>
                <a:latin typeface="Inter"/>
                <a:ea typeface="Inter"/>
                <a:cs typeface="Inter"/>
              </a:defRPr>
            </a:pPr>
            <a:r>
              <a:rPr sz="1500" b="0">
                <a:solidFill>
                  <a:srgbClr val="596B77"/>
                </a:solidFill>
                <a:latin typeface="Inter"/>
                <a:ea typeface="Inter"/>
                <a:cs typeface="Inter"/>
              </a:rPr>
              <a:t>Server-side permissions apply throughout. SOS is a demo inbox action and does not contact emergency responders.</a:t>
            </a:r>
          </a:p>
        </p:txBody>
      </p:sp>
    </p:spTree>
    <p:extLst>
      <p:ext uri="{BB962C8B-B14F-4D97-AF65-F5344CB8AC3E}">
        <p14:creationId xmlns:p14="http://schemas.microsoft.com/office/powerpoint/2010/main" val="107396080"/>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F22B13A-314E-4089-A92C-1AEA6B707E1A}"/>
              </a:ext>
            </a:extLst>
          </p:cNvPr>
          <p:cNvSpPr>
            <a:spLocks xmlns:a="http://schemas.openxmlformats.org/drawingml/2006/main" noGrp="1"/>
          </p:cNvSpPr>
          <p:nvPr/>
        </p:nvSpPr>
        <p:spPr>
          <a:xfrm xmlns:a="http://schemas.openxmlformats.org/drawingml/2006/main">
            <a:off x="571500" y="361950"/>
            <a:ext cx="1714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Inter"/>
                <a:ea typeface="Inter"/>
                <a:cs typeface="Inter"/>
              </a:defRPr>
            </a:pPr>
            <a:r>
              <a:rPr sz="3000" b="1">
                <a:solidFill>
                  <a:srgbClr val="142735"/>
                </a:solidFill>
                <a:latin typeface="Inter"/>
                <a:ea typeface="Inter"/>
                <a:cs typeface="Inter"/>
              </a:rPr>
              <a:t>Impact</a:t>
            </a:r>
          </a:p>
        </p:txBody>
      </p:sp>
      <p:sp>
        <p:nvSpPr>
          <p:cNvPr id="2" name="">
            <a:extLst xmlns:a="http://schemas.openxmlformats.org/drawingml/2006/main">
              <a:ext uri="{FF2B5EF4-FFF2-40B4-BE49-F238E27FC236}">
                <a16:creationId xmlns:a16="http://schemas.microsoft.com/office/drawing/2014/main" id="{704E2BA3-D15B-4F81-9624-40E6B6D9ABC7}"/>
              </a:ext>
            </a:extLst>
          </p:cNvPr>
          <p:cNvSpPr>
            <a:spLocks xmlns:a="http://schemas.openxmlformats.org/drawingml/2006/main" noGrp="1"/>
          </p:cNvSpPr>
          <p:nvPr/>
        </p:nvSpPr>
        <p:spPr>
          <a:xfrm xmlns:a="http://schemas.openxmlformats.org/drawingml/2006/main">
            <a:off x="571500" y="1019175"/>
            <a:ext cx="1714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B77"/>
                </a:solidFill>
                <a:latin typeface="Inter"/>
                <a:ea typeface="Inter"/>
                <a:cs typeface="Inter"/>
              </a:defRPr>
            </a:pPr>
            <a:r>
              <a:rPr sz="1725" b="0">
                <a:solidFill>
                  <a:srgbClr val="596B77"/>
                </a:solidFill>
                <a:latin typeface="Inter"/>
                <a:ea typeface="Inter"/>
                <a:cs typeface="Inter"/>
              </a:rPr>
              <a:t>The demonstration shows the workflow. A clinician pilot must measure the time benefit</a:t>
            </a:r>
          </a:p>
        </p:txBody>
      </p:sp>
      <p:sp>
        <p:nvSpPr>
          <p:cNvPr id="3" name="">
            <a:extLst xmlns:a="http://schemas.openxmlformats.org/drawingml/2006/main">
              <a:ext uri="{FF2B5EF4-FFF2-40B4-BE49-F238E27FC236}">
                <a16:creationId xmlns:a16="http://schemas.microsoft.com/office/drawing/2014/main" id="{7083E9D9-C644-4545-B9EB-34FC4059510A}"/>
              </a:ext>
            </a:extLst>
          </p:cNvPr>
          <p:cNvSpPr>
            <a:spLocks xmlns:a="http://schemas.openxmlformats.org/drawingml/2006/main" noGrp="1"/>
          </p:cNvSpPr>
          <p:nvPr/>
        </p:nvSpPr>
        <p:spPr>
          <a:xfrm xmlns:a="http://schemas.openxmlformats.org/drawingml/2006/main">
            <a:off x="571500" y="2238375"/>
            <a:ext cx="5334000" cy="3476625"/>
          </a:xfrm>
          <a:prstGeom xmlns:a="http://schemas.openxmlformats.org/drawingml/2006/main" prst="roundRect">
            <a:avLst>
              <a:gd name="adj" fmla="val 2192"/>
            </a:avLst>
          </a:prstGeom>
          <a:solidFill xmlns:a="http://schemas.openxmlformats.org/drawingml/2006/main">
            <a:srgbClr val="FFFFFF"/>
          </a:solidFill>
          <a:ln xmlns:a="http://schemas.openxmlformats.org/drawingml/2006/main" w="9525">
            <a:solidFill>
              <a:srgbClr val="DCE4EA"/>
            </a:solidFill>
          </a:ln>
        </p:spPr>
      </p:sp>
      <p:sp>
        <p:nvSpPr>
          <p:cNvPr id="4" name="">
            <a:extLst xmlns:a="http://schemas.openxmlformats.org/drawingml/2006/main">
              <a:ext uri="{FF2B5EF4-FFF2-40B4-BE49-F238E27FC236}">
                <a16:creationId xmlns:a16="http://schemas.microsoft.com/office/drawing/2014/main" id="{297C3740-1DE9-4748-9E9C-E3BCB490570E}"/>
              </a:ext>
            </a:extLst>
          </p:cNvPr>
          <p:cNvSpPr>
            <a:spLocks xmlns:a="http://schemas.openxmlformats.org/drawingml/2006/main" noGrp="1"/>
          </p:cNvSpPr>
          <p:nvPr/>
        </p:nvSpPr>
        <p:spPr>
          <a:xfrm xmlns:a="http://schemas.openxmlformats.org/drawingml/2006/main">
            <a:off x="762000" y="239077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For doctors</a:t>
            </a:r>
          </a:p>
        </p:txBody>
      </p:sp>
      <p:sp>
        <p:nvSpPr>
          <p:cNvPr id="5" name="">
            <a:extLst xmlns:a="http://schemas.openxmlformats.org/drawingml/2006/main">
              <a:ext uri="{FF2B5EF4-FFF2-40B4-BE49-F238E27FC236}">
                <a16:creationId xmlns:a16="http://schemas.microsoft.com/office/drawing/2014/main" id="{F23A1E28-05A3-4A85-A6F7-01B2C068F3F5}"/>
              </a:ext>
            </a:extLst>
          </p:cNvPr>
          <p:cNvSpPr>
            <a:spLocks xmlns:a="http://schemas.openxmlformats.org/drawingml/2006/main" noGrp="1"/>
          </p:cNvSpPr>
          <p:nvPr/>
        </p:nvSpPr>
        <p:spPr>
          <a:xfrm xmlns:a="http://schemas.openxmlformats.org/drawingml/2006/main">
            <a:off x="762000" y="2838450"/>
            <a:ext cx="49530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96B77"/>
                </a:solidFill>
                <a:latin typeface="Inter"/>
                <a:ea typeface="Inter"/>
                <a:cs typeface="Inter"/>
              </a:defRPr>
            </a:pPr>
            <a:r>
              <a:rPr sz="2175" b="0">
                <a:solidFill>
                  <a:srgbClr val="596B77"/>
                </a:solidFill>
                <a:latin typeface="Inter"/>
                <a:ea typeface="Inter"/>
                <a:cs typeface="Inter"/>
              </a:rPr>
              <a:t>Recorded trends and dated context are available together. Original reports stay one action away. The doctor can spend less of the review searching across files.</a:t>
            </a:r>
          </a:p>
        </p:txBody>
      </p:sp>
      <p:sp>
        <p:nvSpPr>
          <p:cNvPr id="6" name="">
            <a:extLst xmlns:a="http://schemas.openxmlformats.org/drawingml/2006/main">
              <a:ext uri="{FF2B5EF4-FFF2-40B4-BE49-F238E27FC236}">
                <a16:creationId xmlns:a16="http://schemas.microsoft.com/office/drawing/2014/main" id="{685AEE6C-49AE-4F3C-8877-D91EA8B756A2}"/>
              </a:ext>
            </a:extLst>
          </p:cNvPr>
          <p:cNvSpPr>
            <a:spLocks xmlns:a="http://schemas.openxmlformats.org/drawingml/2006/main" noGrp="1"/>
          </p:cNvSpPr>
          <p:nvPr/>
        </p:nvSpPr>
        <p:spPr>
          <a:xfrm xmlns:a="http://schemas.openxmlformats.org/drawingml/2006/main">
            <a:off x="6477000" y="2238375"/>
            <a:ext cx="5334000" cy="3476625"/>
          </a:xfrm>
          <a:prstGeom xmlns:a="http://schemas.openxmlformats.org/drawingml/2006/main" prst="roundRect">
            <a:avLst>
              <a:gd name="adj" fmla="val 2192"/>
            </a:avLst>
          </a:prstGeom>
          <a:solidFill xmlns:a="http://schemas.openxmlformats.org/drawingml/2006/main">
            <a:srgbClr val="FFFFFF"/>
          </a:solidFill>
          <a:ln xmlns:a="http://schemas.openxmlformats.org/drawingml/2006/main" w="9525">
            <a:solidFill>
              <a:srgbClr val="DCE4EA"/>
            </a:solidFill>
          </a:ln>
        </p:spPr>
      </p:sp>
      <p:sp>
        <p:nvSpPr>
          <p:cNvPr id="7" name="">
            <a:extLst xmlns:a="http://schemas.openxmlformats.org/drawingml/2006/main">
              <a:ext uri="{FF2B5EF4-FFF2-40B4-BE49-F238E27FC236}">
                <a16:creationId xmlns:a16="http://schemas.microsoft.com/office/drawing/2014/main" id="{0B14E27C-9D4A-49E4-8B7F-7E4D198DEE7A}"/>
              </a:ext>
            </a:extLst>
          </p:cNvPr>
          <p:cNvSpPr>
            <a:spLocks xmlns:a="http://schemas.openxmlformats.org/drawingml/2006/main" noGrp="1"/>
          </p:cNvSpPr>
          <p:nvPr/>
        </p:nvSpPr>
        <p:spPr>
          <a:xfrm xmlns:a="http://schemas.openxmlformats.org/drawingml/2006/main">
            <a:off x="6667500" y="239077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For clinic teams</a:t>
            </a:r>
          </a:p>
        </p:txBody>
      </p:sp>
      <p:sp>
        <p:nvSpPr>
          <p:cNvPr id="8" name="">
            <a:extLst xmlns:a="http://schemas.openxmlformats.org/drawingml/2006/main">
              <a:ext uri="{FF2B5EF4-FFF2-40B4-BE49-F238E27FC236}">
                <a16:creationId xmlns:a16="http://schemas.microsoft.com/office/drawing/2014/main" id="{30B98B95-BD81-4E16-B8B6-9DD0DFA69EB8}"/>
              </a:ext>
            </a:extLst>
          </p:cNvPr>
          <p:cNvSpPr>
            <a:spLocks xmlns:a="http://schemas.openxmlformats.org/drawingml/2006/main" noGrp="1"/>
          </p:cNvSpPr>
          <p:nvPr/>
        </p:nvSpPr>
        <p:spPr>
          <a:xfrm xmlns:a="http://schemas.openxmlformats.org/drawingml/2006/main">
            <a:off x="6667500" y="2838450"/>
            <a:ext cx="49530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96B77"/>
                </a:solidFill>
                <a:latin typeface="Inter"/>
                <a:ea typeface="Inter"/>
                <a:cs typeface="Inter"/>
              </a:defRPr>
            </a:pPr>
            <a:r>
              <a:rPr sz="2175" b="0">
                <a:solidFill>
                  <a:srgbClr val="596B77"/>
                </a:solidFill>
                <a:latin typeface="Inter"/>
                <a:ea typeface="Inter"/>
                <a:cs typeface="Inter"/>
              </a:rPr>
              <a:t>A visible queue separates extraction from approval. Reviewers verify identity and values before publication. Configured tracking makes follow-up work visible.</a:t>
            </a:r>
          </a:p>
        </p:txBody>
      </p:sp>
      <p:sp>
        <p:nvSpPr>
          <p:cNvPr id="9" name="">
            <a:extLst xmlns:a="http://schemas.openxmlformats.org/drawingml/2006/main">
              <a:ext uri="{FF2B5EF4-FFF2-40B4-BE49-F238E27FC236}">
                <a16:creationId xmlns:a16="http://schemas.microsoft.com/office/drawing/2014/main" id="{766C1621-507E-48C3-86E3-973F834E756A}"/>
              </a:ext>
            </a:extLst>
          </p:cNvPr>
          <p:cNvSpPr>
            <a:spLocks xmlns:a="http://schemas.openxmlformats.org/drawingml/2006/main" noGrp="1"/>
          </p:cNvSpPr>
          <p:nvPr/>
        </p:nvSpPr>
        <p:spPr>
          <a:xfrm xmlns:a="http://schemas.openxmlformats.org/drawingml/2006/main">
            <a:off x="12382500" y="2238375"/>
            <a:ext cx="5334000" cy="3476625"/>
          </a:xfrm>
          <a:prstGeom xmlns:a="http://schemas.openxmlformats.org/drawingml/2006/main" prst="roundRect">
            <a:avLst>
              <a:gd name="adj" fmla="val 2192"/>
            </a:avLst>
          </a:prstGeom>
          <a:solidFill xmlns:a="http://schemas.openxmlformats.org/drawingml/2006/main">
            <a:srgbClr val="FFFFFF"/>
          </a:solidFill>
          <a:ln xmlns:a="http://schemas.openxmlformats.org/drawingml/2006/main" w="9525">
            <a:solidFill>
              <a:srgbClr val="DCE4EA"/>
            </a:solidFill>
          </a:ln>
        </p:spPr>
      </p:sp>
      <p:sp>
        <p:nvSpPr>
          <p:cNvPr id="10" name="">
            <a:extLst xmlns:a="http://schemas.openxmlformats.org/drawingml/2006/main">
              <a:ext uri="{FF2B5EF4-FFF2-40B4-BE49-F238E27FC236}">
                <a16:creationId xmlns:a16="http://schemas.microsoft.com/office/drawing/2014/main" id="{C4CE9EF5-76ED-4A5C-979D-DDAC2657E468}"/>
              </a:ext>
            </a:extLst>
          </p:cNvPr>
          <p:cNvSpPr>
            <a:spLocks xmlns:a="http://schemas.openxmlformats.org/drawingml/2006/main" noGrp="1"/>
          </p:cNvSpPr>
          <p:nvPr/>
        </p:nvSpPr>
        <p:spPr>
          <a:xfrm xmlns:a="http://schemas.openxmlformats.org/drawingml/2006/main">
            <a:off x="12573000" y="239077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For patients</a:t>
            </a:r>
          </a:p>
        </p:txBody>
      </p:sp>
      <p:sp>
        <p:nvSpPr>
          <p:cNvPr id="11" name="">
            <a:extLst xmlns:a="http://schemas.openxmlformats.org/drawingml/2006/main">
              <a:ext uri="{FF2B5EF4-FFF2-40B4-BE49-F238E27FC236}">
                <a16:creationId xmlns:a16="http://schemas.microsoft.com/office/drawing/2014/main" id="{C6331E20-C876-43EB-89DD-D4199BC78289}"/>
              </a:ext>
            </a:extLst>
          </p:cNvPr>
          <p:cNvSpPr>
            <a:spLocks xmlns:a="http://schemas.openxmlformats.org/drawingml/2006/main" noGrp="1"/>
          </p:cNvSpPr>
          <p:nvPr/>
        </p:nvSpPr>
        <p:spPr>
          <a:xfrm xmlns:a="http://schemas.openxmlformats.org/drawingml/2006/main">
            <a:off x="12573000" y="2838450"/>
            <a:ext cx="49530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96B77"/>
                </a:solidFill>
                <a:latin typeface="Inter"/>
                <a:ea typeface="Inter"/>
                <a:cs typeface="Inter"/>
              </a:defRPr>
            </a:pPr>
            <a:r>
              <a:rPr sz="2175" b="0">
                <a:solidFill>
                  <a:srgbClr val="596B77"/>
                </a:solidFill>
                <a:latin typeface="Inter"/>
                <a:ea typeface="Inter"/>
                <a:cs typeface="Inter"/>
              </a:rPr>
              <a:t>One place to upload reports, log home readings and report problems. Approved updates appear in their records. The snapshot gives the demo clinic a fixed view of shared history.</a:t>
            </a:r>
          </a:p>
        </p:txBody>
      </p:sp>
      <p:sp>
        <p:nvSpPr>
          <p:cNvPr id="12" name="">
            <a:extLst xmlns:a="http://schemas.openxmlformats.org/drawingml/2006/main">
              <a:ext uri="{FF2B5EF4-FFF2-40B4-BE49-F238E27FC236}">
                <a16:creationId xmlns:a16="http://schemas.microsoft.com/office/drawing/2014/main" id="{A1FBB9E6-37A8-495F-AFDB-953084D9CB1B}"/>
              </a:ext>
            </a:extLst>
          </p:cNvPr>
          <p:cNvSpPr>
            <a:spLocks xmlns:a="http://schemas.openxmlformats.org/drawingml/2006/main" noGrp="1"/>
          </p:cNvSpPr>
          <p:nvPr/>
        </p:nvSpPr>
        <p:spPr>
          <a:xfrm xmlns:a="http://schemas.openxmlformats.org/drawingml/2006/main">
            <a:off x="571500" y="6381750"/>
            <a:ext cx="1714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42735"/>
                </a:solidFill>
                <a:latin typeface="Inter"/>
                <a:ea typeface="Inter"/>
                <a:cs typeface="Inter"/>
              </a:defRPr>
            </a:pPr>
            <a:r>
              <a:rPr sz="2700" b="1">
                <a:solidFill>
                  <a:srgbClr val="142735"/>
                </a:solidFill>
                <a:latin typeface="Inter"/>
                <a:ea typeface="Inter"/>
                <a:cs typeface="Inter"/>
              </a:rPr>
              <a:t>Evidence already measured</a:t>
            </a:r>
          </a:p>
        </p:txBody>
      </p:sp>
      <p:sp>
        <p:nvSpPr>
          <p:cNvPr id="13" name="">
            <a:extLst xmlns:a="http://schemas.openxmlformats.org/drawingml/2006/main">
              <a:ext uri="{FF2B5EF4-FFF2-40B4-BE49-F238E27FC236}">
                <a16:creationId xmlns:a16="http://schemas.microsoft.com/office/drawing/2014/main" id="{AA258558-8422-4E96-B267-A9570D923F4F}"/>
              </a:ext>
            </a:extLst>
          </p:cNvPr>
          <p:cNvSpPr>
            <a:spLocks xmlns:a="http://schemas.openxmlformats.org/drawingml/2006/main" noGrp="1"/>
          </p:cNvSpPr>
          <p:nvPr/>
        </p:nvSpPr>
        <p:spPr>
          <a:xfrm xmlns:a="http://schemas.openxmlformats.org/drawingml/2006/main">
            <a:off x="571500" y="7191375"/>
            <a:ext cx="1714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37A76"/>
                </a:solidFill>
                <a:latin typeface="Inter"/>
                <a:ea typeface="Inter"/>
                <a:cs typeface="Inter"/>
              </a:defRPr>
            </a:pPr>
            <a:r>
              <a:rPr sz="2175" b="1">
                <a:solidFill>
                  <a:srgbClr val="137A76"/>
                </a:solidFill>
                <a:latin typeface="Inter"/>
                <a:ea typeface="Inter"/>
                <a:cs typeface="Inter"/>
              </a:rPr>
              <a:t>135 automated tests pass locally. The previous deployed baseline passed 25/25 API-flow checks and 12/12 database policy checks.</a:t>
            </a:r>
          </a:p>
        </p:txBody>
      </p:sp>
      <p:sp>
        <p:nvSpPr>
          <p:cNvPr id="14" name="">
            <a:extLst xmlns:a="http://schemas.openxmlformats.org/drawingml/2006/main">
              <a:ext uri="{FF2B5EF4-FFF2-40B4-BE49-F238E27FC236}">
                <a16:creationId xmlns:a16="http://schemas.microsoft.com/office/drawing/2014/main" id="{5D6EE474-5FF8-4671-B9B4-461F363E85D6}"/>
              </a:ext>
            </a:extLst>
          </p:cNvPr>
          <p:cNvSpPr>
            <a:spLocks xmlns:a="http://schemas.openxmlformats.org/drawingml/2006/main" noGrp="1"/>
          </p:cNvSpPr>
          <p:nvPr/>
        </p:nvSpPr>
        <p:spPr>
          <a:xfrm xmlns:a="http://schemas.openxmlformats.org/drawingml/2006/main">
            <a:off x="571500" y="8667750"/>
            <a:ext cx="1714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96B77"/>
                </a:solidFill>
                <a:latin typeface="Inter"/>
                <a:ea typeface="Inter"/>
                <a:cs typeface="Inter"/>
              </a:defRPr>
            </a:pPr>
            <a:r>
              <a:rPr sz="2025" b="0">
                <a:solidFill>
                  <a:srgbClr val="596B77"/>
                </a:solidFill>
                <a:latin typeface="Inter"/>
                <a:ea typeface="Inter"/>
                <a:cs typeface="Inter"/>
              </a:rPr>
              <a:t>60–90-day pilot: measure combined staff + doctor task time against manual preparation and a structured manual timeline. Track corrections and retrieval success. Target: ≥30% less preparation time; no savings measured yet.</a:t>
            </a:r>
          </a:p>
        </p:txBody>
      </p:sp>
    </p:spTree>
    <p:extLst>
      <p:ext uri="{BB962C8B-B14F-4D97-AF65-F5344CB8AC3E}">
        <p14:creationId xmlns:p14="http://schemas.microsoft.com/office/powerpoint/2010/main" val="1084059944"/>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8CB5A14-94E0-43DB-9849-37FE99232C81}"/>
              </a:ext>
            </a:extLst>
          </p:cNvPr>
          <p:cNvSpPr>
            <a:spLocks xmlns:a="http://schemas.openxmlformats.org/drawingml/2006/main" noGrp="1"/>
          </p:cNvSpPr>
          <p:nvPr/>
        </p:nvSpPr>
        <p:spPr>
          <a:xfrm xmlns:a="http://schemas.openxmlformats.org/drawingml/2006/main">
            <a:off x="571500" y="361950"/>
            <a:ext cx="1714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Inter"/>
                <a:ea typeface="Inter"/>
                <a:cs typeface="Inter"/>
              </a:defRPr>
            </a:pPr>
            <a:r>
              <a:rPr sz="3000" b="1">
                <a:solidFill>
                  <a:srgbClr val="142735"/>
                </a:solidFill>
                <a:latin typeface="Inter"/>
                <a:ea typeface="Inter"/>
                <a:cs typeface="Inter"/>
              </a:rPr>
              <a:t>Scalability and business model</a:t>
            </a:r>
          </a:p>
        </p:txBody>
      </p:sp>
      <p:sp>
        <p:nvSpPr>
          <p:cNvPr id="2" name="">
            <a:extLst xmlns:a="http://schemas.openxmlformats.org/drawingml/2006/main">
              <a:ext uri="{FF2B5EF4-FFF2-40B4-BE49-F238E27FC236}">
                <a16:creationId xmlns:a16="http://schemas.microsoft.com/office/drawing/2014/main" id="{99DE3C5A-5C82-477C-AB48-92F0B28DDF62}"/>
              </a:ext>
            </a:extLst>
          </p:cNvPr>
          <p:cNvSpPr>
            <a:spLocks xmlns:a="http://schemas.openxmlformats.org/drawingml/2006/main" noGrp="1"/>
          </p:cNvSpPr>
          <p:nvPr/>
        </p:nvSpPr>
        <p:spPr>
          <a:xfrm xmlns:a="http://schemas.openxmlformats.org/drawingml/2006/main">
            <a:off x="571500" y="1019175"/>
            <a:ext cx="1714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B77"/>
                </a:solidFill>
                <a:latin typeface="Inter"/>
                <a:ea typeface="Inter"/>
                <a:cs typeface="Inter"/>
              </a:defRPr>
            </a:pPr>
            <a:r>
              <a:rPr sz="1725" b="0">
                <a:solidFill>
                  <a:srgbClr val="596B77"/>
                </a:solidFill>
                <a:latin typeface="Inter"/>
                <a:ea typeface="Inter"/>
                <a:cs typeface="Inter"/>
              </a:rPr>
              <a:t>Start with diabetes follow-up clinics and validate the workflow before expanding</a:t>
            </a:r>
          </a:p>
        </p:txBody>
      </p:sp>
      <p:sp>
        <p:nvSpPr>
          <p:cNvPr id="3" name="">
            <a:extLst xmlns:a="http://schemas.openxmlformats.org/drawingml/2006/main">
              <a:ext uri="{FF2B5EF4-FFF2-40B4-BE49-F238E27FC236}">
                <a16:creationId xmlns:a16="http://schemas.microsoft.com/office/drawing/2014/main" id="{FBAC5C4B-B358-40EF-8EB2-2657E7EA7236}"/>
              </a:ext>
            </a:extLst>
          </p:cNvPr>
          <p:cNvSpPr>
            <a:spLocks xmlns:a="http://schemas.openxmlformats.org/drawingml/2006/main" noGrp="1"/>
          </p:cNvSpPr>
          <p:nvPr/>
        </p:nvSpPr>
        <p:spPr>
          <a:xfrm xmlns:a="http://schemas.openxmlformats.org/drawingml/2006/main">
            <a:off x="571500" y="2095500"/>
            <a:ext cx="8191500" cy="3476625"/>
          </a:xfrm>
          <a:prstGeom xmlns:a="http://schemas.openxmlformats.org/drawingml/2006/main" prst="roundRect">
            <a:avLst>
              <a:gd name="adj" fmla="val 2192"/>
            </a:avLst>
          </a:prstGeom>
          <a:solidFill xmlns:a="http://schemas.openxmlformats.org/drawingml/2006/main">
            <a:srgbClr val="FFFFFF"/>
          </a:solidFill>
          <a:ln xmlns:a="http://schemas.openxmlformats.org/drawingml/2006/main" w="9525">
            <a:solidFill>
              <a:srgbClr val="DCE4EA"/>
            </a:solidFill>
          </a:ln>
        </p:spPr>
      </p:sp>
      <p:sp>
        <p:nvSpPr>
          <p:cNvPr id="4" name="">
            <a:extLst xmlns:a="http://schemas.openxmlformats.org/drawingml/2006/main">
              <a:ext uri="{FF2B5EF4-FFF2-40B4-BE49-F238E27FC236}">
                <a16:creationId xmlns:a16="http://schemas.microsoft.com/office/drawing/2014/main" id="{287DEC1E-2078-4764-8771-BD275F2B71B6}"/>
              </a:ext>
            </a:extLst>
          </p:cNvPr>
          <p:cNvSpPr>
            <a:spLocks xmlns:a="http://schemas.openxmlformats.org/drawingml/2006/main" noGrp="1"/>
          </p:cNvSpPr>
          <p:nvPr/>
        </p:nvSpPr>
        <p:spPr>
          <a:xfrm xmlns:a="http://schemas.openxmlformats.org/drawingml/2006/main">
            <a:off x="762000" y="2247900"/>
            <a:ext cx="781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Technical scaling</a:t>
            </a:r>
          </a:p>
        </p:txBody>
      </p:sp>
      <p:sp>
        <p:nvSpPr>
          <p:cNvPr id="5" name="">
            <a:extLst xmlns:a="http://schemas.openxmlformats.org/drawingml/2006/main">
              <a:ext uri="{FF2B5EF4-FFF2-40B4-BE49-F238E27FC236}">
                <a16:creationId xmlns:a16="http://schemas.microsoft.com/office/drawing/2014/main" id="{208C3803-A310-4F51-B08F-C5510E53D7A5}"/>
              </a:ext>
            </a:extLst>
          </p:cNvPr>
          <p:cNvSpPr>
            <a:spLocks xmlns:a="http://schemas.openxmlformats.org/drawingml/2006/main" noGrp="1"/>
          </p:cNvSpPr>
          <p:nvPr/>
        </p:nvSpPr>
        <p:spPr>
          <a:xfrm xmlns:a="http://schemas.openxmlformats.org/drawingml/2006/main">
            <a:off x="762000" y="2695575"/>
            <a:ext cx="7810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96B77"/>
                </a:solidFill>
                <a:latin typeface="Inter"/>
                <a:ea typeface="Inter"/>
                <a:cs typeface="Inter"/>
              </a:defRPr>
            </a:pPr>
            <a:r>
              <a:rPr sz="2025" b="0">
                <a:solidFill>
                  <a:srgbClr val="596B77"/>
                </a:solidFill>
                <a:latin typeface="Inter"/>
                <a:ea typeface="Inter"/>
                <a:cs typeface="Inter"/>
              </a:rPr>
              <a:t>Separate API and worker services handle browsing and document processing independently.</a:t>
            </a:r>
          </a:p>
          <a:p xmlns:a="http://schemas.openxmlformats.org/drawingml/2006/main">
            <a:r>
              <a:t/>
            </a:r>
          </a:p>
          <a:p xmlns:a="http://schemas.openxmlformats.org/drawingml/2006/main">
            <a:pPr>
              <a:defRPr sz="2025" b="0">
                <a:solidFill>
                  <a:srgbClr val="596B77"/>
                </a:solidFill>
                <a:latin typeface="Inter"/>
                <a:ea typeface="Inter"/>
                <a:cs typeface="Inter"/>
              </a:defRPr>
            </a:pPr>
            <a:r>
              <a:rPr sz="2025" b="0">
                <a:solidFill>
                  <a:srgbClr val="596B77"/>
                </a:solidFill>
                <a:latin typeface="Inter"/>
                <a:ea typeface="Inter"/>
                <a:cs typeface="Inter"/>
              </a:rPr>
              <a:t>Durable jobs support retries. Clinic and patient access remain isolated by server checks and database policies.</a:t>
            </a:r>
          </a:p>
          <a:p xmlns:a="http://schemas.openxmlformats.org/drawingml/2006/main">
            <a:r>
              <a:t/>
            </a:r>
          </a:p>
          <a:p xmlns:a="http://schemas.openxmlformats.org/drawingml/2006/main">
            <a:pPr>
              <a:defRPr sz="2025" b="0">
                <a:solidFill>
                  <a:srgbClr val="596B77"/>
                </a:solidFill>
                <a:latin typeface="Inter"/>
                <a:ea typeface="Inter"/>
                <a:cs typeface="Inter"/>
              </a:defRPr>
            </a:pPr>
            <a:r>
              <a:rPr sz="2025" b="0">
                <a:solidFill>
                  <a:srgbClr val="596B77"/>
                </a:solidFill>
                <a:latin typeface="Inter"/>
                <a:ea typeface="Inter"/>
                <a:cs typeface="Inter"/>
              </a:rPr>
              <a:t>Consumption containers scale to zero when idle.</a:t>
            </a:r>
          </a:p>
        </p:txBody>
      </p:sp>
      <p:sp>
        <p:nvSpPr>
          <p:cNvPr id="6" name="">
            <a:extLst xmlns:a="http://schemas.openxmlformats.org/drawingml/2006/main">
              <a:ext uri="{FF2B5EF4-FFF2-40B4-BE49-F238E27FC236}">
                <a16:creationId xmlns:a16="http://schemas.microsoft.com/office/drawing/2014/main" id="{4326B0E0-FB28-47BA-84B9-D454353DB617}"/>
              </a:ext>
            </a:extLst>
          </p:cNvPr>
          <p:cNvSpPr>
            <a:spLocks xmlns:a="http://schemas.openxmlformats.org/drawingml/2006/main" noGrp="1"/>
          </p:cNvSpPr>
          <p:nvPr/>
        </p:nvSpPr>
        <p:spPr>
          <a:xfrm xmlns:a="http://schemas.openxmlformats.org/drawingml/2006/main">
            <a:off x="9525000" y="2095500"/>
            <a:ext cx="8191500" cy="3476625"/>
          </a:xfrm>
          <a:prstGeom xmlns:a="http://schemas.openxmlformats.org/drawingml/2006/main" prst="roundRect">
            <a:avLst>
              <a:gd name="adj" fmla="val 2192"/>
            </a:avLst>
          </a:prstGeom>
          <a:solidFill xmlns:a="http://schemas.openxmlformats.org/drawingml/2006/main">
            <a:srgbClr val="FFFFFF"/>
          </a:solidFill>
          <a:ln xmlns:a="http://schemas.openxmlformats.org/drawingml/2006/main" w="9525">
            <a:solidFill>
              <a:srgbClr val="DCE4EA"/>
            </a:solidFill>
          </a:ln>
        </p:spPr>
      </p:sp>
      <p:sp>
        <p:nvSpPr>
          <p:cNvPr id="7" name="">
            <a:extLst xmlns:a="http://schemas.openxmlformats.org/drawingml/2006/main">
              <a:ext uri="{FF2B5EF4-FFF2-40B4-BE49-F238E27FC236}">
                <a16:creationId xmlns:a16="http://schemas.microsoft.com/office/drawing/2014/main" id="{9BB17082-2EE5-407C-81B1-A7D15521C2DA}"/>
              </a:ext>
            </a:extLst>
          </p:cNvPr>
          <p:cNvSpPr>
            <a:spLocks xmlns:a="http://schemas.openxmlformats.org/drawingml/2006/main" noGrp="1"/>
          </p:cNvSpPr>
          <p:nvPr/>
        </p:nvSpPr>
        <p:spPr>
          <a:xfrm xmlns:a="http://schemas.openxmlformats.org/drawingml/2006/main">
            <a:off x="9715500" y="2247900"/>
            <a:ext cx="781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Proposed business model</a:t>
            </a:r>
          </a:p>
        </p:txBody>
      </p:sp>
      <p:sp>
        <p:nvSpPr>
          <p:cNvPr id="8" name="">
            <a:extLst xmlns:a="http://schemas.openxmlformats.org/drawingml/2006/main">
              <a:ext uri="{FF2B5EF4-FFF2-40B4-BE49-F238E27FC236}">
                <a16:creationId xmlns:a16="http://schemas.microsoft.com/office/drawing/2014/main" id="{FE8055AF-0632-4085-A866-E4B6C5BF69A1}"/>
              </a:ext>
            </a:extLst>
          </p:cNvPr>
          <p:cNvSpPr>
            <a:spLocks xmlns:a="http://schemas.openxmlformats.org/drawingml/2006/main" noGrp="1"/>
          </p:cNvSpPr>
          <p:nvPr/>
        </p:nvSpPr>
        <p:spPr>
          <a:xfrm xmlns:a="http://schemas.openxmlformats.org/drawingml/2006/main">
            <a:off x="9715500" y="2695575"/>
            <a:ext cx="7810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96B77"/>
                </a:solidFill>
                <a:latin typeface="Inter"/>
                <a:ea typeface="Inter"/>
                <a:cs typeface="Inter"/>
              </a:defRPr>
            </a:pPr>
            <a:r>
              <a:rPr sz="2025" b="0">
                <a:solidFill>
                  <a:srgbClr val="596B77"/>
                </a:solidFill>
                <a:latin typeface="Inter"/>
                <a:ea typeface="Inter"/>
                <a:cs typeface="Inter"/>
              </a:rPr>
              <a:t>A subscription per clinic, with document-processing allowance and a clear usage limit.</a:t>
            </a:r>
          </a:p>
          <a:p xmlns:a="http://schemas.openxmlformats.org/drawingml/2006/main">
            <a:r>
              <a:t/>
            </a:r>
          </a:p>
          <a:p xmlns:a="http://schemas.openxmlformats.org/drawingml/2006/main">
            <a:pPr>
              <a:defRPr sz="2025" b="0">
                <a:solidFill>
                  <a:srgbClr val="596B77"/>
                </a:solidFill>
                <a:latin typeface="Inter"/>
                <a:ea typeface="Inter"/>
                <a:cs typeface="Inter"/>
              </a:defRPr>
            </a:pPr>
            <a:r>
              <a:rPr sz="2025" b="0">
                <a:solidFill>
                  <a:srgbClr val="596B77"/>
                </a:solidFill>
                <a:latin typeface="Inter"/>
                <a:ea typeface="Inter"/>
                <a:cs typeface="Inter"/>
              </a:rPr>
              <a:t>Start with a supervised pilot in a diabetes OPD. Validate price with clinic administrators after measuring review effort.</a:t>
            </a:r>
          </a:p>
          <a:p xmlns:a="http://schemas.openxmlformats.org/drawingml/2006/main">
            <a:r>
              <a:t/>
            </a:r>
          </a:p>
          <a:p xmlns:a="http://schemas.openxmlformats.org/drawingml/2006/main">
            <a:pPr>
              <a:defRPr sz="2025" b="0">
                <a:solidFill>
                  <a:srgbClr val="596B77"/>
                </a:solidFill>
                <a:latin typeface="Inter"/>
                <a:ea typeface="Inter"/>
                <a:cs typeface="Inter"/>
              </a:defRPr>
            </a:pPr>
            <a:r>
              <a:rPr sz="2025" b="0">
                <a:solidFill>
                  <a:srgbClr val="596B77"/>
                </a:solidFill>
                <a:latin typeface="Inter"/>
                <a:ea typeface="Inter"/>
                <a:cs typeface="Inter"/>
              </a:rPr>
              <a:t>The pilot will test willingness to pay and the cost of supporting each clinic.</a:t>
            </a:r>
          </a:p>
        </p:txBody>
      </p:sp>
      <p:sp>
        <p:nvSpPr>
          <p:cNvPr id="9" name="">
            <a:extLst xmlns:a="http://schemas.openxmlformats.org/drawingml/2006/main">
              <a:ext uri="{FF2B5EF4-FFF2-40B4-BE49-F238E27FC236}">
                <a16:creationId xmlns:a16="http://schemas.microsoft.com/office/drawing/2014/main" id="{A9ABCE7E-D6C9-40FA-8442-3315E1755ED7}"/>
              </a:ext>
            </a:extLst>
          </p:cNvPr>
          <p:cNvSpPr>
            <a:spLocks xmlns:a="http://schemas.openxmlformats.org/drawingml/2006/main" noGrp="1"/>
          </p:cNvSpPr>
          <p:nvPr/>
        </p:nvSpPr>
        <p:spPr>
          <a:xfrm xmlns:a="http://schemas.openxmlformats.org/drawingml/2006/main">
            <a:off x="571500" y="6096000"/>
            <a:ext cx="819150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DCE4EA"/>
            </a:solidFill>
          </a:ln>
        </p:spPr>
      </p:sp>
      <p:sp>
        <p:nvSpPr>
          <p:cNvPr id="10" name="">
            <a:extLst xmlns:a="http://schemas.openxmlformats.org/drawingml/2006/main">
              <a:ext uri="{FF2B5EF4-FFF2-40B4-BE49-F238E27FC236}">
                <a16:creationId xmlns:a16="http://schemas.microsoft.com/office/drawing/2014/main" id="{A7B710EB-6408-448B-AED2-4BF1B8A5CE1A}"/>
              </a:ext>
            </a:extLst>
          </p:cNvPr>
          <p:cNvSpPr>
            <a:spLocks xmlns:a="http://schemas.openxmlformats.org/drawingml/2006/main" noGrp="1"/>
          </p:cNvSpPr>
          <p:nvPr/>
        </p:nvSpPr>
        <p:spPr>
          <a:xfrm xmlns:a="http://schemas.openxmlformats.org/drawingml/2006/main">
            <a:off x="762000" y="6248400"/>
            <a:ext cx="781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Expansion path</a:t>
            </a:r>
          </a:p>
        </p:txBody>
      </p:sp>
      <p:sp>
        <p:nvSpPr>
          <p:cNvPr id="11" name="">
            <a:extLst xmlns:a="http://schemas.openxmlformats.org/drawingml/2006/main">
              <a:ext uri="{FF2B5EF4-FFF2-40B4-BE49-F238E27FC236}">
                <a16:creationId xmlns:a16="http://schemas.microsoft.com/office/drawing/2014/main" id="{30DF66E3-35C0-4AA7-A1A6-380193D7D5F2}"/>
              </a:ext>
            </a:extLst>
          </p:cNvPr>
          <p:cNvSpPr>
            <a:spLocks xmlns:a="http://schemas.openxmlformats.org/drawingml/2006/main" noGrp="1"/>
          </p:cNvSpPr>
          <p:nvPr/>
        </p:nvSpPr>
        <p:spPr>
          <a:xfrm xmlns:a="http://schemas.openxmlformats.org/drawingml/2006/main">
            <a:off x="762000" y="6696075"/>
            <a:ext cx="781050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96B77"/>
                </a:solidFill>
                <a:latin typeface="Inter"/>
                <a:ea typeface="Inter"/>
                <a:cs typeface="Inter"/>
              </a:defRPr>
            </a:pPr>
            <a:r>
              <a:rPr sz="2025" b="0">
                <a:solidFill>
                  <a:srgbClr val="596B77"/>
                </a:solidFill>
                <a:latin typeface="Inter"/>
                <a:ea typeface="Inter"/>
                <a:cs typeface="Inter"/>
              </a:rPr>
              <a:t>Add validated report layouts and regional-language review support.</a:t>
            </a:r>
          </a:p>
          <a:p xmlns:a="http://schemas.openxmlformats.org/drawingml/2006/main">
            <a:r>
              <a:t/>
            </a:r>
          </a:p>
          <a:p xmlns:a="http://schemas.openxmlformats.org/drawingml/2006/main">
            <a:pPr>
              <a:defRPr sz="2025" b="0">
                <a:solidFill>
                  <a:srgbClr val="596B77"/>
                </a:solidFill>
                <a:latin typeface="Inter"/>
                <a:ea typeface="Inter"/>
                <a:cs typeface="Inter"/>
              </a:defRPr>
            </a:pPr>
            <a:r>
              <a:rPr sz="2025" b="0">
                <a:solidFill>
                  <a:srgbClr val="596B77"/>
                </a:solidFill>
                <a:latin typeface="Inter"/>
                <a:ea typeface="Inter"/>
                <a:cs typeface="Inter"/>
              </a:rPr>
              <a:t>Evaluate integrations with clinic systems and consent-based ABDM/ABHA access separately.</a:t>
            </a:r>
          </a:p>
          <a:p xmlns:a="http://schemas.openxmlformats.org/drawingml/2006/main">
            <a:r>
              <a:t/>
            </a:r>
          </a:p>
          <a:p xmlns:a="http://schemas.openxmlformats.org/drawingml/2006/main">
            <a:pPr>
              <a:defRPr sz="2025" b="0">
                <a:solidFill>
                  <a:srgbClr val="596B77"/>
                </a:solidFill>
                <a:latin typeface="Inter"/>
                <a:ea typeface="Inter"/>
                <a:cs typeface="Inter"/>
              </a:defRPr>
            </a:pPr>
            <a:r>
              <a:rPr sz="2025" b="0">
                <a:solidFill>
                  <a:srgbClr val="596B77"/>
                </a:solidFill>
                <a:latin typeface="Inter"/>
                <a:ea typeface="Inter"/>
                <a:cs typeface="Inter"/>
              </a:rPr>
              <a:t>Follow-up categories are assigned by clinicians.</a:t>
            </a:r>
          </a:p>
        </p:txBody>
      </p:sp>
      <p:sp>
        <p:nvSpPr>
          <p:cNvPr id="12" name="">
            <a:extLst xmlns:a="http://schemas.openxmlformats.org/drawingml/2006/main">
              <a:ext uri="{FF2B5EF4-FFF2-40B4-BE49-F238E27FC236}">
                <a16:creationId xmlns:a16="http://schemas.microsoft.com/office/drawing/2014/main" id="{28FF9102-BD51-46C5-9E53-C235D8ED20E7}"/>
              </a:ext>
            </a:extLst>
          </p:cNvPr>
          <p:cNvSpPr>
            <a:spLocks xmlns:a="http://schemas.openxmlformats.org/drawingml/2006/main" noGrp="1"/>
          </p:cNvSpPr>
          <p:nvPr/>
        </p:nvSpPr>
        <p:spPr>
          <a:xfrm xmlns:a="http://schemas.openxmlformats.org/drawingml/2006/main">
            <a:off x="9525000" y="6096000"/>
            <a:ext cx="819150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DCE4EA"/>
            </a:solidFill>
          </a:ln>
        </p:spPr>
      </p:sp>
      <p:sp>
        <p:nvSpPr>
          <p:cNvPr id="13" name="">
            <a:extLst xmlns:a="http://schemas.openxmlformats.org/drawingml/2006/main">
              <a:ext uri="{FF2B5EF4-FFF2-40B4-BE49-F238E27FC236}">
                <a16:creationId xmlns:a16="http://schemas.microsoft.com/office/drawing/2014/main" id="{9883FD03-927F-420C-B32F-DFF3427D9EE4}"/>
              </a:ext>
            </a:extLst>
          </p:cNvPr>
          <p:cNvSpPr>
            <a:spLocks xmlns:a="http://schemas.openxmlformats.org/drawingml/2006/main" noGrp="1"/>
          </p:cNvSpPr>
          <p:nvPr/>
        </p:nvSpPr>
        <p:spPr>
          <a:xfrm xmlns:a="http://schemas.openxmlformats.org/drawingml/2006/main">
            <a:off x="9715500" y="6248400"/>
            <a:ext cx="781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Operating cost controls</a:t>
            </a:r>
          </a:p>
        </p:txBody>
      </p:sp>
      <p:sp>
        <p:nvSpPr>
          <p:cNvPr id="14" name="">
            <a:extLst xmlns:a="http://schemas.openxmlformats.org/drawingml/2006/main">
              <a:ext uri="{FF2B5EF4-FFF2-40B4-BE49-F238E27FC236}">
                <a16:creationId xmlns:a16="http://schemas.microsoft.com/office/drawing/2014/main" id="{86A14541-7495-4560-B504-E0F7FB452216}"/>
              </a:ext>
            </a:extLst>
          </p:cNvPr>
          <p:cNvSpPr>
            <a:spLocks xmlns:a="http://schemas.openxmlformats.org/drawingml/2006/main" noGrp="1"/>
          </p:cNvSpPr>
          <p:nvPr/>
        </p:nvSpPr>
        <p:spPr>
          <a:xfrm xmlns:a="http://schemas.openxmlformats.org/drawingml/2006/main">
            <a:off x="9715500" y="6696075"/>
            <a:ext cx="781050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Vercel Hobby and Supabase Free for the demo. Private Azure registry baseline: approximately US$5 for 30 days.</a:t>
            </a:r>
          </a:p>
          <a:p xmlns:a="http://schemas.openxmlformats.org/drawingml/2006/main">
            <a:r>
              <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Compute beyond free allowances and model calls add usage cost. Current extraction gate: US$0.10 per document.</a:t>
            </a:r>
          </a:p>
          <a:p xmlns:a="http://schemas.openxmlformats.org/drawingml/2006/main">
            <a:r>
              <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The US$10 Azure budget sends alerts; it is not a hard cap.</a:t>
            </a:r>
          </a:p>
        </p:txBody>
      </p:sp>
    </p:spTree>
    <p:extLst>
      <p:ext uri="{BB962C8B-B14F-4D97-AF65-F5344CB8AC3E}">
        <p14:creationId xmlns:p14="http://schemas.microsoft.com/office/powerpoint/2010/main" val="1584162352"/>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DF1C0F5-8E7A-4698-AFC5-B62235ED135E}"/>
              </a:ext>
            </a:extLst>
          </p:cNvPr>
          <p:cNvSpPr>
            <a:spLocks xmlns:a="http://schemas.openxmlformats.org/drawingml/2006/main" noGrp="1"/>
          </p:cNvSpPr>
          <p:nvPr/>
        </p:nvSpPr>
        <p:spPr>
          <a:xfrm xmlns:a="http://schemas.openxmlformats.org/drawingml/2006/main">
            <a:off x="571500" y="361950"/>
            <a:ext cx="1714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Inter"/>
                <a:ea typeface="Inter"/>
                <a:cs typeface="Inter"/>
              </a:defRPr>
            </a:pPr>
            <a:r>
              <a:rPr sz="3000" b="1">
                <a:solidFill>
                  <a:srgbClr val="142735"/>
                </a:solidFill>
                <a:latin typeface="Inter"/>
                <a:ea typeface="Inter"/>
                <a:cs typeface="Inter"/>
              </a:rPr>
              <a:t>Conclusion</a:t>
            </a:r>
          </a:p>
        </p:txBody>
      </p:sp>
      <p:sp>
        <p:nvSpPr>
          <p:cNvPr id="2" name="">
            <a:extLst xmlns:a="http://schemas.openxmlformats.org/drawingml/2006/main">
              <a:ext uri="{FF2B5EF4-FFF2-40B4-BE49-F238E27FC236}">
                <a16:creationId xmlns:a16="http://schemas.microsoft.com/office/drawing/2014/main" id="{6970876A-3307-419E-B7DA-36E712C66E58}"/>
              </a:ext>
            </a:extLst>
          </p:cNvPr>
          <p:cNvSpPr>
            <a:spLocks xmlns:a="http://schemas.openxmlformats.org/drawingml/2006/main" noGrp="1"/>
          </p:cNvSpPr>
          <p:nvPr/>
        </p:nvSpPr>
        <p:spPr>
          <a:xfrm xmlns:a="http://schemas.openxmlformats.org/drawingml/2006/main">
            <a:off x="571500" y="1019175"/>
            <a:ext cx="1714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B77"/>
                </a:solidFill>
                <a:latin typeface="Inter"/>
                <a:ea typeface="Inter"/>
                <a:cs typeface="Inter"/>
              </a:defRPr>
            </a:pPr>
            <a:r>
              <a:rPr sz="1725" b="0">
                <a:solidFill>
                  <a:srgbClr val="596B77"/>
                </a:solidFill>
                <a:latin typeface="Inter"/>
                <a:ea typeface="Inter"/>
                <a:cs typeface="Inter"/>
              </a:rPr>
              <a:t>Glucoflow prepares the history and keeps the physician in control</a:t>
            </a:r>
          </a:p>
        </p:txBody>
      </p:sp>
      <p:sp>
        <p:nvSpPr>
          <p:cNvPr id="3" name="">
            <a:extLst xmlns:a="http://schemas.openxmlformats.org/drawingml/2006/main">
              <a:ext uri="{FF2B5EF4-FFF2-40B4-BE49-F238E27FC236}">
                <a16:creationId xmlns:a16="http://schemas.microsoft.com/office/drawing/2014/main" id="{8CEC8797-A98B-4BA3-926A-7E75757B8C70}"/>
              </a:ext>
            </a:extLst>
          </p:cNvPr>
          <p:cNvSpPr>
            <a:spLocks xmlns:a="http://schemas.openxmlformats.org/drawingml/2006/main" noGrp="1"/>
          </p:cNvSpPr>
          <p:nvPr/>
        </p:nvSpPr>
        <p:spPr>
          <a:xfrm xmlns:a="http://schemas.openxmlformats.org/drawingml/2006/main">
            <a:off x="571500" y="2190750"/>
            <a:ext cx="17145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37A76"/>
                </a:solidFill>
                <a:latin typeface="Inter"/>
                <a:ea typeface="Inter"/>
                <a:cs typeface="Inter"/>
              </a:defRPr>
            </a:pPr>
            <a:r>
              <a:rPr sz="3225" b="1">
                <a:solidFill>
                  <a:srgbClr val="137A76"/>
                </a:solidFill>
                <a:latin typeface="Inter"/>
                <a:ea typeface="Inter"/>
                <a:cs typeface="Inter"/>
              </a:rPr>
              <a:t>Records → review → progression → physician assessment</a:t>
            </a:r>
          </a:p>
        </p:txBody>
      </p:sp>
      <p:sp>
        <p:nvSpPr>
          <p:cNvPr id="4" name="">
            <a:extLst xmlns:a="http://schemas.openxmlformats.org/drawingml/2006/main">
              <a:ext uri="{FF2B5EF4-FFF2-40B4-BE49-F238E27FC236}">
                <a16:creationId xmlns:a16="http://schemas.microsoft.com/office/drawing/2014/main" id="{336D7673-A356-42D5-A2C8-54F60E3D740F}"/>
              </a:ext>
            </a:extLst>
          </p:cNvPr>
          <p:cNvSpPr>
            <a:spLocks xmlns:a="http://schemas.openxmlformats.org/drawingml/2006/main" noGrp="1"/>
          </p:cNvSpPr>
          <p:nvPr/>
        </p:nvSpPr>
        <p:spPr>
          <a:xfrm xmlns:a="http://schemas.openxmlformats.org/drawingml/2006/main">
            <a:off x="571500" y="3857625"/>
            <a:ext cx="819150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DCE4EA"/>
            </a:solidFill>
          </a:ln>
        </p:spPr>
      </p:sp>
      <p:sp>
        <p:nvSpPr>
          <p:cNvPr id="5" name="">
            <a:extLst xmlns:a="http://schemas.openxmlformats.org/drawingml/2006/main">
              <a:ext uri="{FF2B5EF4-FFF2-40B4-BE49-F238E27FC236}">
                <a16:creationId xmlns:a16="http://schemas.microsoft.com/office/drawing/2014/main" id="{7ED3EE66-C1D3-4B00-9FE3-37783EDD236A}"/>
              </a:ext>
            </a:extLst>
          </p:cNvPr>
          <p:cNvSpPr>
            <a:spLocks xmlns:a="http://schemas.openxmlformats.org/drawingml/2006/main" noGrp="1"/>
          </p:cNvSpPr>
          <p:nvPr/>
        </p:nvSpPr>
        <p:spPr>
          <a:xfrm xmlns:a="http://schemas.openxmlformats.org/drawingml/2006/main">
            <a:off x="762000" y="4010025"/>
            <a:ext cx="781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What judges can explore</a:t>
            </a:r>
          </a:p>
        </p:txBody>
      </p:sp>
      <p:sp>
        <p:nvSpPr>
          <p:cNvPr id="6" name="">
            <a:extLst xmlns:a="http://schemas.openxmlformats.org/drawingml/2006/main">
              <a:ext uri="{FF2B5EF4-FFF2-40B4-BE49-F238E27FC236}">
                <a16:creationId xmlns:a16="http://schemas.microsoft.com/office/drawing/2014/main" id="{322C3547-C668-4903-BEFC-F2B4D058A2AF}"/>
              </a:ext>
            </a:extLst>
          </p:cNvPr>
          <p:cNvSpPr>
            <a:spLocks xmlns:a="http://schemas.openxmlformats.org/drawingml/2006/main" noGrp="1"/>
          </p:cNvSpPr>
          <p:nvPr/>
        </p:nvSpPr>
        <p:spPr>
          <a:xfrm xmlns:a="http://schemas.openxmlformats.org/drawingml/2006/main">
            <a:off x="762000" y="4457700"/>
            <a:ext cx="781050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96B77"/>
                </a:solidFill>
                <a:latin typeface="Inter"/>
                <a:ea typeface="Inter"/>
                <a:cs typeface="Inter"/>
              </a:defRPr>
            </a:pPr>
            <a:r>
              <a:rPr sz="2100" b="0">
                <a:solidFill>
                  <a:srgbClr val="596B77"/>
                </a:solidFill>
                <a:latin typeface="Inter"/>
                <a:ea typeface="Inter"/>
                <a:cs typeface="Inter"/>
              </a:rPr>
              <a:t>Doctor: open the patient overview and source reports.</a:t>
            </a:r>
          </a:p>
          <a:p xmlns:a="http://schemas.openxmlformats.org/drawingml/2006/main">
            <a:pPr>
              <a:defRPr sz="2100" b="0">
                <a:solidFill>
                  <a:srgbClr val="596B77"/>
                </a:solidFill>
                <a:latin typeface="Inter"/>
                <a:ea typeface="Inter"/>
                <a:cs typeface="Inter"/>
              </a:defRPr>
            </a:pPr>
            <a:r>
              <a:rPr sz="2100" b="0">
                <a:solidFill>
                  <a:srgbClr val="596B77"/>
                </a:solidFill>
                <a:latin typeface="Inter"/>
                <a:ea typeface="Inter"/>
                <a:cs typeface="Inter"/>
              </a:rPr>
              <a:t>Clinic team: upload, review and publish a report.</a:t>
            </a:r>
          </a:p>
          <a:p xmlns:a="http://schemas.openxmlformats.org/drawingml/2006/main">
            <a:pPr>
              <a:defRPr sz="2100" b="0">
                <a:solidFill>
                  <a:srgbClr val="596B77"/>
                </a:solidFill>
                <a:latin typeface="Inter"/>
                <a:ea typeface="Inter"/>
                <a:cs typeface="Inter"/>
              </a:defRPr>
            </a:pPr>
            <a:r>
              <a:rPr sz="2100" b="0">
                <a:solidFill>
                  <a:srgbClr val="596B77"/>
                </a:solidFill>
                <a:latin typeface="Inter"/>
                <a:ea typeface="Inter"/>
                <a:cs typeface="Inter"/>
              </a:rPr>
              <a:t>Patient: add readings, symptoms and an SOS snapshot.</a:t>
            </a:r>
          </a:p>
          <a:p xmlns:a="http://schemas.openxmlformats.org/drawingml/2006/main">
            <a:pPr>
              <a:defRPr sz="2100" b="0">
                <a:solidFill>
                  <a:srgbClr val="596B77"/>
                </a:solidFill>
                <a:latin typeface="Inter"/>
                <a:ea typeface="Inter"/>
                <a:cs typeface="Inter"/>
              </a:defRPr>
            </a:pPr>
            <a:r>
              <a:rPr sz="2100" b="0">
                <a:solidFill>
                  <a:srgbClr val="596B77"/>
                </a:solidFill>
                <a:latin typeface="Inter"/>
                <a:ea typeface="Inter"/>
                <a:cs typeface="Inter"/>
              </a:rPr>
              <a:t>Switch roles to see the shared update and access boundaries.</a:t>
            </a:r>
          </a:p>
        </p:txBody>
      </p:sp>
      <p:sp>
        <p:nvSpPr>
          <p:cNvPr id="7" name="">
            <a:extLst xmlns:a="http://schemas.openxmlformats.org/drawingml/2006/main">
              <a:ext uri="{FF2B5EF4-FFF2-40B4-BE49-F238E27FC236}">
                <a16:creationId xmlns:a16="http://schemas.microsoft.com/office/drawing/2014/main" id="{D94678E6-A974-4B81-A0BD-C524E6D2F570}"/>
              </a:ext>
            </a:extLst>
          </p:cNvPr>
          <p:cNvSpPr>
            <a:spLocks xmlns:a="http://schemas.openxmlformats.org/drawingml/2006/main" noGrp="1"/>
          </p:cNvSpPr>
          <p:nvPr/>
        </p:nvSpPr>
        <p:spPr>
          <a:xfrm xmlns:a="http://schemas.openxmlformats.org/drawingml/2006/main">
            <a:off x="9525000" y="3857625"/>
            <a:ext cx="819150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DCE4EA"/>
            </a:solidFill>
          </a:ln>
        </p:spPr>
      </p:sp>
      <p:sp>
        <p:nvSpPr>
          <p:cNvPr id="8" name="">
            <a:extLst xmlns:a="http://schemas.openxmlformats.org/drawingml/2006/main">
              <a:ext uri="{FF2B5EF4-FFF2-40B4-BE49-F238E27FC236}">
                <a16:creationId xmlns:a16="http://schemas.microsoft.com/office/drawing/2014/main" id="{9372AD82-4180-4639-A14E-19BB5DDEDBB1}"/>
              </a:ext>
            </a:extLst>
          </p:cNvPr>
          <p:cNvSpPr>
            <a:spLocks xmlns:a="http://schemas.openxmlformats.org/drawingml/2006/main" noGrp="1"/>
          </p:cNvSpPr>
          <p:nvPr/>
        </p:nvSpPr>
        <p:spPr>
          <a:xfrm xmlns:a="http://schemas.openxmlformats.org/drawingml/2006/main">
            <a:off x="9715500" y="4010025"/>
            <a:ext cx="781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What the next pilot must establish</a:t>
            </a:r>
          </a:p>
        </p:txBody>
      </p:sp>
      <p:sp>
        <p:nvSpPr>
          <p:cNvPr id="9" name="">
            <a:extLst xmlns:a="http://schemas.openxmlformats.org/drawingml/2006/main">
              <a:ext uri="{FF2B5EF4-FFF2-40B4-BE49-F238E27FC236}">
                <a16:creationId xmlns:a16="http://schemas.microsoft.com/office/drawing/2014/main" id="{B5D50379-1BE5-40B4-8B83-C5ED35DC5852}"/>
              </a:ext>
            </a:extLst>
          </p:cNvPr>
          <p:cNvSpPr>
            <a:spLocks xmlns:a="http://schemas.openxmlformats.org/drawingml/2006/main" noGrp="1"/>
          </p:cNvSpPr>
          <p:nvPr/>
        </p:nvSpPr>
        <p:spPr>
          <a:xfrm xmlns:a="http://schemas.openxmlformats.org/drawingml/2006/main">
            <a:off x="9715500" y="4457700"/>
            <a:ext cx="781050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96B77"/>
                </a:solidFill>
                <a:latin typeface="Inter"/>
                <a:ea typeface="Inter"/>
                <a:cs typeface="Inter"/>
              </a:defRPr>
            </a:pPr>
            <a:r>
              <a:rPr sz="2100" b="0">
                <a:solidFill>
                  <a:srgbClr val="596B77"/>
                </a:solidFill>
                <a:latin typeface="Inter"/>
                <a:ea typeface="Inter"/>
                <a:cs typeface="Inter"/>
              </a:rPr>
              <a:t>Whether the combined preparation and review time improves.</a:t>
            </a:r>
          </a:p>
          <a:p xmlns:a="http://schemas.openxmlformats.org/drawingml/2006/main">
            <a:pPr>
              <a:defRPr sz="2100" b="0">
                <a:solidFill>
                  <a:srgbClr val="596B77"/>
                </a:solidFill>
                <a:latin typeface="Inter"/>
                <a:ea typeface="Inter"/>
                <a:cs typeface="Inter"/>
              </a:defRPr>
            </a:pPr>
            <a:r>
              <a:rPr sz="2100" b="0">
                <a:solidFill>
                  <a:srgbClr val="596B77"/>
                </a:solidFill>
                <a:latin typeface="Inter"/>
                <a:ea typeface="Inter"/>
                <a:cs typeface="Inter"/>
              </a:rPr>
              <a:t>How often extraction needs correction on unfamiliar reports.</a:t>
            </a:r>
          </a:p>
          <a:p xmlns:a="http://schemas.openxmlformats.org/drawingml/2006/main">
            <a:pPr>
              <a:defRPr sz="2100" b="0">
                <a:solidFill>
                  <a:srgbClr val="596B77"/>
                </a:solidFill>
                <a:latin typeface="Inter"/>
                <a:ea typeface="Inter"/>
                <a:cs typeface="Inter"/>
              </a:defRPr>
            </a:pPr>
            <a:r>
              <a:rPr sz="2100" b="0">
                <a:solidFill>
                  <a:srgbClr val="596B77"/>
                </a:solidFill>
                <a:latin typeface="Inter"/>
                <a:ea typeface="Inter"/>
                <a:cs typeface="Inter"/>
              </a:rPr>
              <a:t>Whether staff and patients can use the workflow consistently.</a:t>
            </a:r>
          </a:p>
          <a:p xmlns:a="http://schemas.openxmlformats.org/drawingml/2006/main">
            <a:pPr>
              <a:defRPr sz="2100" b="0">
                <a:solidFill>
                  <a:srgbClr val="596B77"/>
                </a:solidFill>
                <a:latin typeface="Inter"/>
                <a:ea typeface="Inter"/>
                <a:cs typeface="Inter"/>
              </a:defRPr>
            </a:pPr>
            <a:r>
              <a:rPr sz="2100" b="0">
                <a:solidFill>
                  <a:srgbClr val="596B77"/>
                </a:solidFill>
                <a:latin typeface="Inter"/>
                <a:ea typeface="Inter"/>
                <a:cs typeface="Inter"/>
              </a:rPr>
              <a:t>Physical-device and clinician testing remain necessary.</a:t>
            </a:r>
          </a:p>
        </p:txBody>
      </p:sp>
      <p:sp>
        <p:nvSpPr>
          <p:cNvPr id="10" name="">
            <a:extLst xmlns:a="http://schemas.openxmlformats.org/drawingml/2006/main">
              <a:ext uri="{FF2B5EF4-FFF2-40B4-BE49-F238E27FC236}">
                <a16:creationId xmlns:a16="http://schemas.microsoft.com/office/drawing/2014/main" id="{3B08357A-C911-4196-8E7E-721504FF8014}"/>
              </a:ext>
            </a:extLst>
          </p:cNvPr>
          <p:cNvSpPr>
            <a:spLocks xmlns:a="http://schemas.openxmlformats.org/drawingml/2006/main" noGrp="1"/>
          </p:cNvSpPr>
          <p:nvPr/>
        </p:nvSpPr>
        <p:spPr>
          <a:xfrm xmlns:a="http://schemas.openxmlformats.org/drawingml/2006/main">
            <a:off x="571500" y="7810500"/>
            <a:ext cx="1714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7A76"/>
                </a:solidFill>
                <a:latin typeface="Inter"/>
                <a:ea typeface="Inter"/>
                <a:cs typeface="Inter"/>
              </a:defRPr>
            </a:pPr>
            <a:r>
              <a:rPr sz="3000" b="1">
                <a:solidFill>
                  <a:srgbClr val="137A76"/>
                </a:solidFill>
                <a:latin typeface="Inter"/>
                <a:ea typeface="Inter"/>
                <a:cs typeface="Inter"/>
              </a:rPr>
              <a:t>Live demo: glucoflow.vercel.app</a:t>
            </a:r>
          </a:p>
        </p:txBody>
      </p:sp>
      <p:sp>
        <p:nvSpPr>
          <p:cNvPr id="11" name="">
            <a:extLst xmlns:a="http://schemas.openxmlformats.org/drawingml/2006/main">
              <a:ext uri="{FF2B5EF4-FFF2-40B4-BE49-F238E27FC236}">
                <a16:creationId xmlns:a16="http://schemas.microsoft.com/office/drawing/2014/main" id="{7EED556D-F25C-4932-A487-76DE9F3F3A3C}"/>
              </a:ext>
            </a:extLst>
          </p:cNvPr>
          <p:cNvSpPr>
            <a:spLocks xmlns:a="http://schemas.openxmlformats.org/drawingml/2006/main" noGrp="1"/>
          </p:cNvSpPr>
          <p:nvPr/>
        </p:nvSpPr>
        <p:spPr>
          <a:xfrm xmlns:a="http://schemas.openxmlformats.org/drawingml/2006/main">
            <a:off x="571500" y="8858250"/>
            <a:ext cx="17145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6B77"/>
                </a:solidFill>
                <a:latin typeface="Inter"/>
                <a:ea typeface="Inter"/>
                <a:cs typeface="Inter"/>
              </a:defRPr>
            </a:pPr>
            <a:r>
              <a:rPr sz="1800" b="0">
                <a:solidFill>
                  <a:srgbClr val="596B77"/>
                </a:solidFill>
                <a:latin typeface="Inter"/>
                <a:ea typeface="Inter"/>
                <a:cs typeface="Inter"/>
              </a:rPr>
              <a:t>Synthetic demo. Human approval is required before extracted facts enter the patient timeline. Clinical and productivity outcomes need a pilot.</a:t>
            </a:r>
          </a:p>
        </p:txBody>
      </p:sp>
    </p:spTree>
    <p:extLst>
      <p:ext uri="{BB962C8B-B14F-4D97-AF65-F5344CB8AC3E}">
        <p14:creationId xmlns:p14="http://schemas.microsoft.com/office/powerpoint/2010/main" val="11244604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2026-10-03T17:47:32.6830000Z</dcterms:created>
  <dcterms:modified xsi:type="dcterms:W3CDTF">2026-10-03T17:47:32.6830000Z</dcterms:modified>
</coreProperties>
</file>