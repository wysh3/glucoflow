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97809af1ae4d37" /><Relationship Type="http://schemas.openxmlformats.org/officeDocument/2006/relationships/extended-properties" Target="/docProps/app.xml" Id="R4bdc0a3244b54b83" /><Relationship Type="http://schemas.openxmlformats.org/officeDocument/2006/relationships/officeDocument" Target="/ppt/presentation.xml" Id="R18c504d31c65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9456630eb74fa1"/>
  </p:sldMasterIdLst>
  <p:notesMasterIdLst>
    <p:notesMasterId xmlns:r="http://schemas.openxmlformats.org/officeDocument/2006/relationships" r:id="R3f706cbd4b984506"/>
  </p:notesMasterIdLst>
  <p:sldIdLst>
    <p:sldId xmlns:r="http://schemas.openxmlformats.org/officeDocument/2006/relationships" id="256" r:id="Raf4901e3a0b24d46"/>
    <p:sldId xmlns:r="http://schemas.openxmlformats.org/officeDocument/2006/relationships" id="257" r:id="Raa83afd243ba43b2"/>
    <p:sldId xmlns:r="http://schemas.openxmlformats.org/officeDocument/2006/relationships" id="258" r:id="R4eb5f6223c1c46fd"/>
    <p:sldId xmlns:r="http://schemas.openxmlformats.org/officeDocument/2006/relationships" id="259" r:id="R3bac1a2b756f4bd6"/>
    <p:sldId xmlns:r="http://schemas.openxmlformats.org/officeDocument/2006/relationships" id="260" r:id="R32db659362df482d"/>
    <p:sldId xmlns:r="http://schemas.openxmlformats.org/officeDocument/2006/relationships" id="261" r:id="Rb8f5ff93768548ab"/>
    <p:sldId xmlns:r="http://schemas.openxmlformats.org/officeDocument/2006/relationships" id="262" r:id="R18d498cd10204ec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8be15fe19043e0" /><Relationship Type="http://schemas.openxmlformats.org/officeDocument/2006/relationships/slideMaster" Target="/ppt/slideMasters/slideMaster1.xml" Id="R989456630eb74fa1" /><Relationship Type="http://schemas.openxmlformats.org/officeDocument/2006/relationships/notesMaster" Target="/ppt/notesMasters/notesMaster1.xml" Id="R3f706cbd4b984506" /><Relationship Type="http://schemas.openxmlformats.org/officeDocument/2006/relationships/presProps" Target="/ppt/presProps.xml" Id="R1682b7d8f6dc4f06" /><Relationship Type="http://schemas.openxmlformats.org/officeDocument/2006/relationships/tableStyles" Target="/ppt/tableStyles.xml" Id="Rf4eb6786d92d4a98" /><Relationship Type="http://schemas.openxmlformats.org/officeDocument/2006/relationships/slide" Target="/ppt/slides/slide1.xml" Id="Raf4901e3a0b24d46" /><Relationship Type="http://schemas.openxmlformats.org/officeDocument/2006/relationships/slide" Target="/ppt/slides/slide2.xml" Id="Raa83afd243ba43b2" /><Relationship Type="http://schemas.openxmlformats.org/officeDocument/2006/relationships/slide" Target="/ppt/slides/slide3.xml" Id="R4eb5f6223c1c46fd" /><Relationship Type="http://schemas.openxmlformats.org/officeDocument/2006/relationships/slide" Target="/ppt/slides/slide4.xml" Id="R3bac1a2b756f4bd6" /><Relationship Type="http://schemas.openxmlformats.org/officeDocument/2006/relationships/slide" Target="/ppt/slides/slide5.xml" Id="R32db659362df482d" /><Relationship Type="http://schemas.openxmlformats.org/officeDocument/2006/relationships/slide" Target="/ppt/slides/slide6.xml" Id="Rb8f5ff93768548ab" /><Relationship Type="http://schemas.openxmlformats.org/officeDocument/2006/relationships/slide" Target="/ppt/slides/slide7.xml" Id="R18d498cd1020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405e29f65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d2cfc6f124c16" /><Relationship Type="http://schemas.openxmlformats.org/officeDocument/2006/relationships/notesMaster" Target="/ppt/notesMasters/notesMaster1.xml" Id="R6fa3d305324742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c571373be54e4e" /><Relationship Type="http://schemas.openxmlformats.org/officeDocument/2006/relationships/notesMaster" Target="/ppt/notesMasters/notesMaster1.xml" Id="Ra47baaad77f0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c83438ae5406d" /><Relationship Type="http://schemas.openxmlformats.org/officeDocument/2006/relationships/notesMaster" Target="/ppt/notesMasters/notesMaster1.xml" Id="R08837925df5049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b9344462e4d16" /><Relationship Type="http://schemas.openxmlformats.org/officeDocument/2006/relationships/notesMaster" Target="/ppt/notesMasters/notesMaster1.xml" Id="R24e9f55517ac44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49909d029242cf" /><Relationship Type="http://schemas.openxmlformats.org/officeDocument/2006/relationships/notesMaster" Target="/ppt/notesMasters/notesMaster1.xml" Id="R70e379155f6c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01b8d037f41ac" /><Relationship Type="http://schemas.openxmlformats.org/officeDocument/2006/relationships/notesMaster" Target="/ppt/notesMasters/notesMaster1.xml" Id="Rba8437f3f63b48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197b84b51d4394" /><Relationship Type="http://schemas.openxmlformats.org/officeDocument/2006/relationships/notesMaster" Target="/ppt/notesMasters/notesMaster1.xml" Id="R51383c15e1b2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deployed progression view. Synthetic patient data. Clinical interpretation remains with the physician.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 points from the supplied PDFs and user workflow discussions. OPD and review timings are not measured. An absent record is not proof a test was not done.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text_to_pdf_Imagetotext.pdf and GlucoFlow Master Technical Dashboard &amp; Architecture (1).pdf. All fifteen chart values preserved exactly. Prescription event summaries: June12 2023 glargine10units bedtime; June12 2024 lispro4units preprandial plus glimepiride2mg; 2026Q1–Q2 glargine14units nightly plus lispro4unitsTID. Metformin also recorded. Dates of annual lab observations are not exact; no causal inference. AI extraction uses OCR and GPT-6 Luna.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Web/Android client, authenticated API, durable processing worker, Supabase PostgreSQL and private source storage. Server permissions and database policies control access. Patient reports remain distinct from approved extracted measurements. Append-only events and a SHA256 snapshot digest are application controls. Updated Android flow remains to be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30% target is a proposed pilot success criterion, not a measured benefit. Compare both ordinary manual preparation and a structured manual timeline. Current implementation evidence:135 local automated tests; previous hosted baseline25/25API checks and12/12database policy checks. These are engineering checks, not clinical or productivity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Subscription and expansion are proposed. No price, revenue or customer count is validated. Live ABHA integration is not implemented. Current stack:Vite React, Fastify API/worker, Supabase Auth/PostgreSQL/Storage, Azure Container Apps, Vercel frontend. Per-document extraction budget gate and scale-to-zero help control operating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demo accounts. Physician retains clinical judgment. No clinical diagnosis, treatment recommendation or emergency dispatch. Official hackathon scope:https://healthathon.reskilll.com/ is non-clinical operational workflow improvement, human assistance and measurement within60–90days. Productivity and clinical outcomes require user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391d2576c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ffb06b01a1413b" /><Relationship Type="http://schemas.openxmlformats.org/officeDocument/2006/relationships/slideLayout" Target="/ppt/slideLayouts/slideLayout1.xml" Id="R56df5ac8c47945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f5ac8c47945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d4ea4d1e34a96" /><Relationship Type="http://schemas.openxmlformats.org/officeDocument/2006/relationships/image" Target="/ppt/media/image.jpeg" Id="R5d1c862219e54f9c" /><Relationship Type="http://schemas.openxmlformats.org/officeDocument/2006/relationships/notesSlide" Target="/ppt/notesSlides/notesSlide1.xml" Id="R1c7d159cb28a48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41e72b366427c" /><Relationship Type="http://schemas.openxmlformats.org/officeDocument/2006/relationships/notesSlide" Target="/ppt/notesSlides/notesSlide2.xml" Id="R41ec7c631186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9553c8be7465f" /><Relationship Type="http://schemas.openxmlformats.org/officeDocument/2006/relationships/chart" Target="/ppt/slides/charts/chart1.xml" Id="R35a1ffa646a548c4" /><Relationship Type="http://schemas.openxmlformats.org/officeDocument/2006/relationships/notesSlide" Target="/ppt/notesSlides/notesSlide3.xml" Id="Ra84fac8bc218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02d38129d4f0a" /><Relationship Type="http://schemas.openxmlformats.org/officeDocument/2006/relationships/notesSlide" Target="/ppt/notesSlides/notesSlide4.xml" Id="R7cb30193521940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154f747df4fd3" /><Relationship Type="http://schemas.openxmlformats.org/officeDocument/2006/relationships/notesSlide" Target="/ppt/notesSlides/notesSlide5.xml" Id="Rd0c6ff395cc84d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696892e974d48" /><Relationship Type="http://schemas.openxmlformats.org/officeDocument/2006/relationships/notesSlide" Target="/ppt/notesSlides/notesSlide6.xml" Id="R1f4dcef507e142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3d5ea99a84b53" /><Relationship Type="http://schemas.openxmlformats.org/officeDocument/2006/relationships/notesSlide" Target="/ppt/notesSlides/notesSlide7.xml" Id="Rbf5a849321a5466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HbA1c (%)</c:v>
          </c:tx>
          <c:spPr>
            <a:ln xmlns:a="http://schemas.openxmlformats.org/drawingml/2006/main" w="28575">
              <a:solidFill>
                <a:srgbClr val="CC2453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C2453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Data'!$B$2:$B$6</c:f>
              <c:numCache>
                <c:formatCode>0.0"%"</c:formatCode>
                <c:ptCount val="5"/>
                <c:pt idx="0">
                  <c:v>7.2</c:v>
                </c:pt>
                <c:pt idx="1">
                  <c:v>7.3</c:v>
                </c:pt>
                <c:pt idx="2">
                  <c:v>7</c:v>
                </c:pt>
                <c:pt idx="3">
                  <c:v>7.6</c:v>
                </c:pt>
                <c:pt idx="4">
                  <c:v>8</c:v>
                </c:pt>
              </c:numCache>
            </c:numRef>
          </c:val>
          <c:smooth val="0"/>
        </c:ser>
        <c:smooth val="0"/>
        <c:axId val="48650112"/>
        <c:axId val="48672768"/>
      </c:lineChart>
      <c:lineChart>
        <c:grouping val="standard"/>
        <c:ser>
          <c:idx val="1"/>
          <c:order val="1"/>
          <c:tx>
            <c:v>Fasting (mg/dL)</c:v>
          </c:tx>
          <c:spPr>
            <a:ln xmlns:a="http://schemas.openxmlformats.org/drawingml/2006/main" w="28575">
              <a:solidFill>
                <a:srgbClr val="CF800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F800B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Data'!$D$2:$D$6</c:f>
              <c:numCache>
                <c:formatCode>0.0"%"</c:formatCode>
                <c:ptCount val="5"/>
                <c:pt idx="0">
                  <c:v>132</c:v>
                </c:pt>
                <c:pt idx="1">
                  <c:v>140</c:v>
                </c:pt>
                <c:pt idx="2">
                  <c:v>118</c:v>
                </c:pt>
                <c:pt idx="3">
                  <c:v>135</c:v>
                </c:pt>
                <c:pt idx="4">
                  <c:v>142</c:v>
                </c:pt>
              </c:numCache>
            </c:numRef>
          </c:val>
          <c:smooth val="0"/>
        </c:ser>
        <c:ser>
          <c:idx val="2"/>
          <c:order val="2"/>
          <c:tx>
            <c:v>Post-meal (mg/dL)</c:v>
          </c:tx>
          <c:spPr>
            <a:ln xmlns:a="http://schemas.openxmlformats.org/drawingml/2006/main" w="28575">
              <a:solidFill>
                <a:srgbClr val="137A7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37A76"/>
              </a:solidFill>
            </c:spPr>
          </c:marker>
          <c:cat>
            <c:strRef>
              <c:f>'Chart Data'!$E$2:$E$6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Data'!$F$2:$F$6</c:f>
              <c:numCache>
                <c:formatCode>0.0"%"</c:formatCode>
                <c:ptCount val="5"/>
                <c:pt idx="0">
                  <c:v>175</c:v>
                </c:pt>
                <c:pt idx="1">
                  <c:v>188</c:v>
                </c:pt>
                <c:pt idx="2">
                  <c:v>165</c:v>
                </c:pt>
                <c:pt idx="3">
                  <c:v>195</c:v>
                </c:pt>
                <c:pt idx="4">
                  <c:v>210</c:v>
                </c:pt>
              </c:numCache>
            </c:numRef>
          </c:val>
          <c:smooth val="0"/>
        </c:ser>
        <c:axId val="48650112"/>
        <c:axId val="400002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F0"/>
              </a:solidFill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1.25"/>
      </c:valAx>
      <c:spPr>
        <a:solidFill xmlns:a="http://schemas.openxmlformats.org/drawingml/2006/main">
          <a:srgbClr val="FFFFFF"/>
        </a:solidFill>
      </c:spPr>
      <c:valAx>
        <c:axId val="400002"/>
        <c:scaling>
          <c:orientation val="minMax"/>
          <c:max val="250"/>
          <c:min val="70"/>
        </c:scaling>
        <c:delete val="0"/>
        <c:axPos val="r"/>
        <c:numFmt formatCode="0"/>
        <c:majorTickMark val="none"/>
        <c:minorTickMark val="none"/>
        <c:tickLblPos val="high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4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9E5EA-39D9-4E4F-9995-77F32D24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7DDE3-5DD9-4DE5-AA33-BDF1F596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095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A patient’s follow-up history, ready for the doctor to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A6D0F-1D72-44C7-855B-B16514B9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Lab trends, prescriptions and patient reports together, with access to the original records.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c862219e54f9c"/>
          <a:stretch xmlns:a="http://schemas.openxmlformats.org/drawingml/2006/main"/>
        </p:blipFill>
        <p:spPr>
          <a:xfrm xmlns:a="http://schemas.openxmlformats.org/drawingml/2006/main">
            <a:off x="6196542" y="2047875"/>
            <a:ext cx="11514667" cy="647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83BB5-22AB-44E0-A085-B04AEDA4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916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37A76"/>
                </a:solidFill>
                <a:latin typeface="Inter"/>
                <a:ea typeface="Inter"/>
                <a:cs typeface="Inter"/>
              </a:rPr>
              <a:t>glucoflow.vercel.app</a:t>
            </a:r>
          </a:p>
        </p:txBody>
      </p:sp>
    </p:spTree>
    <p:extLst>
      <p:ext uri="{BB962C8B-B14F-4D97-AF65-F5344CB8AC3E}">
        <p14:creationId xmlns:p14="http://schemas.microsoft.com/office/powerpoint/2010/main" val="1790940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9F4E9-D688-4259-99BF-83496F03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AEE39-1F4D-477B-8243-B732DDD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Reports are scattered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7968C-FE60-498C-A6F1-CB308F7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Lab slips and prescriptions arrive from different visits. Finding the right result, date and source takes repeated searching.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01C29-1E0D-4FDB-895B-82464144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History takes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F0147-7ECA-40E8-B89F-CE7065F2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To compare visits, the doctor must piece together test results, medication changes and patient-reported problems.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C66B9-5EB2-4A5C-8C99-65EAAE0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Follow-up is hard to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1C092-4D44-49D1-A8AE-2EAFF3C3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Staff must check which screening dates are recorded and which follow-ups are still pending.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55C4D-7239-447C-92A1-B9312630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Preparing the history competes with time spent listening to the patient.</a:t>
            </a:r>
          </a:p>
        </p:txBody>
      </p:sp>
    </p:spTree>
    <p:extLst>
      <p:ext uri="{BB962C8B-B14F-4D97-AF65-F5344CB8AC3E}">
        <p14:creationId xmlns:p14="http://schemas.microsoft.com/office/powerpoint/2010/main" val="1207487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6A117-3298-4A0A-918F-E07AF32A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73B49-2D97-44C0-A02A-B5B427A7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209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Glucose history · 2022–2026 Q2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86D4D-9D0B-4B7C-B2F6-E9D2AB9E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C2453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CC2453"/>
                </a:solidFill>
                <a:latin typeface="Inter"/>
                <a:ea typeface="Inter"/>
                <a:cs typeface="Inter"/>
              </a:rPr>
              <a:t>HbA1c (%)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4E7CA-040C-4163-B356-737EC873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716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Blood glucose (mg/dL)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2192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a1ffa646a548c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5AC5C-2900-4721-BFCB-33DCC916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571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Prescription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84A1B-A5B6-4061-9917-E1A64CFC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3625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2023 · Glargine added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2024 · Lispro and glimepiride added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2026 · Updated insulin regimen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36E05-DD81-4AF7-94C3-1C1DD2CB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Open each event to inspect the prescription.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D4164-5901-4DFD-A622-318339EE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Extract and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79A30-FC9A-4A76-9798-E6BE87A3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AI extracts report fields with source evidence. A reviewer checks them before publication.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C30B5-2EF3-4B38-BD8F-EAD43887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Review progression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225A2-035E-4A25-B742-EE68E5A7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Dated results and medications share one timeline. Original reports stay accessible.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20C6D-FDCA-4B4C-A55E-F1601B2C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Add patient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3391C-457D-4E6D-B113-EDB602A7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Home readings and symptoms sit alongside the history. Recorded screening dates support follow-up.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FD647-9496-4626-A6C9-ED994BA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58375"/>
            <a:ext cx="1714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Illustrative patient scenario. HbA1c and glucose use separate axes; year-level timing is approximate.</a:t>
            </a:r>
          </a:p>
        </p:txBody>
      </p:sp>
    </p:spTree>
    <p:extLst>
      <p:ext uri="{BB962C8B-B14F-4D97-AF65-F5344CB8AC3E}">
        <p14:creationId xmlns:p14="http://schemas.microsoft.com/office/powerpoint/2010/main" val="153897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CDC980-1108-4247-9748-996AAF7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F182-0B31-4F13-A74E-1F30943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C9B78-3599-4B42-B5FC-F8437D1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BE982-1CA7-4477-BC20-2CD982B2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Upload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0EB55-B324-41F3-9592-FEB1B9CF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Lab reports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Prescriptions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PDF or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B6C9B-27C1-4007-B157-25567869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D4BE-CDD5-4857-AF5A-1CAE5663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076E8-C1F1-4A00-97D6-BEBE1E67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AI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84131-6B08-4E61-83D1-AE8A665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Identify patient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Extract fields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Attach source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E4C5A-540D-441D-B7EE-BA96D84B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E9636-312A-41E0-A69F-32BA4CCF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B01CF-BB84-4D3E-900E-DB768F3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Human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4E329-5823-48C2-A6EE-9D84A90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Check identity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Correct entries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Approve publication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135BC-BB39-45F2-8EA0-3C850F92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246DD-3EE2-4D00-93B3-AD37ED13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92895-0F71-44AB-B522-31C4497C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3E67E-C849-43B6-B309-BE88BF0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Approved results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Dated prescriptions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Original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20BFF-456A-4DE9-9F33-E7230BF8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8569B-C36E-4485-BF7D-F80B5F3B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724A5-9D75-4F6D-B88A-9439AC37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Doctor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7BF93-191B-443C-BE20-212CA40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Progression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Medication history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Inspect and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FE906-1F2C-49E6-BA79-8A17DA0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Patient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2CDB6-FCFF-4277-85FF-061029D4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A1527-E0F1-4FCA-A8F8-8449300F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7FC33-AB56-4AA5-85FE-76DCB4AA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Home readings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Symptoms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Medication timing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5CCCD-7B8C-453A-BD42-49E03C35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FAB97-BB7C-4645-A827-4EF19207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D5E983-BD14-4923-839A-1C2BE558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Record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F9A69-CB30-4C22-A575-C20244A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Timestamp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Patient-reported label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Retain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0DC6DE-E442-4862-B81F-77C4394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6F7B38-A11C-425C-B540-78AB297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5C3281-1DCB-496B-B87D-963D3E0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Follow-up tracking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60D15C-3209-4357-A3B0-23B5BA80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Recorded 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Clinic-set intervals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Pending 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44341C-4513-40DB-B281-F470876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C27921-8432-4C96-9BCF-E9542158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8F04D3-6ECB-4A3B-A0B9-E55F81C4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342414-16B3-454F-9C68-5D9C8E3A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Review updates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Record screening 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Acknowledge snapshots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2342F5-5E05-49A6-BAC4-0C9152C2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E00A3-2AF6-4B11-88A8-84E79928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39E75D-DBF4-48A8-BA9C-DCCA9739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Visit overview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2F779A-8F55-49A3-94FA-0174EBA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Shared history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Source reports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Visit summary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1B25BF-5A64-451E-A206-E9ED6D24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10625"/>
            <a:ext cx="1714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SOS demo → freeze the shared history → clinic inspects and acknowledges the snapshot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C52974-9DE7-47BF-8D49-F967A52C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58375"/>
            <a:ext cx="1714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SOS sends a snapshot to the demo clinic inbox; it does not dispatch emergency services.</a:t>
            </a:r>
          </a:p>
        </p:txBody>
      </p:sp>
    </p:spTree>
    <p:extLst>
      <p:ext uri="{BB962C8B-B14F-4D97-AF65-F5344CB8AC3E}">
        <p14:creationId xmlns:p14="http://schemas.microsoft.com/office/powerpoint/2010/main" val="2076290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7E137-DAC3-46B0-A59A-2514F6F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9B4DC-6699-411E-8B33-6EDAADC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Doctors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AC777-BFE1-4B04-B88C-129DB85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Review trends and medication history together. Inspect a source report without searching through separate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B3210-C8DB-4836-8069-23E60DC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13DD5-279A-4539-A33E-2B698A6C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Manage extraction and approval in one queue. Keep unresolved records and pending follow-up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F1F50-3D24-4986-AADE-F695158F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6B1B9-5EFB-435B-9040-12C456DD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Upload reports between visits and record home readings and symptoms in the same patient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C9AE1-C831-472E-8A0A-B4C74060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91375"/>
            <a:ext cx="1666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Pilot target: 30% less preparation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67740-A264-41B6-A9EA-6873E108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666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Over 60–90 days, compare combined staff and doctor time with manual preparation. Also measure correction rates and report retrieval. Time savings have not yet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787024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D390F-D635-4D76-91B7-18329DB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Scalability and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86603-E149-4464-8ABD-C614CA94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subscription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1E6EC-D1A0-4E95-96B4-468EF79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Proposed subscription per clinic, with a document-processing allowance. Validate pricing in a supervised diabetes OPD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24540-DCC6-49D1-B9AA-B9DA1F43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Processing at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ADEBF-F161-42EE-AF68-63C31855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Separate browsing and document-processing services. Durable jobs handle retries; clinic and patient access stays isolated.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36123-8C8F-4CA1-861B-21A409D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Expansion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0DEDF-41A0-452E-A971-A509D8D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Support more report layouts and regional languages. Later, add clinic-system integrations and consent-based ABHA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DABE5-87DB-4BB1-B982-5D0B399C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Expand after measuring review effort, processing cost and clinic willingness to pay.</a:t>
            </a:r>
          </a:p>
        </p:txBody>
      </p:sp>
    </p:spTree>
    <p:extLst>
      <p:ext uri="{BB962C8B-B14F-4D97-AF65-F5344CB8AC3E}">
        <p14:creationId xmlns:p14="http://schemas.microsoft.com/office/powerpoint/2010/main" val="892491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BD4FF-AF7E-4F77-9BC3-06341AA1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022C9-9DBB-4218-B36E-88FE1049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666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Glucoflow brings the follow-up history into one place, so doctors can review progression and inspect the records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6A2E5-0557-4F94-B2C4-22CE426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666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Patients add records. Clinic teams verify them. Doctors review the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AC22D-0CFB-43B8-A253-4CA80F99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glucoflow.vercel.app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E3FFB-82B9-48C3-914E-47B0039A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10625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Choose Doctor, Clinic team or Patient to explore the workflow.</a:t>
            </a:r>
          </a:p>
        </p:txBody>
      </p:sp>
    </p:spTree>
    <p:extLst>
      <p:ext uri="{BB962C8B-B14F-4D97-AF65-F5344CB8AC3E}">
        <p14:creationId xmlns:p14="http://schemas.microsoft.com/office/powerpoint/2010/main" val="546776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2026-10-03T17:57:25.4310000Z</dcterms:created>
  <dcterms:modified xsi:type="dcterms:W3CDTF">2026-10-03T17:57:25.4310000Z</dcterms:modified>
</coreProperties>
</file>