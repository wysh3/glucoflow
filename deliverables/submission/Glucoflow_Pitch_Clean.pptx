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296a544e0b4f5d" /><Relationship Type="http://schemas.openxmlformats.org/officeDocument/2006/relationships/extended-properties" Target="/docProps/app.xml" Id="R3399f70e3b5447ab" /><Relationship Type="http://schemas.openxmlformats.org/officeDocument/2006/relationships/officeDocument" Target="/ppt/presentation.xml" Id="Reaef57a86a784d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b77a77f30c4e4a"/>
  </p:sldMasterIdLst>
  <p:notesMasterIdLst>
    <p:notesMasterId xmlns:r="http://schemas.openxmlformats.org/officeDocument/2006/relationships" r:id="Rf7c0c784fc81456a"/>
  </p:notesMasterIdLst>
  <p:sldIdLst>
    <p:sldId xmlns:r="http://schemas.openxmlformats.org/officeDocument/2006/relationships" id="256" r:id="Rc20d95eb76a04ab4"/>
    <p:sldId xmlns:r="http://schemas.openxmlformats.org/officeDocument/2006/relationships" id="257" r:id="R4d69f82e8e6f486a"/>
    <p:sldId xmlns:r="http://schemas.openxmlformats.org/officeDocument/2006/relationships" id="258" r:id="R3c7e23d28e774c7e"/>
    <p:sldId xmlns:r="http://schemas.openxmlformats.org/officeDocument/2006/relationships" id="259" r:id="R29753d734567412a"/>
    <p:sldId xmlns:r="http://schemas.openxmlformats.org/officeDocument/2006/relationships" id="260" r:id="R6572a0393ad94a9d"/>
    <p:sldId xmlns:r="http://schemas.openxmlformats.org/officeDocument/2006/relationships" id="261" r:id="R0c3bce1859b240cf"/>
    <p:sldId xmlns:r="http://schemas.openxmlformats.org/officeDocument/2006/relationships" id="262" r:id="Ree6f87bf5f8b467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32167db10946ec" /><Relationship Type="http://schemas.openxmlformats.org/officeDocument/2006/relationships/slideMaster" Target="/ppt/slideMasters/slideMaster1.xml" Id="Rc5b77a77f30c4e4a" /><Relationship Type="http://schemas.openxmlformats.org/officeDocument/2006/relationships/notesMaster" Target="/ppt/notesMasters/notesMaster1.xml" Id="Rf7c0c784fc81456a" /><Relationship Type="http://schemas.openxmlformats.org/officeDocument/2006/relationships/presProps" Target="/ppt/presProps.xml" Id="R021ec13f17b1483b" /><Relationship Type="http://schemas.openxmlformats.org/officeDocument/2006/relationships/tableStyles" Target="/ppt/tableStyles.xml" Id="R13775a16e9a0412b" /><Relationship Type="http://schemas.openxmlformats.org/officeDocument/2006/relationships/slide" Target="/ppt/slides/slide1.xml" Id="Rc20d95eb76a04ab4" /><Relationship Type="http://schemas.openxmlformats.org/officeDocument/2006/relationships/slide" Target="/ppt/slides/slide2.xml" Id="R4d69f82e8e6f486a" /><Relationship Type="http://schemas.openxmlformats.org/officeDocument/2006/relationships/slide" Target="/ppt/slides/slide3.xml" Id="R3c7e23d28e774c7e" /><Relationship Type="http://schemas.openxmlformats.org/officeDocument/2006/relationships/slide" Target="/ppt/slides/slide4.xml" Id="R29753d734567412a" /><Relationship Type="http://schemas.openxmlformats.org/officeDocument/2006/relationships/slide" Target="/ppt/slides/slide5.xml" Id="R6572a0393ad94a9d" /><Relationship Type="http://schemas.openxmlformats.org/officeDocument/2006/relationships/slide" Target="/ppt/slides/slide6.xml" Id="R0c3bce1859b240cf" /><Relationship Type="http://schemas.openxmlformats.org/officeDocument/2006/relationships/slide" Target="/ppt/slides/slide7.xml" Id="Ree6f87bf5f8b46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de4f18fc114f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30211a272b4868" /><Relationship Type="http://schemas.openxmlformats.org/officeDocument/2006/relationships/notesMaster" Target="/ppt/notesMasters/notesMaster1.xml" Id="R4e98e553dc1649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d9d35b8238476b" /><Relationship Type="http://schemas.openxmlformats.org/officeDocument/2006/relationships/notesMaster" Target="/ppt/notesMasters/notesMaster1.xml" Id="Rbc53a8395c2e48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00114dd8204740" /><Relationship Type="http://schemas.openxmlformats.org/officeDocument/2006/relationships/notesMaster" Target="/ppt/notesMasters/notesMaster1.xml" Id="Rb1099f97066a45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40aa442ec94295" /><Relationship Type="http://schemas.openxmlformats.org/officeDocument/2006/relationships/notesMaster" Target="/ppt/notesMasters/notesMaster1.xml" Id="R16f6b359d6274e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d0d8cb21d749ef" /><Relationship Type="http://schemas.openxmlformats.org/officeDocument/2006/relationships/notesMaster" Target="/ppt/notesMasters/notesMaster1.xml" Id="R51a206af8e6b43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129ff7664c45c6" /><Relationship Type="http://schemas.openxmlformats.org/officeDocument/2006/relationships/notesMaster" Target="/ppt/notesMasters/notesMaster1.xml" Id="Raf12f94175bd4f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dcc1d9adf9405a" /><Relationship Type="http://schemas.openxmlformats.org/officeDocument/2006/relationships/notesMaster" Target="/ppt/notesMasters/notesMaster1.xml" Id="R5c6a7c64c3c642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of the deployed progression view. Synthetic patient data. Clinical interpretation remains with the physician.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Pain points from the supplied PDFs and user workflow discussions. OPD and review timings are not measured. An absent record is not proof a test was not done.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text_to_pdf_Imagetotext.pdf and GlucoFlow Master Technical Dashboard &amp; Architecture (1).pdf. All fifteen chart values preserved exactly. Prescription event summaries: June12 2023 glargine10units bedtime; June12 2024 lispro4units preprandial plus glimepiride2mg; 2026Q1–Q2 glargine14units nightly plus lispro4unitsTID. Metformin also recorded. Dates of annual lab observations are not exact; no causal inference. AI extraction uses OCR and GPT-6 Luna.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Web/Android client, authenticated API, durable processing worker, Supabase PostgreSQL and private source storage. Server permissions and database policies control access. Patient reports remain distinct from approved extracted measurements. Append-only events and a SHA256 snapshot digest are application controls. Updated Android flow remains to be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30% target is a proposed pilot success criterion, not a measured benefit. Compare both ordinary manual preparation and a structured manual timeline. Current implementation evidence:135 local automated tests; previous hosted baseline25/25API checks and12/12database policy checks. These are engineering checks, not clinical or productivity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Subscription and expansion are proposed. No price, revenue or customer count is validated. Live ABHA integration is not implemented. Current stack:Vite React, Fastify API/worker, Supabase Auth/PostgreSQL/Storage, Azure Container Apps, Vercel frontend. Per-document extraction budget gate and scale-to-zero help control operating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demo accounts. Physician retains clinical judgment. No clinical diagnosis, treatment recommendation or emergency dispatch. Official hackathon scope:https://healthathon.reskilll.com/ is non-clinical operational workflow improvement, human assistance and measurement within60–90days. Productivity and clinical outcomes require user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e351a22f445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3dc7b8d71c428c" /><Relationship Type="http://schemas.openxmlformats.org/officeDocument/2006/relationships/slideLayout" Target="/ppt/slideLayouts/slideLayout1.xml" Id="R767301648a0f4a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7301648a0f4a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923d1c23b4534" /><Relationship Type="http://schemas.openxmlformats.org/officeDocument/2006/relationships/image" Target="/ppt/media/image.jpeg" Id="Rca941f4694a84ace" /><Relationship Type="http://schemas.openxmlformats.org/officeDocument/2006/relationships/notesSlide" Target="/ppt/notesSlides/notesSlide1.xml" Id="Rd50c091240774a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b947a22fe4631" /><Relationship Type="http://schemas.openxmlformats.org/officeDocument/2006/relationships/notesSlide" Target="/ppt/notesSlides/notesSlide2.xml" Id="R6bb30e4caf2b44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ee6a707194630" /><Relationship Type="http://schemas.openxmlformats.org/officeDocument/2006/relationships/chart" Target="/ppt/slides/charts/chart1.xml" Id="R9c403eb9a3b344d9" /><Relationship Type="http://schemas.openxmlformats.org/officeDocument/2006/relationships/notesSlide" Target="/ppt/notesSlides/notesSlide3.xml" Id="Rd392181f96c445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15413c858487b" /><Relationship Type="http://schemas.openxmlformats.org/officeDocument/2006/relationships/notesSlide" Target="/ppt/notesSlides/notesSlide4.xml" Id="R7467cd3eec0443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6f699ff7b45e7" /><Relationship Type="http://schemas.openxmlformats.org/officeDocument/2006/relationships/notesSlide" Target="/ppt/notesSlides/notesSlide5.xml" Id="Rb21bcda028be40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e493af93a4759" /><Relationship Type="http://schemas.openxmlformats.org/officeDocument/2006/relationships/notesSlide" Target="/ppt/notesSlides/notesSlide6.xml" Id="R316efc14b92849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2703d1dc144af" /><Relationship Type="http://schemas.openxmlformats.org/officeDocument/2006/relationships/notesSlide" Target="/ppt/notesSlides/notesSlide7.xml" Id="Rac5dcd6954b5400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HbA1c (%)</c:v>
          </c:tx>
          <c:spPr>
            <a:ln xmlns:a="http://schemas.openxmlformats.org/drawingml/2006/main" w="28575">
              <a:solidFill>
                <a:srgbClr val="CC2453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C2453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Q2</c:v>
                </c:pt>
              </c:strCache>
            </c:strRef>
          </c:cat>
          <c:val>
            <c:numRef>
              <c:f>'Chart Data'!$B$2:$B$6</c:f>
              <c:numCache>
                <c:formatCode>0.0"%"</c:formatCode>
                <c:ptCount val="5"/>
                <c:pt idx="0">
                  <c:v>7.2</c:v>
                </c:pt>
                <c:pt idx="1">
                  <c:v>7.3</c:v>
                </c:pt>
                <c:pt idx="2">
                  <c:v>7</c:v>
                </c:pt>
                <c:pt idx="3">
                  <c:v>7.6</c:v>
                </c:pt>
                <c:pt idx="4">
                  <c:v>8</c:v>
                </c:pt>
              </c:numCache>
            </c:numRef>
          </c:val>
          <c:smooth val="0"/>
        </c:ser>
        <c:smooth val="0"/>
        <c:axId val="48650112"/>
        <c:axId val="48672768"/>
      </c:lineChart>
      <c:lineChart>
        <c:grouping val="standard"/>
        <c:ser>
          <c:idx val="1"/>
          <c:order val="1"/>
          <c:tx>
            <c:v>Fasting (mg/dL)</c:v>
          </c:tx>
          <c:spPr>
            <a:ln xmlns:a="http://schemas.openxmlformats.org/drawingml/2006/main" w="28575">
              <a:solidFill>
                <a:srgbClr val="CF800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CF800B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Q2</c:v>
                </c:pt>
              </c:strCache>
            </c:strRef>
          </c:cat>
          <c:val>
            <c:numRef>
              <c:f>'Chart Data'!$D$2:$D$6</c:f>
              <c:numCache>
                <c:formatCode>0.0"%"</c:formatCode>
                <c:ptCount val="5"/>
                <c:pt idx="0">
                  <c:v>132</c:v>
                </c:pt>
                <c:pt idx="1">
                  <c:v>140</c:v>
                </c:pt>
                <c:pt idx="2">
                  <c:v>118</c:v>
                </c:pt>
                <c:pt idx="3">
                  <c:v>135</c:v>
                </c:pt>
                <c:pt idx="4">
                  <c:v>142</c:v>
                </c:pt>
              </c:numCache>
            </c:numRef>
          </c:val>
          <c:smooth val="0"/>
        </c:ser>
        <c:ser>
          <c:idx val="2"/>
          <c:order val="2"/>
          <c:tx>
            <c:v>Post-meal (mg/dL)</c:v>
          </c:tx>
          <c:spPr>
            <a:ln xmlns:a="http://schemas.openxmlformats.org/drawingml/2006/main" w="28575">
              <a:solidFill>
                <a:srgbClr val="137A7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37A76"/>
              </a:solidFill>
            </c:spPr>
          </c:marker>
          <c:cat>
            <c:strRef>
              <c:f>'Chart Data'!$E$2:$E$6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Q2</c:v>
                </c:pt>
              </c:strCache>
            </c:strRef>
          </c:cat>
          <c:val>
            <c:numRef>
              <c:f>'Chart Data'!$F$2:$F$6</c:f>
              <c:numCache>
                <c:formatCode>0.0"%"</c:formatCode>
                <c:ptCount val="5"/>
                <c:pt idx="0">
                  <c:v>175</c:v>
                </c:pt>
                <c:pt idx="1">
                  <c:v>188</c:v>
                </c:pt>
                <c:pt idx="2">
                  <c:v>165</c:v>
                </c:pt>
                <c:pt idx="3">
                  <c:v>195</c:v>
                </c:pt>
                <c:pt idx="4">
                  <c:v>210</c:v>
                </c:pt>
              </c:numCache>
            </c:numRef>
          </c:val>
          <c:smooth val="0"/>
        </c:ser>
        <c:axId val="48650112"/>
        <c:axId val="400002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F0"/>
              </a:solidFill>
            </a:ln>
          </c:spPr>
        </c:majorGridlines>
        <c:numFmt formatCode="0.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1.25"/>
      </c:valAx>
      <c:spPr>
        <a:solidFill xmlns:a="http://schemas.openxmlformats.org/drawingml/2006/main">
          <a:srgbClr val="FFFFFF"/>
        </a:solidFill>
      </c:spPr>
      <c:valAx>
        <c:axId val="400002"/>
        <c:scaling>
          <c:orientation val="minMax"/>
          <c:max val="250"/>
          <c:min val="70"/>
        </c:scaling>
        <c:delete val="0"/>
        <c:axPos val="r"/>
        <c:numFmt formatCode="0"/>
        <c:majorTickMark val="none"/>
        <c:minorTickMark val="none"/>
        <c:tickLblPos val="high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  <c:majorUnit val="4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9559D-DBD5-435D-BE13-BF1E17E5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Glucoflow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98078-842F-4C02-B429-CADFF00F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0958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A patient’s follow-up history, ready for the doctor to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4A9E6-3C7B-4915-ACA7-B6518C2E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Lab trends, prescriptions and patient reports together, with access to the original records.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41f4694a84ace"/>
          <a:stretch xmlns:a="http://schemas.openxmlformats.org/drawingml/2006/main"/>
        </p:blipFill>
        <p:spPr>
          <a:xfrm xmlns:a="http://schemas.openxmlformats.org/drawingml/2006/main">
            <a:off x="6196542" y="2047875"/>
            <a:ext cx="11514667" cy="6477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B1D33-6B82-4274-A9FC-AD446652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916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37A76"/>
                </a:solidFill>
                <a:latin typeface="Inter"/>
                <a:ea typeface="Inter"/>
                <a:cs typeface="Inter"/>
              </a:rPr>
              <a:t>glucoflow.vercel.app</a:t>
            </a:r>
          </a:p>
        </p:txBody>
      </p:sp>
    </p:spTree>
    <p:extLst>
      <p:ext uri="{BB962C8B-B14F-4D97-AF65-F5344CB8AC3E}">
        <p14:creationId xmlns:p14="http://schemas.microsoft.com/office/powerpoint/2010/main" val="1500112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FD485-923A-4DDB-B272-F36D553F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F2E77-5210-4D59-BE58-879F97CE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Reports are scattered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5B2CF-590C-4F25-8DCB-6FD221A1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Lab slips and prescriptions arrive from different visits. Finding the right result, date and source takes repeated searching.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36B8A-7ADA-4A5B-8599-7F2FEA9F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History takes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4E9B8-C5E1-46F9-A5C1-D1C3E938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9087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To compare visits, the doctor must piece together test results, medication changes and patient-reported problems.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3C961-7A6A-4FB9-B8CB-33D04737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4288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Follow-up is hard to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27A46-85AF-481F-A2A0-19163D4E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19087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Staff must check which screening dates are recorded and which follow-ups are still pending.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664FF-089E-4F2F-98E7-3A4273E9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62875"/>
            <a:ext cx="1666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Preparing the history competes with time spent listening to the patient.</a:t>
            </a:r>
          </a:p>
        </p:txBody>
      </p:sp>
    </p:spTree>
    <p:extLst>
      <p:ext uri="{BB962C8B-B14F-4D97-AF65-F5344CB8AC3E}">
        <p14:creationId xmlns:p14="http://schemas.microsoft.com/office/powerpoint/2010/main" val="1534086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09D4B-3C3F-454A-9273-29CF60BE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EC706-D18A-457C-8E38-1CBAF2F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209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Glucose history · 2022–2026 Q2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9E59D-30B0-47D2-A778-DFBDBD52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167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C2453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CC2453"/>
                </a:solidFill>
                <a:latin typeface="Inter"/>
                <a:ea typeface="Inter"/>
                <a:cs typeface="Inter"/>
              </a:rPr>
              <a:t>HbA1c (%)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6CBF1-3626-4AA6-825C-57E477BA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716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Blood glucose (mg/dL)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19125" y="2238375"/>
          <a:ext xmlns:a="http://schemas.openxmlformats.org/drawingml/2006/main" cx="12192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403eb9a3b344d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E0013-FF1F-4D4F-BF29-4B843826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571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Prescription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36D42-8C4D-474F-91F0-F2094CC7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3625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2023 · Glargine added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2024 · Lispro and glimepiride added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2026 · Updated insulin regimen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A00EE-B153-4CDD-A0D6-374F254A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Open each event to inspect the prescription.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DB7AB-5B9C-4261-8D77-5A6B7F0F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Extract and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2ACC0-6E16-4676-8AFE-34848D7C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AI extracts report fields with source evidence. A reviewer checks them before publication.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AF9B8-65CC-44FA-9282-61A03E2F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334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Review progression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1EAFD-82C8-42EA-9C2F-A68DEA72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8096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Dated results and medications share one timeline. Original reports stay accessible.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B6B35-F446-487B-B51A-CEE820B8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334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Add patient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615D3-438D-4FE0-AB52-143134FB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096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Home readings and symptoms sit alongside the history. Recorded screening dates support follow-up.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9117F-93C8-4803-8557-A61D120A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58375"/>
            <a:ext cx="1714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Illustrative patient scenario. HbA1c and glucose use separate axes; year-level timing is approximate.</a:t>
            </a:r>
          </a:p>
        </p:txBody>
      </p:sp>
    </p:spTree>
    <p:extLst>
      <p:ext uri="{BB962C8B-B14F-4D97-AF65-F5344CB8AC3E}">
        <p14:creationId xmlns:p14="http://schemas.microsoft.com/office/powerpoint/2010/main" val="989589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703E68-B127-43B0-A65C-848941AF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4A729-2067-4A74-A355-BBBF2272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714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Reports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0AAC1-760E-4948-B922-4B342DE6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ABB43-4531-4F96-BFA4-1FEC0E72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Upload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F1E5E-321E-4682-AA2F-96626A5B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Lab reports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Prescriptions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PDF or photo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E4BB3-EA23-4049-BD34-C6E5483C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F62F6-E108-45B8-B384-D5757C12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45E3C-D01D-4D3F-B0C4-73FCE251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AI extraction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F5D85-938D-4C4E-9590-F2498FB8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Identify patient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Extract fields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Attach source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F909B-3563-4074-878B-47758C66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FA840-9BB3-4426-9E67-8ECF649C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8E8B3-28BA-475F-AEBC-6F315499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Human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B9975-9850-4C9F-A1B8-97C033D3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Check identity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Correct entries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Approve publication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C080A-7D65-4151-A2CA-DAE03F9E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B1DBF-318A-4CCC-B506-F86D6D19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F82E9-9054-4E3D-A0A7-9A063B82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Patient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FC2B6-69FF-4BBF-950A-BD005F6B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Approved results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Dated prescriptions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Original 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3C775-431F-4A6D-88CA-A6175459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3048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502EE-0250-48AE-A689-2A68BD89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095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E956B-46D9-45B0-BFFA-F00F8B0B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247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Doctor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45CAF-B4DD-4DC4-B139-28AE7C66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695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Progression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Medication history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Inspect and export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CB063E-B56E-4771-B8EE-DFD8BC9D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714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Patient updates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89D781-39DB-4274-9BA8-A98247C7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6150B-AAD1-4DAE-BD05-AB9FFABA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Patient 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1EA721-6766-469A-BC5A-12EEB0D4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Home readings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Symptoms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Medication timing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AD9754-3069-4831-8017-F23ADAC7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477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5FF2C-D3DC-4445-A21A-EF21C7EC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B09E90-5EAB-4A03-B3AC-A669CA79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Record event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E61ED-FB9F-43ED-8113-FE57AC14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Timestamp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Patient-reported label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Retain 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85F62-558C-4829-9530-B6BAD0BC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477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623FEF-5621-4053-BF51-511B324A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BB1971-BBF8-4327-981F-9ED14B90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Follow-up tracking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012068-4134-44D6-8DDB-F6CCD3A5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Recorded dates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Clinic-set intervals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Pending items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12C9E0-382B-450D-BF24-E6079DD3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77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15F061-8DE6-440E-BC61-2B73EFA3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764CB6-1316-43AE-9B0B-31A37DF5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Clinic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216E33-F1AB-41A2-AF8A-81C82985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Review updates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Record screening dates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Acknowledge snapshots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2D5444-4EF1-4290-870B-6DCFFD66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64770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79EFB9-5B98-4243-AA55-954C9A61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524500"/>
            <a:ext cx="3048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DAC933-6E33-4AC7-AD5C-47BDB14C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56769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Visit overview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45ED41-9733-402D-866E-109FDAD5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6124575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Shared history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Source reports</a:t>
            </a:r>
          </a:p>
          <a:p xmlns:a="http://schemas.openxmlformats.org/drawingml/2006/main">
            <a:pPr>
              <a:defRPr sz="19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Visit summary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C73F7B-BEAB-4A6B-8A63-D334D130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10625"/>
            <a:ext cx="1714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SOS demo → freeze the shared history → clinic inspects and acknowledges the snapshot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9510AC-4FCF-4DD5-BD4F-F2B10E56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58375"/>
            <a:ext cx="1714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SOS sends a snapshot to the demo clinic inbox; it does not dispatch emergency services.</a:t>
            </a:r>
          </a:p>
        </p:txBody>
      </p:sp>
    </p:spTree>
    <p:extLst>
      <p:ext uri="{BB962C8B-B14F-4D97-AF65-F5344CB8AC3E}">
        <p14:creationId xmlns:p14="http://schemas.microsoft.com/office/powerpoint/2010/main" val="1963856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FD39D-E428-4355-9194-1FD76ECD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A14C7-7D11-48F5-BA1B-ACB5A87F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Doctors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CEDDC-731D-4296-B347-A99E5AD1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Review trends and medication history together. Inspect a source report without searching through separate 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E611F-87E1-4724-AE0E-46B65BAE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33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Clinic teams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AFCC7-3D81-4B0A-976A-7B578EC5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9562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Manage extraction and approval in one queue. Keep unresolved records and pending follow-up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72E3D-4843-4FA7-9321-1B67A387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333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Patients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BC691-925B-4223-984B-8036D359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095625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Upload reports between visits and record home readings and symptoms in the same patient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95B18-D130-4580-BEE1-4693178D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91375"/>
            <a:ext cx="1666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Pilot target: 30% less preparation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C7D47-390B-44B7-9713-AADF0AC2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43875"/>
            <a:ext cx="1666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Over 60–90 days, compare combined staff and doctor time with manual preparation. Also measure correction rates and report retrieval. Time savings have not yet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1282043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E94DB-0AC1-4331-88BB-6E6474F9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Scalability and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E488E-815D-4002-8953-28A95A44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Clinic subscription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33F73-C0B6-4961-AE9A-F8B72434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Proposed subscription per clinic, with a document-processing allowance. Validate pricing in a supervised diabetes OPD pilot.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10F37-FDF5-42E5-87DE-E003D1A3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Processing at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7B549-3E89-4274-8715-726A92C4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Separate services for browsing and report processing. Failed jobs can retry. Clinic and patient access stays isolated.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68494-0019-4A59-ADA0-6CA57C68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3812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Expansion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D8050-A865-46CE-9FEC-4CAEC363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14325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142735"/>
                </a:solidFill>
                <a:latin typeface="Inter"/>
                <a:ea typeface="Inter"/>
                <a:cs typeface="Inter"/>
              </a:rPr>
              <a:t>Support more report layouts and regional languages. Later, add clinic-system integrations and consent-based ABHA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E70BF-6850-42D9-B2AF-91736A2F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62875"/>
            <a:ext cx="1666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Expand after measuring review effort, processing cost and clinic willingness to pay.</a:t>
            </a:r>
          </a:p>
        </p:txBody>
      </p:sp>
    </p:spTree>
    <p:extLst>
      <p:ext uri="{BB962C8B-B14F-4D97-AF65-F5344CB8AC3E}">
        <p14:creationId xmlns:p14="http://schemas.microsoft.com/office/powerpoint/2010/main" val="784627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3E8D1-982A-4D8A-ABFB-A9CFA18A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71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81E7C-7AFD-4BFB-87FC-05BC52A2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6668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42735"/>
                </a:solidFill>
                <a:latin typeface="Inter"/>
                <a:ea typeface="Inter"/>
                <a:cs typeface="Inter"/>
              </a:rPr>
              <a:t>Glucoflow brings the follow-up history into one place, so doctors can review progression and inspect the records behind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3FF45-968D-4950-8F22-5BFD0CE9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666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Patients add records. Clinic teams verify them. Doctors review the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2A011-459D-4512-923E-D56B9452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62875"/>
            <a:ext cx="1666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7A76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137A76"/>
                </a:solidFill>
                <a:latin typeface="Inter"/>
                <a:ea typeface="Inter"/>
                <a:cs typeface="Inter"/>
              </a:rPr>
              <a:t>glucoflow.vercel.app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16BBB-D1BB-4157-88B2-932DD32B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10625"/>
            <a:ext cx="1666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96B77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596B77"/>
                </a:solidFill>
                <a:latin typeface="Inter"/>
                <a:ea typeface="Inter"/>
                <a:cs typeface="Inter"/>
              </a:rPr>
              <a:t>Choose Doctor, Clinic team or Patient to explore the workflow.</a:t>
            </a:r>
          </a:p>
        </p:txBody>
      </p:sp>
    </p:spTree>
    <p:extLst>
      <p:ext uri="{BB962C8B-B14F-4D97-AF65-F5344CB8AC3E}">
        <p14:creationId xmlns:p14="http://schemas.microsoft.com/office/powerpoint/2010/main" val="1300956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2026-10-03T17:58:14.8200000Z</dcterms:created>
  <dcterms:modified xsi:type="dcterms:W3CDTF">2026-10-03T17:58:14.8200000Z</dcterms:modified>
</coreProperties>
</file>