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charts/chart1.xml" ContentType="application/vnd.openxmlformats-officedocument.drawingml.chart+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01ebc0ac6f7e4e5a" Type="http://schemas.openxmlformats.org/officeDocument/2006/relationships/officeDocument" Target="ppt/presentation.xml"/><Relationship Id="R73e0797c77ff4047" Type="http://schemas.openxmlformats.org/package/2006/relationships/metadata/core-properties" Target="docProps/core.xml"/><Relationship Id="Rf74eaab713d44fe5" Type="http://schemas.openxmlformats.org/officeDocument/2006/relationships/extended-properties" Target="docProps/app.xml"/></Relationships>
</file>

<file path=ppt/presentation.xml><?xml version="1.0" encoding="utf-8"?>
<p:presentation xmlns:p="http://schemas.openxmlformats.org/presentationml/2006/main">
  <p:sldMasterIdLst>
    <p:sldMasterId xmlns:r="http://schemas.openxmlformats.org/officeDocument/2006/relationships" id="2147483648" r:id="R39e3d14919f24780"/>
  </p:sldMasterIdLst>
  <p:notesMasterIdLst>
    <p:notesMasterId xmlns:r="http://schemas.openxmlformats.org/officeDocument/2006/relationships" r:id="R335bec96ab7c4ad4"/>
  </p:notesMasterIdLst>
  <p:sldIdLst>
    <p:sldId xmlns:r="http://schemas.openxmlformats.org/officeDocument/2006/relationships" id="256" r:id="Rc9305412fe4d4b01"/>
    <p:sldId xmlns:r="http://schemas.openxmlformats.org/officeDocument/2006/relationships" id="257" r:id="R788d251a06fd4e93"/>
    <p:sldId xmlns:r="http://schemas.openxmlformats.org/officeDocument/2006/relationships" id="258" r:id="Rbc16ee6f92784178"/>
    <p:sldId xmlns:r="http://schemas.openxmlformats.org/officeDocument/2006/relationships" id="259" r:id="R5f1c71d965b54f8b"/>
    <p:sldId xmlns:r="http://schemas.openxmlformats.org/officeDocument/2006/relationships" id="260" r:id="R496bdf5e942d4ecf"/>
    <p:sldId xmlns:r="http://schemas.openxmlformats.org/officeDocument/2006/relationships" id="261" r:id="R239f033359304082"/>
    <p:sldId xmlns:r="http://schemas.openxmlformats.org/officeDocument/2006/relationships" id="262" r:id="Rafa32dfe763a41f4"/>
    <p:sldId xmlns:r="http://schemas.openxmlformats.org/officeDocument/2006/relationships" id="263" r:id="R2c9b6e1edfd740b4"/>
    <p:sldId xmlns:ns0="http://schemas.openxmlformats.org/officeDocument/2006/relationships" id="264" ns0:id="rId15"/>
  </p:sldIdLst>
  <p:sldSz cx="9144000" cy="5143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xml version='1.0' encoding='UTF-8' standalone='yes'?>
<Relationships xmlns="http://schemas.openxmlformats.org/package/2006/relationships"><Relationship Id="R0062452895444a47" Type="http://schemas.openxmlformats.org/officeDocument/2006/relationships/viewProps" Target="viewProps.xml"/><Relationship Id="R239f033359304082" Type="http://schemas.openxmlformats.org/officeDocument/2006/relationships/slide" Target="slides/slide6.xml"/><Relationship Id="R2c9b6e1edfd740b4" Type="http://schemas.openxmlformats.org/officeDocument/2006/relationships/slide" Target="slides/slide8.xml"/><Relationship Id="R335bec96ab7c4ad4" Type="http://schemas.openxmlformats.org/officeDocument/2006/relationships/notesMaster" Target="notesMasters/notesMaster1.xml"/><Relationship Id="R39e3d14919f24780" Type="http://schemas.openxmlformats.org/officeDocument/2006/relationships/slideMaster" Target="slideMasters/slideMaster1.xml"/><Relationship Id="R496bdf5e942d4ecf" Type="http://schemas.openxmlformats.org/officeDocument/2006/relationships/slide" Target="slides/slide5.xml"/><Relationship Id="R5f1c71d965b54f8b" Type="http://schemas.openxmlformats.org/officeDocument/2006/relationships/slide" Target="slides/slide4.xml"/><Relationship Id="R662f088c0a0c48f3" Type="http://schemas.openxmlformats.org/officeDocument/2006/relationships/theme" Target="theme/theme1.xml"/><Relationship Id="R788d251a06fd4e93" Type="http://schemas.openxmlformats.org/officeDocument/2006/relationships/slide" Target="slides/slide2.xml"/><Relationship Id="R964d1835780441d1" Type="http://schemas.openxmlformats.org/officeDocument/2006/relationships/presProps" Target="presProps.xml"/><Relationship Id="Rafa32dfe763a41f4" Type="http://schemas.openxmlformats.org/officeDocument/2006/relationships/slide" Target="slides/slide7.xml"/><Relationship Id="Rb646a23b99d348d4" Type="http://schemas.openxmlformats.org/officeDocument/2006/relationships/tableStyles" Target="tableStyles.xml"/><Relationship Id="Rbc16ee6f92784178" Type="http://schemas.openxmlformats.org/officeDocument/2006/relationships/slide" Target="slides/slide3.xml"/><Relationship Id="Rc9305412fe4d4b01" Type="http://schemas.openxmlformats.org/officeDocument/2006/relationships/slide" Target="slides/slide1.xml"/><Relationship Id="rId15"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a95b79a1d03a447c"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1558f6ae57ac4d9e" Type="http://schemas.openxmlformats.org/officeDocument/2006/relationships/notesMaster" Target="../notesMasters/notesMaster1.xml"/><Relationship Id="R3195d25ad88b4cdb"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0e7035b07daa4108" Type="http://schemas.openxmlformats.org/officeDocument/2006/relationships/notesMaster" Target="../notesMasters/notesMaster1.xml"/><Relationship Id="R2456df0af5034fe4"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05cfc208daac4aa7" Type="http://schemas.openxmlformats.org/officeDocument/2006/relationships/slide" Target="../slides/slide3.xml"/><Relationship Id="Rdab2eb5f31c34b4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0fcb8984531f4435" Type="http://schemas.openxmlformats.org/officeDocument/2006/relationships/slide" Target="../slides/slide4.xml"/><Relationship Id="R531cbf265d5b40e7"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2bc490278d0f4b81" Type="http://schemas.openxmlformats.org/officeDocument/2006/relationships/slide" Target="../slides/slide5.xml"/><Relationship Id="R499d12d12d3340cd"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b6092b5a2b194e3e" Type="http://schemas.openxmlformats.org/officeDocument/2006/relationships/slide" Target="../slides/slide6.xml"/><Relationship Id="Re7662a287f45487f"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33ace27f07b34f0b" Type="http://schemas.openxmlformats.org/officeDocument/2006/relationships/notesMaster" Target="../notesMasters/notesMaster1.xml"/><Relationship Id="R66965becda6c4c4b"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ced27f44ee754db8" Type="http://schemas.openxmlformats.org/officeDocument/2006/relationships/notesMaster" Target="../notesMasters/notesMaster1.xml"/><Relationship Id="Re2f38b2d9dc74468" Type="http://schemas.openxmlformats.org/officeDocument/2006/relationships/slide" Target="../slides/slide8.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Glucoflow is a proposed assistive record-preparation workflow. No prototype, performance results, live ABDM integration or clinic partnership is claimed. Synthetic example only. Staff verify source facts. No imputation, clinical interpretation, risk score, diagnosis or treatment advice.</a:t>
            </a:r>
            <a:endParaRPr/>
          </a:p>
          <a:p xmlns:a="http://schemas.openxmlformats.org/drawingml/2006/main">
            <a:r>
              <a:t>Sources:</a:t>
            </a:r>
            <a:endParaRPr/>
          </a:p>
          <a:p xmlns:a="http://schemas.openxmlformats.org/drawingml/2006/main">
            <a:r>
              <a:t>https://healthathon.reskilll.com/guide</a:t>
            </a:r>
            <a:endParaRPr/>
          </a:p>
          <a:p xmlns:a="http://schemas.openxmlformats.org/drawingml/2006/main">
            <a:r>
              <a:t>https://sandbox.abdm.gov.in/sandbox/v3/new-documentation?doc=ABDM_M3_V1</a:t>
            </a:r>
            <a:endParaRPr/>
          </a:p>
          <a:p xmlns:a="http://schemas.openxmlformats.org/drawingml/2006/main">
            <a:r>
              <a:t>https://sandboxcms.abdm.gov.in/uploads/M3_Dcoument_16_02_2026_2319bac7bf.docx</a:t>
            </a:r>
            <a:endParaRPr/>
          </a:p>
          <a:p xmlns:a="http://schemas.openxmlformats.org/drawingml/2006/main">
            <a:r>
              <a:t>https://www.nrces.in/ndhm/fhir/r4/index.html</a:t>
            </a:r>
            <a:endParaRPr/>
          </a:p>
          <a:p xmlns:a="http://schemas.openxmlformats.org/drawingml/2006/main">
            <a:r>
              <a:t>https://diabetesjournals.org/care/article/49/Supplement_1/S61/163931/4-Comprehensive-Medical-Evaluation-and-Assessment</a:t>
            </a:r>
            <a:endParaRPr/>
          </a:p>
          <a:p xmlns:a="http://schemas.openxmlformats.org/drawingml/2006/main">
            <a:r>
              <a:t>https://www.eka.care/services/eka-smart-report</a:t>
            </a:r>
            <a:endParaRPr/>
          </a:p>
          <a:p xmlns:a="http://schemas.openxmlformats.org/drawingml/2006/main">
            <a:r>
              <a:t>
Submission alignment, 2 October 2026: proposed shared Vite/React/TypeScript web and Capacitor Android application. Patient and clinic roles work on both. Fastify API and a separate worker run on Railway. Supabase provides PostgreSQL/authentication/private file storage; Vercel hosts web assets. Patient-scoped search returns approved source evidence. Digital PDF text extraction, OCR for scans and constrained AI produce drafts. Approval checks run on the server. The primary experience is interactive dated progression with source access, retained approvals and an export. Patient updates are brief pre-visit notes explicitly labelled patient-reported. Optional ABHA/FHIR integration is a later extension and is not an MVP dependency. No working application or clinical benefit has been demonstrated. Official guide confirms Round 1 closes 3 October at 23:59 and build sprint runs 5 October–8 November 2026. Required team identities and relevant experience remain to be supplied. https://healthathon.reskilll.com/guide https://capacitorjs.com/docs https://fastify.dev/docs/latest/Guides/Getting-Started/ https://supabase.com/docs/guides/database/postgres/row-level-security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Glucoflow is a proposed assistive record-preparation workflow. No prototype, performance results, live ABDM integration or clinic partnership is claimed. Synthetic example only. Staff verify source facts. No imputation, clinical interpretation, risk score, diagnosis or treatment advice.</a:t>
            </a:r>
            <a:endParaRPr/>
          </a:p>
          <a:p xmlns:a="http://schemas.openxmlformats.org/drawingml/2006/main">
            <a:r>
              <a:t>Sources:</a:t>
            </a:r>
            <a:endParaRPr/>
          </a:p>
          <a:p xmlns:a="http://schemas.openxmlformats.org/drawingml/2006/main">
            <a:r>
              <a:t>https://healthathon.reskilll.com/guide</a:t>
            </a:r>
            <a:endParaRPr/>
          </a:p>
          <a:p xmlns:a="http://schemas.openxmlformats.org/drawingml/2006/main">
            <a:r>
              <a:t>https://sandbox.abdm.gov.in/sandbox/v3/new-documentation?doc=ABDM_M3_V1</a:t>
            </a:r>
            <a:endParaRPr/>
          </a:p>
          <a:p xmlns:a="http://schemas.openxmlformats.org/drawingml/2006/main">
            <a:r>
              <a:t>https://sandboxcms.abdm.gov.in/uploads/M3_Dcoument_16_02_2026_2319bac7bf.docx</a:t>
            </a:r>
            <a:endParaRPr/>
          </a:p>
          <a:p xmlns:a="http://schemas.openxmlformats.org/drawingml/2006/main">
            <a:r>
              <a:t>https://www.nrces.in/ndhm/fhir/r4/index.html</a:t>
            </a:r>
            <a:endParaRPr/>
          </a:p>
          <a:p xmlns:a="http://schemas.openxmlformats.org/drawingml/2006/main">
            <a:r>
              <a:t>https://diabetesjournals.org/care/article/49/Supplement_1/S61/163931/4-Comprehensive-Medical-Evaluation-and-Assessment</a:t>
            </a:r>
            <a:endParaRPr/>
          </a:p>
          <a:p xmlns:a="http://schemas.openxmlformats.org/drawingml/2006/main">
            <a:r>
              <a:t>https://www.eka.care/services/eka-smart-report</a:t>
            </a:r>
            <a:endParaRPr/>
          </a:p>
          <a:p xmlns:a="http://schemas.openxmlformats.org/drawingml/2006/main">
            <a:r>
              <a:t>
Submission alignment, 2 October 2026: proposed shared Vite/React/TypeScript web and Capacitor Android application. Patient and clinic roles work on both. Fastify API and a separate worker run on Railway. Supabase provides PostgreSQL/authentication/private file storage; Vercel hosts web assets. Patient-scoped search returns approved source evidence. Digital PDF text extraction, OCR for scans and constrained AI produce drafts. Approval checks run on the server. The primary experience is interactive dated progression with source access, retained approvals and an export. Patient updates are brief pre-visit notes explicitly labelled patient-reported. Optional ABHA/FHIR integration is a later extension and is not an MVP dependency. No working application or clinical benefit has been demonstrated. Official guide confirms Round 1 closes 3 October at 23:59 and build sprint runs 5 October–8 November 2026. Required team identities and relevant experience remain to be supplied. https://healthathon.reskilll.com/guide https://capacitorjs.com/docs https://fastify.dev/docs/latest/Guides/Getting-Started/ https://supabase.com/docs/guides/database/postgres/row-level-security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Glucoflow is a proposed assistive record-preparation workflow. No prototype, performance results, live ABDM integration or clinic partnership is claimed. Synthetic example only. Staff verify source facts. No imputation, clinical interpretation, risk score, diagnosis or treatment advice.</a:t>
            </a:r>
            <a:endParaRPr/>
          </a:p>
          <a:p xmlns:a="http://schemas.openxmlformats.org/drawingml/2006/main">
            <a:r>
              <a:t>Sources:</a:t>
            </a:r>
            <a:endParaRPr/>
          </a:p>
          <a:p xmlns:a="http://schemas.openxmlformats.org/drawingml/2006/main">
            <a:r>
              <a:t>https://healthathon.reskilll.com/guide</a:t>
            </a:r>
            <a:endParaRPr/>
          </a:p>
          <a:p xmlns:a="http://schemas.openxmlformats.org/drawingml/2006/main">
            <a:r>
              <a:t>https://sandbox.abdm.gov.in/sandbox/v3/new-documentation?doc=ABDM_M3_V1</a:t>
            </a:r>
            <a:endParaRPr/>
          </a:p>
          <a:p xmlns:a="http://schemas.openxmlformats.org/drawingml/2006/main">
            <a:r>
              <a:t>https://sandboxcms.abdm.gov.in/uploads/M3_Dcoument_16_02_2026_2319bac7bf.docx</a:t>
            </a:r>
            <a:endParaRPr/>
          </a:p>
          <a:p xmlns:a="http://schemas.openxmlformats.org/drawingml/2006/main">
            <a:r>
              <a:t>https://www.nrces.in/ndhm/fhir/r4/index.html</a:t>
            </a:r>
            <a:endParaRPr/>
          </a:p>
          <a:p xmlns:a="http://schemas.openxmlformats.org/drawingml/2006/main">
            <a:r>
              <a:t>https://diabetesjournals.org/care/article/49/Supplement_1/S61/163931/4-Comprehensive-Medical-Evaluation-and-Assessment</a:t>
            </a:r>
            <a:endParaRPr/>
          </a:p>
          <a:p xmlns:a="http://schemas.openxmlformats.org/drawingml/2006/main">
            <a:r>
              <a:t>https://www.eka.care/services/eka-smart-report</a:t>
            </a:r>
            <a:endParaRPr/>
          </a:p>
          <a:p xmlns:a="http://schemas.openxmlformats.org/drawingml/2006/main">
            <a:r>
              <a:t>
Submission alignment, 2 October 2026: proposed shared Vite/React/TypeScript web and Capacitor Android application. Patient and clinic roles work on both. Fastify API and a separate worker run on Railway. Supabase provides PostgreSQL/authentication/private file storage; Vercel hosts web assets. Patient-scoped search returns approved source evidence. Digital PDF text extraction, OCR for scans and constrained AI produce drafts. Approval checks run on the server. The primary experience is interactive dated progression with source access, retained approvals and an export. Patient updates are brief pre-visit notes explicitly labelled patient-reported. Optional ABHA/FHIR integration is a later extension and is not an MVP dependency. No working application or clinical benefit has been demonstrated. Official guide confirms Round 1 closes 3 October at 23:59 and build sprint runs 5 October–8 November 2026. Required team identities and relevant experience remain to be supplied. https://healthathon.reskilll.com/guide https://capacitorjs.com/docs https://fastify.dev/docs/latest/Guides/Getting-Started/ https://supabase.com/docs/guides/database/postgres/row-level-security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Glucoflow is a proposed assistive record-preparation workflow. No prototype, performance results, live ABDM integration or clinic partnership is claimed. Synthetic example only. Staff verify source facts. No imputation, clinical interpretation, risk score, diagnosis or treatment advice.</a:t>
            </a:r>
            <a:endParaRPr/>
          </a:p>
          <a:p xmlns:a="http://schemas.openxmlformats.org/drawingml/2006/main">
            <a:r>
              <a:t>Sources:</a:t>
            </a:r>
            <a:endParaRPr/>
          </a:p>
          <a:p xmlns:a="http://schemas.openxmlformats.org/drawingml/2006/main">
            <a:r>
              <a:t>https://healthathon.reskilll.com/guide</a:t>
            </a:r>
            <a:endParaRPr/>
          </a:p>
          <a:p xmlns:a="http://schemas.openxmlformats.org/drawingml/2006/main">
            <a:r>
              <a:t>https://sandbox.abdm.gov.in/sandbox/v3/new-documentation?doc=ABDM_M3_V1</a:t>
            </a:r>
            <a:endParaRPr/>
          </a:p>
          <a:p xmlns:a="http://schemas.openxmlformats.org/drawingml/2006/main">
            <a:r>
              <a:t>https://sandboxcms.abdm.gov.in/uploads/M3_Dcoument_16_02_2026_2319bac7bf.docx</a:t>
            </a:r>
            <a:endParaRPr/>
          </a:p>
          <a:p xmlns:a="http://schemas.openxmlformats.org/drawingml/2006/main">
            <a:r>
              <a:t>https://www.nrces.in/ndhm/fhir/r4/index.html</a:t>
            </a:r>
            <a:endParaRPr/>
          </a:p>
          <a:p xmlns:a="http://schemas.openxmlformats.org/drawingml/2006/main">
            <a:r>
              <a:t>https://diabetesjournals.org/care/article/49/Supplement_1/S61/163931/4-Comprehensive-Medical-Evaluation-and-Assessment</a:t>
            </a:r>
            <a:endParaRPr/>
          </a:p>
          <a:p xmlns:a="http://schemas.openxmlformats.org/drawingml/2006/main">
            <a:r>
              <a:t>https://www.eka.care/services/eka-smart-report</a:t>
            </a:r>
            <a:endParaRPr/>
          </a:p>
          <a:p xmlns:a="http://schemas.openxmlformats.org/drawingml/2006/main">
            <a:r>
              <a:t>
Submission alignment, 2 October 2026: proposed shared Vite/React/TypeScript web and Capacitor Android application. Patient and clinic roles work on both. Fastify API and a separate worker run on Railway. Supabase provides PostgreSQL/authentication/private file storage; Vercel hosts web assets. Patient-scoped search returns approved source evidence. Digital PDF text extraction, OCR for scans and constrained AI produce drafts. Approval checks run on the server. The primary experience is interactive dated progression with source access, retained approvals and an export. Patient updates are brief pre-visit notes explicitly labelled patient-reported. Optional ABHA/FHIR integration is a later extension and is not an MVP dependency. No working application or clinical benefit has been demonstrated. Official guide confirms Round 1 closes 3 October at 23:59 and build sprint runs 5 October–8 November 2026. Required team identities and relevant experience remain to be supplied. https://healthathon.reskilll.com/guide https://capacitorjs.com/docs https://fastify.dev/docs/latest/Guides/Getting-Started/ https://supabase.com/docs/guides/database/postgres/row-level-security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Glucoflow is a proposed assistive record-preparation workflow. No prototype, performance results, live ABDM integration or clinic partnership is claimed. Synthetic example only. Staff verify source facts. No imputation, clinical interpretation, risk score, diagnosis or treatment advice.</a:t>
            </a:r>
            <a:endParaRPr/>
          </a:p>
          <a:p xmlns:a="http://schemas.openxmlformats.org/drawingml/2006/main">
            <a:r>
              <a:t>Sources:</a:t>
            </a:r>
            <a:endParaRPr/>
          </a:p>
          <a:p xmlns:a="http://schemas.openxmlformats.org/drawingml/2006/main">
            <a:r>
              <a:t>https://healthathon.reskilll.com/guide</a:t>
            </a:r>
            <a:endParaRPr/>
          </a:p>
          <a:p xmlns:a="http://schemas.openxmlformats.org/drawingml/2006/main">
            <a:r>
              <a:t>https://sandbox.abdm.gov.in/sandbox/v3/new-documentation?doc=ABDM_M3_V1</a:t>
            </a:r>
            <a:endParaRPr/>
          </a:p>
          <a:p xmlns:a="http://schemas.openxmlformats.org/drawingml/2006/main">
            <a:r>
              <a:t>https://sandboxcms.abdm.gov.in/uploads/M3_Dcoument_16_02_2026_2319bac7bf.docx</a:t>
            </a:r>
            <a:endParaRPr/>
          </a:p>
          <a:p xmlns:a="http://schemas.openxmlformats.org/drawingml/2006/main">
            <a:r>
              <a:t>https://www.nrces.in/ndhm/fhir/r4/index.html</a:t>
            </a:r>
            <a:endParaRPr/>
          </a:p>
          <a:p xmlns:a="http://schemas.openxmlformats.org/drawingml/2006/main">
            <a:r>
              <a:t>https://diabetesjournals.org/care/article/49/Supplement_1/S61/163931/4-Comprehensive-Medical-Evaluation-and-Assessment</a:t>
            </a:r>
            <a:endParaRPr/>
          </a:p>
          <a:p xmlns:a="http://schemas.openxmlformats.org/drawingml/2006/main">
            <a:r>
              <a:t>https://www.eka.care/services/eka-smart-report</a:t>
            </a:r>
            <a:endParaRPr/>
          </a:p>
          <a:p xmlns:a="http://schemas.openxmlformats.org/drawingml/2006/main">
            <a:r>
              <a:t>
Submission alignment, 2 October 2026: proposed shared Vite/React/TypeScript web and Capacitor Android application. Patient and clinic roles work on both. Fastify API and a separate worker run on Railway. Supabase provides PostgreSQL/authentication/private file storage; Vercel hosts web assets. Patient-scoped search returns approved source evidence. Digital PDF text extraction, OCR for scans and constrained AI produce drafts. Approval checks run on the server. The primary experience is interactive dated progression with source access, retained approvals and an export. Patient updates are brief pre-visit notes explicitly labelled patient-reported. Optional ABHA/FHIR integration is a later extension and is not an MVP dependency. No working application or clinical benefit has been demonstrated. Official guide confirms Round 1 closes 3 October at 23:59 and build sprint runs 5 October–8 November 2026. Required team identities and relevant experience remain to be supplied. https://healthathon.reskilll.com/guide https://capacitorjs.com/docs https://fastify.dev/docs/latest/Guides/Getting-Started/ https://supabase.com/docs/guides/database/postgres/row-level-security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Glucoflow is a proposed assistive record-preparation workflow. No prototype, performance results, live ABDM integration or clinic partnership is claimed. Synthetic example only. Staff verify source facts. No imputation, clinical interpretation, risk score, diagnosis or treatment advice.</a:t>
            </a:r>
            <a:endParaRPr/>
          </a:p>
          <a:p xmlns:a="http://schemas.openxmlformats.org/drawingml/2006/main">
            <a:r>
              <a:t>Sources:</a:t>
            </a:r>
            <a:endParaRPr/>
          </a:p>
          <a:p xmlns:a="http://schemas.openxmlformats.org/drawingml/2006/main">
            <a:r>
              <a:t>https://healthathon.reskilll.com/guide</a:t>
            </a:r>
            <a:endParaRPr/>
          </a:p>
          <a:p xmlns:a="http://schemas.openxmlformats.org/drawingml/2006/main">
            <a:r>
              <a:t>https://sandbox.abdm.gov.in/sandbox/v3/new-documentation?doc=ABDM_M3_V1</a:t>
            </a:r>
            <a:endParaRPr/>
          </a:p>
          <a:p xmlns:a="http://schemas.openxmlformats.org/drawingml/2006/main">
            <a:r>
              <a:t>https://sandboxcms.abdm.gov.in/uploads/M3_Dcoument_16_02_2026_2319bac7bf.docx</a:t>
            </a:r>
            <a:endParaRPr/>
          </a:p>
          <a:p xmlns:a="http://schemas.openxmlformats.org/drawingml/2006/main">
            <a:r>
              <a:t>https://www.nrces.in/ndhm/fhir/r4/index.html</a:t>
            </a:r>
            <a:endParaRPr/>
          </a:p>
          <a:p xmlns:a="http://schemas.openxmlformats.org/drawingml/2006/main">
            <a:r>
              <a:t>https://diabetesjournals.org/care/article/49/Supplement_1/S61/163931/4-Comprehensive-Medical-Evaluation-and-Assessment</a:t>
            </a:r>
            <a:endParaRPr/>
          </a:p>
          <a:p xmlns:a="http://schemas.openxmlformats.org/drawingml/2006/main">
            <a:r>
              <a:t>https://www.eka.care/services/eka-smart-report</a:t>
            </a:r>
            <a:endParaRPr/>
          </a:p>
          <a:p xmlns:a="http://schemas.openxmlformats.org/drawingml/2006/main">
            <a:r>
              <a:t>
Proposed implementation details: structured FHIR records bypass OCR and model extraction. Scanned reports use OCR and constrained extraction with page/source references, explicit patient/date/unit checks, and staff approval. Missing values remain gaps. Amended source versions reopen affected facts. The clinic receives an approved PDF packet and retained source references. Planned stack: Vite/React/TypeScript, Capacitor Android, Fastify API and worker, Supabase, Vercel web and Railway server deployment. FHIR integration is a later extension.
Proposed ABDM HIU integration: verify ABHA linkage against the clinic patient identity, request purpose/record types/date range/access validity through the Consent Manager, retrieve only permitted linked HIP records securely, validate FHIR, reconcile duplicates and amendments, stop new access on denial/expiry/revocation, enforce the consent data-erasure deadline, and use role permissions, encrypted storage and access audit logs. Sandbox and applicable certification precede production. No live integration is claimed.</a:t>
            </a:r>
          </a:p>
          <a:p xmlns:a="http://schemas.openxmlformats.org/drawingml/2006/main">
            <a:r>
              <a:t>
Submission alignment, 2 October 2026: proposed shared Vite/React/TypeScript web and Capacitor Android application. Patient and clinic roles work on both. Fastify API and a separate worker run on Railway. Supabase provides PostgreSQL/authentication/private file storage; Vercel hosts web assets. Patient-scoped search returns approved source evidence. Digital PDF text extraction, OCR for scans and constrained AI produce drafts. Approval checks run on the server. The primary experience is interactive dated progression with source access, retained approvals and an export. Patient updates are brief pre-visit notes explicitly labelled patient-reported. Optional ABHA/FHIR integration is a later extension and is not an MVP dependency. No working application or clinical benefit has been demonstrated. Official guide confirms Round 1 closes 3 October at 23:59 and build sprint runs 5 October–8 November 2026. Required team identities and relevant experience remain to be supplied. https://healthathon.reskilll.com/guide https://capacitorjs.com/docs https://fastify.dev/docs/latest/Guides/Getting-Started/ https://supabase.com/docs/guides/database/postgres/row-level-security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Glucoflow is a proposed assistive record-preparation workflow. No prototype, performance results, live ABDM integration or clinic partnership is claimed. Synthetic example only. Staff verify source facts. No imputation, clinical interpretation, risk score, diagnosis or treatment advice.</a:t>
            </a:r>
            <a:endParaRPr/>
          </a:p>
          <a:p xmlns:a="http://schemas.openxmlformats.org/drawingml/2006/main">
            <a:r>
              <a:t>Sources:</a:t>
            </a:r>
            <a:endParaRPr/>
          </a:p>
          <a:p xmlns:a="http://schemas.openxmlformats.org/drawingml/2006/main">
            <a:r>
              <a:t>https://healthathon.reskilll.com/guide</a:t>
            </a:r>
            <a:endParaRPr/>
          </a:p>
          <a:p xmlns:a="http://schemas.openxmlformats.org/drawingml/2006/main">
            <a:r>
              <a:t>https://sandbox.abdm.gov.in/sandbox/v3/new-documentation?doc=ABDM_M3_V1</a:t>
            </a:r>
            <a:endParaRPr/>
          </a:p>
          <a:p xmlns:a="http://schemas.openxmlformats.org/drawingml/2006/main">
            <a:r>
              <a:t>https://sandboxcms.abdm.gov.in/uploads/M3_Dcoument_16_02_2026_2319bac7bf.docx</a:t>
            </a:r>
            <a:endParaRPr/>
          </a:p>
          <a:p xmlns:a="http://schemas.openxmlformats.org/drawingml/2006/main">
            <a:r>
              <a:t>https://www.nrces.in/ndhm/fhir/r4/index.html</a:t>
            </a:r>
            <a:endParaRPr/>
          </a:p>
          <a:p xmlns:a="http://schemas.openxmlformats.org/drawingml/2006/main">
            <a:r>
              <a:t>https://diabetesjournals.org/care/article/49/Supplement_1/S61/163931/4-Comprehensive-Medical-Evaluation-and-Assessment</a:t>
            </a:r>
            <a:endParaRPr/>
          </a:p>
          <a:p xmlns:a="http://schemas.openxmlformats.org/drawingml/2006/main">
            <a:r>
              <a:t>https://www.eka.care/services/eka-smart-report</a:t>
            </a:r>
            <a:endParaRPr/>
          </a:p>
          <a:p xmlns:a="http://schemas.openxmlformats.org/drawingml/2006/main">
            <a:r>
              <a:t>
Submission alignment, 2 October 2026: proposed shared Vite/React/TypeScript web and Capacitor Android application. Patient and clinic roles work on both. Fastify API and a separate worker run on Railway. Supabase provides PostgreSQL/authentication/private file storage; Vercel hosts web assets. Patient-scoped search returns approved source evidence. Digital PDF text extraction, OCR for scans and constrained AI produce drafts. Approval checks run on the server. The primary experience is interactive dated progression with source access, retained approvals and an export. Patient updates are brief pre-visit notes explicitly labelled patient-reported. Optional ABHA/FHIR integration is a later extension and is not an MVP dependency. No working application or clinical benefit has been demonstrated. Official guide confirms Round 1 closes 3 October at 23:59 and build sprint runs 5 October–8 November 2026. Required team identities and relevant experience remain to be supplied. https://healthathon.reskilll.com/guide https://capacitorjs.com/docs https://fastify.dev/docs/latest/Guides/Getting-Started/ https://supabase.com/docs/guides/database/postgres/row-level-security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Glucoflow is a proposed assistive record-preparation workflow. No prototype, performance results, live ABDM integration or clinic partnership is claimed. Synthetic example only. Staff verify source facts. No imputation, clinical interpretation, risk score, diagnosis or treatment advice.</a:t>
            </a:r>
            <a:endParaRPr/>
          </a:p>
          <a:p xmlns:a="http://schemas.openxmlformats.org/drawingml/2006/main">
            <a:r>
              <a:t>Sources:</a:t>
            </a:r>
            <a:endParaRPr/>
          </a:p>
          <a:p xmlns:a="http://schemas.openxmlformats.org/drawingml/2006/main">
            <a:r>
              <a:t>https://healthathon.reskilll.com/guide</a:t>
            </a:r>
            <a:endParaRPr/>
          </a:p>
          <a:p xmlns:a="http://schemas.openxmlformats.org/drawingml/2006/main">
            <a:r>
              <a:t>https://sandbox.abdm.gov.in/sandbox/v3/new-documentation?doc=ABDM_M3_V1</a:t>
            </a:r>
            <a:endParaRPr/>
          </a:p>
          <a:p xmlns:a="http://schemas.openxmlformats.org/drawingml/2006/main">
            <a:r>
              <a:t>https://sandboxcms.abdm.gov.in/uploads/M3_Dcoument_16_02_2026_2319bac7bf.docx</a:t>
            </a:r>
            <a:endParaRPr/>
          </a:p>
          <a:p xmlns:a="http://schemas.openxmlformats.org/drawingml/2006/main">
            <a:r>
              <a:t>https://www.nrces.in/ndhm/fhir/r4/index.html</a:t>
            </a:r>
            <a:endParaRPr/>
          </a:p>
          <a:p xmlns:a="http://schemas.openxmlformats.org/drawingml/2006/main">
            <a:r>
              <a:t>https://diabetesjournals.org/care/article/49/Supplement_1/S61/163931/4-Comprehensive-Medical-Evaluation-and-Assessment</a:t>
            </a:r>
            <a:endParaRPr/>
          </a:p>
          <a:p xmlns:a="http://schemas.openxmlformats.org/drawingml/2006/main">
            <a:r>
              <a:t>https://www.eka.care/services/eka-smart-report</a:t>
            </a:r>
            <a:endParaRPr/>
          </a:p>
          <a:p xmlns:a="http://schemas.openxmlformats.org/drawingml/2006/main">
            <a:r>
              <a:t>
Submission alignment, 2 October 2026: proposed shared Vite/React/TypeScript web and Capacitor Android application. Patient and clinic roles work on both. Fastify API and a separate worker run on Railway. Supabase provides PostgreSQL/authentication/private file storage; Vercel hosts web assets. Patient-scoped search returns approved source evidence. Digital PDF text extraction, OCR for scans and constrained AI produce drafts. Approval checks run on the server. The primary experience is interactive dated progression with source access, retained approvals and an export. Patient updates are brief pre-visit notes explicitly labelled patient-reported. Optional ABHA/FHIR integration is a later extension and is not an MVP dependency. No working application or clinical benefit has been demonstrated. Official guide confirms Round 1 closes 3 October at 23:59 and build sprint runs 5 October–8 November 2026. Required team identities and relevant experience remain to be supplied. https://healthathon.reskilll.com/guide https://capacitorjs.com/docs https://fastify.dev/docs/latest/Guides/Getting-Started/ https://supabase.com/docs/guides/database/postgres/row-level-security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70857899ad004a0c" Type="http://schemas.openxmlformats.org/officeDocument/2006/relationships/slideMaster" Target="../slideMasters/slideMaster1.xml"/></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7adb80e43796467d" Type="http://schemas.openxmlformats.org/officeDocument/2006/relationships/slideLayout" Target="../slideLayouts/slideLayout1.xml"/><Relationship Id="Ra40c327c198b4e97" Type="http://schemas.openxmlformats.org/officeDocument/2006/relationships/theme" Target="theme/theme2.xml"/></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adb80e43796467d"/>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0b77f763e9934218" Type="http://schemas.openxmlformats.org/officeDocument/2006/relationships/notesSlide" Target="../notesSlides/notesSlide1.xml"/><Relationship Id="Ra675756a7c0b4e5e" Type="http://schemas.openxmlformats.org/officeDocument/2006/relationships/image" Target="../media/image.png"/><Relationship Id="Rf19487e2eb034f1a"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65c802cddf7a4783" Type="http://schemas.openxmlformats.org/officeDocument/2006/relationships/notesSlide" Target="../notesSlides/notesSlide2.xml"/><Relationship Id="Rd7ea316dad5a4a0d"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560ff12e9cd94c92" Type="http://schemas.openxmlformats.org/officeDocument/2006/relationships/slideLayout" Target="../slideLayouts/slideLayout1.xml"/><Relationship Id="R6be2e30b7944462e" Type="http://schemas.openxmlformats.org/officeDocument/2006/relationships/chart" Target="charts/chart1.xml"/><Relationship Id="Rd0bb688e21e44f8a"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8988abfb4c104a26" Type="http://schemas.openxmlformats.org/officeDocument/2006/relationships/image" Target="../media/image2.png"/><Relationship Id="R939b09243cfc4e47" Type="http://schemas.openxmlformats.org/officeDocument/2006/relationships/notesSlide" Target="../notesSlides/notesSlide4.xml"/><Relationship Id="Rd82d57205c534a0b"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0f3541adf9da4c75" Type="http://schemas.openxmlformats.org/officeDocument/2006/relationships/notesSlide" Target="../notesSlides/notesSlide5.xml"/><Relationship Id="R92b83a10e15a46f7" Type="http://schemas.openxmlformats.org/officeDocument/2006/relationships/slideLayout" Target="../slideLayouts/slideLayout1.xml"/><Relationship Id="Rc3c6549f3649440a" Type="http://schemas.openxmlformats.org/officeDocument/2006/relationships/image" Target="../media/image3.png"/></Relationships>
</file>

<file path=ppt/slides/_rels/slide6.xml.rels><?xml version='1.0' encoding='UTF-8' standalone='yes'?>
<Relationships xmlns="http://schemas.openxmlformats.org/package/2006/relationships"><Relationship Id="R0de0119ef6ab41d1" Type="http://schemas.openxmlformats.org/officeDocument/2006/relationships/notesSlide" Target="../notesSlides/notesSlide6.xml"/><Relationship Id="Rc00565683d674c02"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90ce36e0cbbb4c22" Type="http://schemas.openxmlformats.org/officeDocument/2006/relationships/notesSlide" Target="../notesSlides/notesSlide7.xml"/><Relationship Id="Rcab01028d7884216"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0735f2766ca245a7" Type="http://schemas.openxmlformats.org/officeDocument/2006/relationships/notesSlide" Target="../notesSlides/notesSlide8.xml"/><Relationship Id="R314a821ef8504953" Type="http://schemas.openxmlformats.org/officeDocument/2006/relationships/image" Target="../media/image5.png"/><Relationship Id="R6e263adcde9242f5" Type="http://schemas.openxmlformats.org/officeDocument/2006/relationships/image" Target="../media/image4.png"/><Relationship Id="Rcc5666068e05425a" Type="http://schemas.openxmlformats.org/officeDocument/2006/relationships/image" Target="../media/image6.png"/><Relationship Id="Reaae136f8b5049c3"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7.png"/><Relationship Id="rId4" Type="http://schemas.openxmlformats.org/officeDocument/2006/relationships/image" Target="../media/image8.png"/></Relationships>
</file>

<file path=ppt/slides/charts/_rels/chart1.xml.rels><?xml version='1.0' encoding='UTF-8' standalone='yes'?>
<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125" b="1">
                <a:solidFill>
                  <a:srgbClr val="16323A"/>
                </a:solidFill>
                <a:latin typeface="Calibri"/>
                <a:ea typeface="Calibri"/>
                <a:cs typeface="Calibri"/>
              </a:rPr>
              <a:t>HbA1c over 2026</a:t>
            </a:r>
          </a:p>
        </c:rich>
      </c:tx>
      <c:overlay val="0"/>
      <c:txPr>
        <a:bodyPr xmlns:a="http://schemas.openxmlformats.org/drawingml/2006/main" anchorCtr="1"/>
        <a:lstStyle xmlns:a="http://schemas.openxmlformats.org/drawingml/2006/main"/>
        <a:p xmlns:a="http://schemas.openxmlformats.org/drawingml/2006/main">
          <a:pPr>
            <a:defRPr sz="1125" b="1">
              <a:solidFill>
                <a:srgbClr val="16323A"/>
              </a:solidFill>
              <a:latin typeface="Calibri"/>
              <a:ea typeface="Calibri"/>
              <a:cs typeface="Calibri"/>
            </a:defRPr>
          </a:pPr>
        </a:p>
      </c:txPr>
    </c:title>
    <c:plotArea>
      <c:scatterChart>
        <c:scatterStyle val="lineMarker"/>
        <c:ser>
          <c:idx val="0"/>
          <c:order val="0"/>
          <c:tx>
            <c:v>Recorded HbA1c</c:v>
          </c:tx>
          <c:spPr>
            <a:ln xmlns:a="http://schemas.openxmlformats.org/drawingml/2006/main" w="28575">
              <a:solidFill>
                <a:srgbClr val="12606F"/>
              </a:solidFill>
            </a:ln>
          </c:spPr>
          <c:marker>
            <c:symbol val="circle"/>
            <c:size val="8"/>
            <c:spPr>
              <a:solidFill xmlns:a="http://schemas.openxmlformats.org/drawingml/2006/main">
                <a:srgbClr val="12606F"/>
              </a:solidFill>
            </c:spPr>
          </c:marker>
          <c:xVal>
            <c:numRef>
              <c:f>'Chart Data'!$A$2:$A$5</c:f>
              <c:numCache>
                <c:formatCode>dd mmm</c:formatCode>
                <c:ptCount val="4"/>
                <c:pt idx="0">
                  <c:v>46034</c:v>
                </c:pt>
                <c:pt idx="1">
                  <c:v>46122</c:v>
                </c:pt>
                <c:pt idx="2">
                  <c:v>46212</c:v>
                </c:pt>
                <c:pt idx="3">
                  <c:v>46279</c:v>
                </c:pt>
              </c:numCache>
            </c:numRef>
          </c:xVal>
          <c:yVal>
            <c:numRef>
              <c:f>'Chart Data'!$B$2:$B$5</c:f>
              <c:numCache>
                <c:formatCode>0.0</c:formatCode>
                <c:ptCount val="4"/>
                <c:pt idx="0">
                  <c:v>8.2</c:v>
                </c:pt>
                <c:pt idx="1">
                  <c:v>7.9</c:v>
                </c:pt>
                <c:pt idx="2">
                  <c:v>7.5</c:v>
                </c:pt>
                <c:pt idx="3">
                  <c:v>7.8</c:v>
                </c:pt>
              </c:numCache>
            </c:numRef>
          </c:yVal>
          <c:smooth val="0"/>
        </c:ser>
        <c:dLbls>
          <c:showLegendKey val="0"/>
          <c:showVal val="0"/>
          <c:showCatName val="0"/>
          <c:showSerName val="0"/>
          <c:showPercent val="0"/>
          <c:showBubbleSize val="0"/>
          <c:showLeaderLines val="0"/>
        </c:dLbls>
        <c:axId val="48650112"/>
        <c:axId val="48672768"/>
      </c:scatterChart>
      <c:valAx>
        <c:axId val="48672768"/>
        <c:scaling>
          <c:orientation val="minMax"/>
          <c:max val="9"/>
          <c:min val="6"/>
        </c:scaling>
        <c:delete val="0"/>
        <c:axPos val="l"/>
        <c:majorGridlines>
          <c:spPr>
            <a:ln xmlns:a="http://schemas.openxmlformats.org/drawingml/2006/main" w="6668">
              <a:solidFill>
                <a:srgbClr val="DDEBEC"/>
              </a:solidFill>
            </a:ln>
          </c:spPr>
        </c:majorGridlines>
        <c:title>
          <c:tx>
            <c:rich>
              <a:bodyPr xmlns:a="http://schemas.openxmlformats.org/drawingml/2006/main"/>
              <a:lstStyle xmlns:a="http://schemas.openxmlformats.org/drawingml/2006/main"/>
              <a:p xmlns:a="http://schemas.openxmlformats.org/drawingml/2006/main">
                <a:r>
                  <a:rPr sz="900">
                    <a:solidFill>
                      <a:srgbClr val="5B7A82"/>
                    </a:solidFill>
                    <a:latin typeface="Calibri"/>
                    <a:ea typeface="Calibri"/>
                    <a:cs typeface="Calibri"/>
                  </a:rPr>
                  <a:t>HbA1c (%)</a:t>
                </a:r>
              </a:p>
            </c:rich>
          </c:tx>
          <c:overlay val="0"/>
          <c:txPr>
            <a:bodyPr xmlns:a="http://schemas.openxmlformats.org/drawingml/2006/main" anchorCtr="1"/>
            <a:lstStyle xmlns:a="http://schemas.openxmlformats.org/drawingml/2006/main"/>
            <a:p xmlns:a="http://schemas.openxmlformats.org/drawingml/2006/main">
              <a:pPr>
                <a:defRPr sz="900">
                  <a:solidFill>
                    <a:srgbClr val="5B7A82"/>
                  </a:solidFill>
                  <a:latin typeface="Calibri"/>
                  <a:ea typeface="Calibri"/>
                  <a:cs typeface="Calibri"/>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5B7A82"/>
                </a:solidFill>
                <a:latin typeface="Calibri"/>
                <a:ea typeface="Calibri"/>
                <a:cs typeface="Calibri"/>
              </a:defRPr>
            </a:pPr>
          </a:p>
        </c:txPr>
        <c:crossAx val="48650112"/>
        <c:majorUnit val="1"/>
      </c:valAx>
      <c:valAx>
        <c:axId val="48650112"/>
        <c:scaling>
          <c:orientation val="minMax"/>
          <c:max val="46286"/>
          <c:min val="46027"/>
        </c:scaling>
        <c:delete val="0"/>
        <c:axPos val="b"/>
        <c:title>
          <c:tx>
            <c:rich>
              <a:bodyPr xmlns:a="http://schemas.openxmlformats.org/drawingml/2006/main"/>
              <a:lstStyle xmlns:a="http://schemas.openxmlformats.org/drawingml/2006/main"/>
              <a:p xmlns:a="http://schemas.openxmlformats.org/drawingml/2006/main">
                <a:r>
                  <a:rPr sz="825">
                    <a:solidFill>
                      <a:srgbClr val="5B7A82"/>
                    </a:solidFill>
                    <a:latin typeface="Calibri"/>
                    <a:ea typeface="Calibri"/>
                    <a:cs typeface="Calibri"/>
                  </a:rPr>
                  <a:t>Date in 2026</a:t>
                </a:r>
              </a:p>
            </c:rich>
          </c:tx>
          <c:overlay val="0"/>
          <c:txPr>
            <a:bodyPr xmlns:a="http://schemas.openxmlformats.org/drawingml/2006/main" anchorCtr="1"/>
            <a:lstStyle xmlns:a="http://schemas.openxmlformats.org/drawingml/2006/main"/>
            <a:p xmlns:a="http://schemas.openxmlformats.org/drawingml/2006/main">
              <a:pPr>
                <a:defRPr sz="825">
                  <a:solidFill>
                    <a:srgbClr val="5B7A82"/>
                  </a:solidFill>
                  <a:latin typeface="Calibri"/>
                  <a:ea typeface="Calibri"/>
                  <a:cs typeface="Calibri"/>
                </a:defRPr>
              </a:pPr>
            </a:p>
          </c:txPr>
        </c:title>
        <c:numFmt formatCode="dd mmm"/>
        <c:majorTickMark val="none"/>
        <c:minorTickMark val="none"/>
        <c:tickLblPos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825">
                <a:solidFill>
                  <a:srgbClr val="5B7A82"/>
                </a:solidFill>
                <a:latin typeface="Calibri"/>
                <a:ea typeface="Calibri"/>
                <a:cs typeface="Calibri"/>
              </a:defRPr>
            </a:pPr>
          </a:p>
        </c:txPr>
        <c:crossAx val="48672768"/>
        <c:majorUnit val="60"/>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B3C49"/>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5E80F7E3-0711-4B66-82A9-0B75C372A943}"/>
              </a:ext>
            </a:extLst>
          </p:cNvPr>
          <p:cNvSpPr>
            <a:spLocks xmlns:a="http://schemas.openxmlformats.org/drawingml/2006/main" noGrp="1"/>
          </p:cNvSpPr>
          <p:nvPr/>
        </p:nvSpPr>
        <p:spPr>
          <a:xfrm xmlns:a="http://schemas.openxmlformats.org/drawingml/2006/main">
            <a:off x="548640" y="502920"/>
            <a:ext cx="731520" cy="731520"/>
          </a:xfrm>
          <a:prstGeom xmlns:a="http://schemas.openxmlformats.org/drawingml/2006/main" prst="ellipse">
            <a:avLst/>
          </a:prstGeom>
          <a:solidFill xmlns:a="http://schemas.openxmlformats.org/drawingml/2006/main">
            <a:srgbClr val="F2A541"/>
          </a:solidFill>
          <a:ln xmlns:a="http://schemas.openxmlformats.org/drawingml/2006/main" w="12700">
            <a:solidFill>
              <a:srgbClr val="F2A541"/>
            </a:solidFill>
            <a:prstDash val="solid"/>
          </a:ln>
        </p:spPr>
        <p:txBody xmlns:a="http://schemas.openxmlformats.org/drawingml/2006/main">
          <a:bodyPr/>
          <a:p/>
        </p:txBody>
      </p:sp>
      <p:pic>
        <p:nvPicPr>
          <p:cNvPr id="12" name="Image 0"/>
          <p:cNvPicPr>
            <a:picLocks xmlns:a="http://schemas.openxmlformats.org/drawingml/2006/main" noChangeAspect="1"/>
          </p:cNvPicPr>
          <p:nvPr/>
        </p:nvPicPr>
        <p:blipFill>
          <a:blip xmlns:r="http://schemas.openxmlformats.org/officeDocument/2006/relationships" xmlns:a="http://schemas.openxmlformats.org/drawingml/2006/main" r:embed="Ra675756a7c0b4e5e"/>
          <a:stretch xmlns:a="http://schemas.openxmlformats.org/drawingml/2006/main">
            <a:fillRect l="0" t="0" r="0" b="0"/>
          </a:stretch>
        </p:blipFill>
        <p:spPr>
          <a:xfrm xmlns:a="http://schemas.openxmlformats.org/drawingml/2006/main">
            <a:off x="731520" y="685800"/>
            <a:ext cx="365760" cy="365760"/>
          </a:xfrm>
          <a:prstGeom xmlns:a="http://schemas.openxmlformats.org/drawingml/2006/main" prst="rect">
            <a:avLst/>
          </a:prstGeom>
        </p:spPr>
      </p:pic>
      <p:sp>
        <p:nvSpPr>
          <p:cNvPr id="4" name="Text 1">
            <a:extLst xmlns:a="http://schemas.openxmlformats.org/drawingml/2006/main">
              <a:ext uri="{FF2B5EF4-FFF2-40B4-BE49-F238E27FC236}">
                <a16:creationId xmlns:a16="http://schemas.microsoft.com/office/drawing/2014/main" id="{1089622D-4EE8-424F-B735-D46EAE3EDAA5}"/>
              </a:ext>
            </a:extLst>
          </p:cNvPr>
          <p:cNvSpPr>
            <a:spLocks xmlns:a="http://schemas.openxmlformats.org/drawingml/2006/main" noGrp="1"/>
          </p:cNvSpPr>
          <p:nvPr/>
        </p:nvSpPr>
        <p:spPr>
          <a:xfrm xmlns:a="http://schemas.openxmlformats.org/drawingml/2006/main">
            <a:off x="548640" y="1371600"/>
            <a:ext cx="804672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5400" b="1">
                <a:solidFill>
                  <a:srgbClr val="FFFFFF"/>
                </a:solidFill>
                <a:latin typeface="Cambria"/>
                <a:ea typeface="Cambria"/>
                <a:cs typeface="Cambria"/>
              </a:rPr>
              <a:t>Glucoflow</a:t>
            </a:r>
            <a:endParaRPr sz="5400"/>
          </a:p>
        </p:txBody>
      </p:sp>
      <p:sp>
        <p:nvSpPr>
          <p:cNvPr id="5" name="Text 2">
            <a:extLst xmlns:a="http://schemas.openxmlformats.org/drawingml/2006/main">
              <a:ext uri="{FF2B5EF4-FFF2-40B4-BE49-F238E27FC236}">
                <a16:creationId xmlns:a16="http://schemas.microsoft.com/office/drawing/2014/main" id="{64E1798D-A961-4081-953B-7981E9279B73}"/>
              </a:ext>
            </a:extLst>
          </p:cNvPr>
          <p:cNvSpPr>
            <a:spLocks xmlns:a="http://schemas.openxmlformats.org/drawingml/2006/main" noGrp="1"/>
          </p:cNvSpPr>
          <p:nvPr/>
        </p:nvSpPr>
        <p:spPr>
          <a:xfrm xmlns:a="http://schemas.openxmlformats.org/drawingml/2006/main">
            <a:off x="548640" y="2286000"/>
            <a:ext cx="749808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200">
                <a:solidFill>
                  <a:srgbClr val="CADCDF"/>
                </a:solidFill>
                <a:latin typeface="Calibri"/>
                <a:ea typeface="Calibri"/>
                <a:cs typeface="Calibri"/>
              </a:rPr>
              <a:t>Diabetes progression, ready before the visit</a:t>
            </a:r>
            <a:endParaRPr sz="2200"/>
          </a:p>
        </p:txBody>
      </p:sp>
      <p:sp>
        <p:nvSpPr>
          <p:cNvPr id="6" name="Shape 3">
            <a:extLst xmlns:a="http://schemas.openxmlformats.org/drawingml/2006/main">
              <a:ext uri="{FF2B5EF4-FFF2-40B4-BE49-F238E27FC236}">
                <a16:creationId xmlns:a16="http://schemas.microsoft.com/office/drawing/2014/main" id="{CAB9F320-CDAA-404C-860E-605A1D2E95CF}"/>
              </a:ext>
            </a:extLst>
          </p:cNvPr>
          <p:cNvSpPr>
            <a:spLocks xmlns:a="http://schemas.openxmlformats.org/drawingml/2006/main" noGrp="1"/>
          </p:cNvSpPr>
          <p:nvPr/>
        </p:nvSpPr>
        <p:spPr>
          <a:xfrm xmlns:a="http://schemas.openxmlformats.org/drawingml/2006/main">
            <a:off x="548640" y="3337560"/>
            <a:ext cx="54864" cy="1005840"/>
          </a:xfrm>
          <a:prstGeom xmlns:a="http://schemas.openxmlformats.org/drawingml/2006/main" prst="rect">
            <a:avLst/>
          </a:prstGeom>
          <a:solidFill xmlns:a="http://schemas.openxmlformats.org/drawingml/2006/main">
            <a:srgbClr val="F2A541"/>
          </a:solidFill>
          <a:ln xmlns:a="http://schemas.openxmlformats.org/drawingml/2006/main" w="12700">
            <a:solidFill>
              <a:srgbClr val="F2A541"/>
            </a:solidFill>
            <a:prstDash val="solid"/>
          </a:ln>
        </p:spPr>
        <p:txBody xmlns:a="http://schemas.openxmlformats.org/drawingml/2006/main">
          <a:bodyPr/>
          <a:p/>
        </p:txBody>
      </p:sp>
      <p:sp>
        <p:nvSpPr>
          <p:cNvPr id="7" name="Text 4">
            <a:extLst xmlns:a="http://schemas.openxmlformats.org/drawingml/2006/main">
              <a:ext uri="{FF2B5EF4-FFF2-40B4-BE49-F238E27FC236}">
                <a16:creationId xmlns:a16="http://schemas.microsoft.com/office/drawing/2014/main" id="{BF4D7B8F-0FB4-4BCE-BAA2-A7696F7C9D67}"/>
              </a:ext>
            </a:extLst>
          </p:cNvPr>
          <p:cNvSpPr>
            <a:spLocks xmlns:a="http://schemas.openxmlformats.org/drawingml/2006/main" noGrp="1"/>
          </p:cNvSpPr>
          <p:nvPr/>
        </p:nvSpPr>
        <p:spPr>
          <a:xfrm xmlns:a="http://schemas.openxmlformats.org/drawingml/2006/main">
            <a:off x="777240" y="3337560"/>
            <a:ext cx="7315200"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i="1">
                <a:solidFill>
                  <a:srgbClr val="F2A541"/>
                </a:solidFill>
                <a:latin typeface="Calibri"/>
                <a:ea typeface="Calibri"/>
                <a:cs typeface="Calibri"/>
              </a:rPr>
              <a:t>Built and running locally: records are read, fields are proposed with their source,
and staff approve every fact before it reaches the progression view.</a:t>
            </a:r>
            <a:endParaRPr sz="1500"/>
          </a:p>
        </p:txBody>
      </p:sp>
      <p:sp>
        <p:nvSpPr>
          <p:cNvPr id="9" name="HEALTH-A-THON 2026 · CONCEPT PROPOS">
            <a:extLst xmlns:a="http://schemas.openxmlformats.org/drawingml/2006/main">
              <a:ext uri="{FF2B5EF4-FFF2-40B4-BE49-F238E27FC236}">
                <a16:creationId xmlns:a16="http://schemas.microsoft.com/office/drawing/2014/main" id="{28310EB4-B9F1-425C-BDE2-B432CD32F327}"/>
              </a:ext>
            </a:extLst>
          </p:cNvPr>
          <p:cNvSpPr>
            <a:spLocks xmlns:a="http://schemas.openxmlformats.org/drawingml/2006/main" noGrp="1"/>
          </p:cNvSpPr>
          <p:nvPr/>
        </p:nvSpPr>
        <p:spPr>
          <a:xfrm xmlns:a="http://schemas.openxmlformats.org/drawingml/2006/main">
            <a:off x="548640" y="4695825"/>
            <a:ext cx="804672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CADCDF"/>
                </a:solidFill>
                <a:latin typeface="Calibri"/>
                <a:ea typeface="Calibri"/>
                <a:cs typeface="Calibri"/>
              </a:defRPr>
            </a:pPr>
            <a:r>
              <a:rPr sz="900" b="0">
                <a:solidFill>
                  <a:srgbClr val="CADCDF"/>
                </a:solidFill>
                <a:latin typeface="Calibri"/>
                <a:ea typeface="Calibri"/>
                <a:cs typeface="Calibri"/>
              </a:rPr>
              <a:t>HEALTH-A-THON 2026 · WORKING LOCAL BUILD</a:t>
            </a:r>
          </a:p>
        </p:txBody>
      </p:sp>
      <p:sp>
        <p:nvSpPr>
          <p:cNvPr id="10" name="Today the pieces arrive separately:">
            <a:extLst xmlns:a="http://schemas.openxmlformats.org/drawingml/2006/main">
              <a:ext uri="{FF2B5EF4-FFF2-40B4-BE49-F238E27FC236}">
                <a16:creationId xmlns:a16="http://schemas.microsoft.com/office/drawing/2014/main" id="{3AECC375-D622-4697-ACC5-4DDC2E104DD6}"/>
              </a:ext>
            </a:extLst>
          </p:cNvPr>
          <p:cNvSpPr>
            <a:spLocks xmlns:a="http://schemas.openxmlformats.org/drawingml/2006/main" noGrp="1"/>
          </p:cNvSpPr>
          <p:nvPr/>
        </p:nvSpPr>
        <p:spPr>
          <a:xfrm xmlns:a="http://schemas.openxmlformats.org/drawingml/2006/main">
            <a:off x="548640" y="2781300"/>
            <a:ext cx="804672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9FC3C9"/>
                </a:solidFill>
                <a:latin typeface="Calibri"/>
                <a:ea typeface="Calibri"/>
                <a:cs typeface="Calibri"/>
              </a:defRPr>
            </a:pPr>
            <a:r>
              <a:rPr sz="1200" b="0">
                <a:solidFill>
                  <a:srgbClr val="9FC3C9"/>
                </a:solidFill>
                <a:latin typeface="Calibri"/>
                <a:ea typeface="Calibri"/>
                <a:cs typeface="Calibri"/>
              </a:rPr>
              <a:t>Reports arrive separately. Staff reconstruct the history,</a:t>
            </a:r>
          </a:p>
          <a:p xmlns:a="http://schemas.openxmlformats.org/drawingml/2006/main">
            <a:pPr>
              <a:defRPr sz="1200" b="0">
                <a:solidFill>
                  <a:srgbClr val="9FC3C9"/>
                </a:solidFill>
                <a:latin typeface="Calibri"/>
                <a:ea typeface="Calibri"/>
                <a:cs typeface="Calibri"/>
              </a:defRPr>
            </a:pPr>
            <a:r>
              <a:rPr sz="1200" b="0">
                <a:solidFill>
                  <a:srgbClr val="9FC3C9"/>
                </a:solidFill>
                <a:latin typeface="Calibri"/>
                <a:ea typeface="Calibri"/>
                <a:cs typeface="Calibri"/>
              </a:rPr>
              <a:t>then the doctor searches for earlier results during the visit.</a:t>
            </a:r>
          </a:p>
        </p:txBody>
      </p:sp>
    </p:spTree>
    <p:extLst>
      <p:ext uri="{BB962C8B-B14F-4D97-AF65-F5344CB8AC3E}">
        <p14:creationId xmlns:p14="http://schemas.microsoft.com/office/powerpoint/2010/main" val="32617738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74EEE4F-BEDB-4DC4-B853-C4841D28D695}"/>
              </a:ext>
            </a:extLst>
          </p:cNvPr>
          <p:cNvSpPr>
            <a:spLocks xmlns:a="http://schemas.openxmlformats.org/drawingml/2006/main" noGrp="1"/>
          </p:cNvSpPr>
          <p:nvPr/>
        </p:nvSpPr>
        <p:spPr>
          <a:xfrm xmlns:a="http://schemas.openxmlformats.org/drawingml/2006/main">
            <a:off x="548640" y="320040"/>
            <a:ext cx="804672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16323A"/>
                </a:solidFill>
                <a:latin typeface="Cambria"/>
                <a:ea typeface="Cambria"/>
                <a:cs typeface="Cambria"/>
              </a:rPr>
              <a:t>A clinic morning with Glucoflow</a:t>
            </a:r>
            <a:endParaRPr sz="3000"/>
          </a:p>
        </p:txBody>
      </p:sp>
      <p:sp>
        <p:nvSpPr>
          <p:cNvPr id="3" name="Text 1">
            <a:extLst xmlns:a="http://schemas.openxmlformats.org/drawingml/2006/main">
              <a:ext uri="{FF2B5EF4-FFF2-40B4-BE49-F238E27FC236}">
                <a16:creationId xmlns:a16="http://schemas.microsoft.com/office/drawing/2014/main" id="{90F36579-44CE-43B2-8282-D0A1B8CF063C}"/>
              </a:ext>
            </a:extLst>
          </p:cNvPr>
          <p:cNvSpPr>
            <a:spLocks xmlns:a="http://schemas.openxmlformats.org/drawingml/2006/main" noGrp="1"/>
          </p:cNvSpPr>
          <p:nvPr/>
        </p:nvSpPr>
        <p:spPr>
          <a:xfrm xmlns:a="http://schemas.openxmlformats.org/drawingml/2006/main">
            <a:off x="548640" y="868680"/>
            <a:ext cx="8046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12606F"/>
                </a:solidFill>
                <a:latin typeface="Calibri"/>
                <a:ea typeface="Calibri"/>
                <a:cs typeface="Calibri"/>
              </a:rPr>
              <a:t>Proposed return visit: one new report joins the clinic’s existing patient file</a:t>
            </a:r>
            <a:endParaRPr sz="1500"/>
          </a:p>
        </p:txBody>
      </p:sp>
      <p:graphicFrame>
        <p:nvGraphicFramePr>
          <p:cNvPr id="9" name=""/>
          <p:cNvGraphicFramePr/>
          <p:nvPr/>
        </p:nvGraphicFramePr>
        <p:xfrm>
          <a:off xmlns:a="http://schemas.openxmlformats.org/drawingml/2006/main" x="548640" y="1495425"/>
          <a:ext xmlns:a="http://schemas.openxmlformats.org/drawingml/2006/main" cx="8046720" cy="2419350"/>
        </p:xfrm>
        <a:graphic xmlns:a="http://schemas.openxmlformats.org/drawingml/2006/main">
          <a:graphicData uri="http://schemas.openxmlformats.org/drawingml/2006/table">
            <a:tbl>
              <a:tblPr firstRow="0" bandRow="0" bandCol="0"/>
              <a:tblGrid>
                <a:gridCol w="1619250"/>
                <a:gridCol w="4191000"/>
                <a:gridCol w="2236470"/>
              </a:tblGrid>
              <a:tr h="361950">
                <a:tc>
                  <a:txBody>
                    <a:bodyPr wrap="square" lIns="133350" tIns="76200" rIns="133350" bIns="76200">
                      <a:noAutofit/>
                    </a:bodyPr>
                    <a:lstStyle/>
                    <a:p>
                      <a:r>
                        <a:rPr sz="1200" b="1">
                          <a:solidFill>
                            <a:srgbClr val="FFFFFF"/>
                          </a:solidFill>
                          <a:latin typeface="Calibri"/>
                          <a:ea typeface="Calibri"/>
                          <a:cs typeface="Calibri"/>
                        </a:rPr>
                        <a:t>When</a:t>
                      </a:r>
                    </a:p>
                  </a:txBody>
                  <a:tcPr marL="133350" marR="133350" marT="76200" marB="76200" anchor="ctr">
                    <a:solidFill>
                      <a:srgbClr val="0B3C49"/>
                    </a:solidFill>
                  </a:tcPr>
                </a:tc>
                <a:tc>
                  <a:txBody>
                    <a:bodyPr wrap="square" lIns="133350" tIns="76200" rIns="133350" bIns="76200">
                      <a:noAutofit/>
                    </a:bodyPr>
                    <a:lstStyle/>
                    <a:p>
                      <a:r>
                        <a:rPr sz="1200" b="1">
                          <a:solidFill>
                            <a:srgbClr val="FFFFFF"/>
                          </a:solidFill>
                          <a:latin typeface="Calibri"/>
                          <a:ea typeface="Calibri"/>
                          <a:cs typeface="Calibri"/>
                        </a:rPr>
                        <a:t>Owner and action</a:t>
                      </a:r>
                    </a:p>
                  </a:txBody>
                  <a:tcPr marL="133350" marR="133350" marT="76200" marB="76200" anchor="ctr">
                    <a:solidFill>
                      <a:srgbClr val="0B3C49"/>
                    </a:solidFill>
                  </a:tcPr>
                </a:tc>
                <a:tc>
                  <a:txBody>
                    <a:bodyPr wrap="square" lIns="133350" tIns="76200" rIns="133350" bIns="76200">
                      <a:noAutofit/>
                    </a:bodyPr>
                    <a:lstStyle/>
                    <a:p>
                      <a:r>
                        <a:rPr sz="1200" b="1">
                          <a:solidFill>
                            <a:srgbClr val="FFFFFF"/>
                          </a:solidFill>
                          <a:latin typeface="Calibri"/>
                          <a:ea typeface="Calibri"/>
                          <a:cs typeface="Calibri"/>
                        </a:rPr>
                        <a:t>Output</a:t>
                      </a:r>
                    </a:p>
                  </a:txBody>
                  <a:tcPr marL="133350" marR="133350" marT="76200" marB="76200" anchor="ctr">
                    <a:solidFill>
                      <a:srgbClr val="0B3C49"/>
                    </a:solidFill>
                  </a:tcPr>
                </a:tc>
              </a:tr>
              <a:tr h="685800">
                <a:tc>
                  <a:txBody>
                    <a:bodyPr wrap="square" lIns="133350" tIns="76200" rIns="133350" bIns="76200">
                      <a:noAutofit/>
                    </a:bodyPr>
                    <a:lstStyle/>
                    <a:p>
                      <a:r>
                        <a:rPr sz="1200" b="0">
                          <a:solidFill>
                            <a:srgbClr val="16323A"/>
                          </a:solidFill>
                          <a:latin typeface="Calibri"/>
                          <a:ea typeface="Calibri"/>
                          <a:cs typeface="Calibri"/>
                        </a:rPr>
                        <a:t>At check-in</a:t>
                      </a:r>
                    </a:p>
                  </a:txBody>
                  <a:tcPr marL="133350" marR="133350" marT="76200" marB="76200" anchor="ctr">
                    <a:solidFill>
                      <a:srgbClr val="FFFFFF"/>
                    </a:solidFill>
                  </a:tcPr>
                </a:tc>
                <a:tc>
                  <a:txBody>
                    <a:bodyPr wrap="square" lIns="133350" tIns="76200" rIns="133350" bIns="76200">
                      <a:noAutofit/>
                    </a:bodyPr>
                    <a:lstStyle/>
                    <a:p>
                      <a:r>
                        <a:rPr sz="1200" b="0">
                          <a:solidFill>
                            <a:srgbClr val="16323A"/>
                          </a:solidFill>
                          <a:latin typeface="Calibri"/>
                          <a:ea typeface="Calibri"/>
                          <a:cs typeface="Calibri"/>
                        </a:rPr>
                        <a:t>Clinic assistant uploads one new report during the usual check-in.</a:t>
                      </a:r>
                    </a:p>
                  </a:txBody>
                  <a:tcPr marL="133350" marR="133350" marT="76200" marB="76200" anchor="ctr">
                    <a:solidFill>
                      <a:srgbClr val="FFFFFF"/>
                    </a:solidFill>
                  </a:tcPr>
                </a:tc>
                <a:tc>
                  <a:txBody>
                    <a:bodyPr wrap="square" lIns="133350" tIns="76200" rIns="133350" bIns="76200">
                      <a:noAutofit/>
                    </a:bodyPr>
                    <a:lstStyle/>
                    <a:p>
                      <a:r>
                        <a:rPr sz="1200" b="0">
                          <a:solidFill>
                            <a:srgbClr val="16323A"/>
                          </a:solidFill>
                          <a:latin typeface="Calibri"/>
                          <a:ea typeface="Calibri"/>
                          <a:cs typeface="Calibri"/>
                        </a:rPr>
                        <a:t>Draft history</a:t>
                      </a:r>
                    </a:p>
                  </a:txBody>
                  <a:tcPr marL="133350" marR="133350" marT="76200" marB="76200" anchor="ctr">
                    <a:solidFill>
                      <a:srgbClr val="FFFFFF"/>
                    </a:solidFill>
                  </a:tcPr>
                </a:tc>
              </a:tr>
              <a:tr h="685800">
                <a:tc>
                  <a:txBody>
                    <a:bodyPr wrap="square" lIns="133350" tIns="76200" rIns="133350" bIns="76200">
                      <a:noAutofit/>
                    </a:bodyPr>
                    <a:lstStyle/>
                    <a:p>
                      <a:r>
                        <a:rPr sz="1200" b="0">
                          <a:solidFill>
                            <a:srgbClr val="16323A"/>
                          </a:solidFill>
                          <a:latin typeface="Calibri"/>
                          <a:ea typeface="Calibri"/>
                          <a:cs typeface="Calibri"/>
                        </a:rPr>
                        <a:t>Before consultation</a:t>
                      </a:r>
                    </a:p>
                  </a:txBody>
                  <a:tcPr marL="133350" marR="133350" marT="76200" marB="76200" anchor="ctr">
                    <a:solidFill>
                      <a:srgbClr val="FFFFFF"/>
                    </a:solidFill>
                  </a:tcPr>
                </a:tc>
                <a:tc>
                  <a:txBody>
                    <a:bodyPr wrap="square" lIns="133350" tIns="76200" rIns="133350" bIns="76200">
                      <a:noAutofit/>
                    </a:bodyPr>
                    <a:lstStyle/>
                    <a:p>
                      <a:r>
                        <a:rPr sz="1200" b="0">
                          <a:solidFill>
                            <a:srgbClr val="16323A"/>
                          </a:solidFill>
                          <a:latin typeface="Calibri"/>
                          <a:ea typeface="Calibri"/>
                          <a:cs typeface="Calibri"/>
                        </a:rPr>
                        <a:t>A trained intake reviewer checks the new facts while the patient waits.</a:t>
                      </a:r>
                    </a:p>
                  </a:txBody>
                  <a:tcPr marL="133350" marR="133350" marT="76200" marB="76200" anchor="ctr">
                    <a:solidFill>
                      <a:srgbClr val="FFFFFF"/>
                    </a:solidFill>
                  </a:tcPr>
                </a:tc>
                <a:tc>
                  <a:txBody>
                    <a:bodyPr wrap="square" lIns="133350" tIns="76200" rIns="133350" bIns="76200">
                      <a:noAutofit/>
                    </a:bodyPr>
                    <a:lstStyle/>
                    <a:p>
                      <a:r>
                        <a:rPr sz="1200" b="0">
                          <a:solidFill>
                            <a:srgbClr val="16323A"/>
                          </a:solidFill>
                          <a:latin typeface="Calibri"/>
                          <a:ea typeface="Calibri"/>
                          <a:cs typeface="Calibri"/>
                        </a:rPr>
                        <a:t>Approved update</a:t>
                      </a:r>
                    </a:p>
                  </a:txBody>
                  <a:tcPr marL="133350" marR="133350" marT="76200" marB="76200" anchor="ctr">
                    <a:solidFill>
                      <a:srgbClr val="FFFFFF"/>
                    </a:solidFill>
                  </a:tcPr>
                </a:tc>
              </a:tr>
              <a:tr h="685800">
                <a:tc>
                  <a:txBody>
                    <a:bodyPr wrap="square" lIns="133350" tIns="76200" rIns="133350" bIns="76200">
                      <a:noAutofit/>
                    </a:bodyPr>
                    <a:lstStyle/>
                    <a:p>
                      <a:r>
                        <a:rPr sz="1200" b="0">
                          <a:solidFill>
                            <a:srgbClr val="16323A"/>
                          </a:solidFill>
                          <a:latin typeface="Calibri"/>
                          <a:ea typeface="Calibri"/>
                          <a:cs typeface="Calibri"/>
                        </a:rPr>
                        <a:t>During consultation</a:t>
                      </a:r>
                    </a:p>
                  </a:txBody>
                  <a:tcPr marL="133350" marR="133350" marT="76200" marB="76200" anchor="ctr">
                    <a:solidFill>
                      <a:srgbClr val="FFFFFF"/>
                    </a:solidFill>
                  </a:tcPr>
                </a:tc>
                <a:tc>
                  <a:txBody>
                    <a:bodyPr wrap="square" lIns="133350" tIns="76200" rIns="133350" bIns="76200">
                      <a:noAutofit/>
                    </a:bodyPr>
                    <a:lstStyle/>
                    <a:p>
                      <a:r>
                        <a:rPr sz="1200" b="0">
                          <a:solidFill>
                            <a:srgbClr val="16323A"/>
                          </a:solidFill>
                          <a:latin typeface="Calibri"/>
                          <a:ea typeface="Calibri"/>
                          <a:cs typeface="Calibri"/>
                        </a:rPr>
                        <a:t>Doctor opens the approved progression view from the existing patient file.</a:t>
                      </a:r>
                    </a:p>
                  </a:txBody>
                  <a:tcPr marL="133350" marR="133350" marT="76200" marB="76200" anchor="ctr">
                    <a:solidFill>
                      <a:srgbClr val="FFFFFF"/>
                    </a:solidFill>
                  </a:tcPr>
                </a:tc>
                <a:tc>
                  <a:txBody>
                    <a:bodyPr wrap="square" lIns="133350" tIns="76200" rIns="133350" bIns="76200">
                      <a:noAutofit/>
                    </a:bodyPr>
                    <a:lstStyle/>
                    <a:p>
                      <a:r>
                        <a:rPr sz="1200" b="0">
                          <a:solidFill>
                            <a:srgbClr val="16323A"/>
                          </a:solidFill>
                          <a:latin typeface="Calibri"/>
                          <a:ea typeface="Calibri"/>
                          <a:cs typeface="Calibri"/>
                        </a:rPr>
                        <a:t>Dated history and source references</a:t>
                      </a:r>
                    </a:p>
                  </a:txBody>
                  <a:tcPr marL="133350" marR="133350" marT="76200" marB="76200" anchor="ctr">
                    <a:solidFill>
                      <a:srgbClr val="FFFFFF"/>
                    </a:solidFill>
                  </a:tcPr>
                </a:tc>
              </a:tr>
            </a:tbl>
          </a:graphicData>
        </a:graphic>
      </p:graphicFrame>
      <p:sp>
        <p:nvSpPr>
          <p:cNvPr id="5" name="If review is unfinished — or a valu">
            <a:extLst xmlns:a="http://schemas.openxmlformats.org/drawingml/2006/main">
              <a:ext uri="{FF2B5EF4-FFF2-40B4-BE49-F238E27FC236}">
                <a16:creationId xmlns:a16="http://schemas.microsoft.com/office/drawing/2014/main" id="{D6858F99-AC6D-4616-AE84-5A36573D4AED}"/>
              </a:ext>
            </a:extLst>
          </p:cNvPr>
          <p:cNvSpPr>
            <a:spLocks xmlns:a="http://schemas.openxmlformats.org/drawingml/2006/main" noGrp="1"/>
          </p:cNvSpPr>
          <p:nvPr/>
        </p:nvSpPr>
        <p:spPr>
          <a:xfrm xmlns:a="http://schemas.openxmlformats.org/drawingml/2006/main">
            <a:off x="548640" y="4162425"/>
            <a:ext cx="804672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1">
                <a:solidFill>
                  <a:srgbClr val="12606F"/>
                </a:solidFill>
                <a:latin typeface="Calibri"/>
                <a:ea typeface="Calibri"/>
                <a:cs typeface="Calibri"/>
              </a:defRPr>
            </a:pPr>
            <a:r>
              <a:rPr sz="1200" b="1">
                <a:solidFill>
                  <a:srgbClr val="12606F"/>
                </a:solidFill>
                <a:latin typeface="Calibri"/>
                <a:ea typeface="Calibri"/>
                <a:cs typeface="Calibri"/>
              </a:rPr>
              <a:t>If review cannot finish before the visit, the doctor uses the original reports. The draft stays on hold until staff approve it.</a:t>
            </a:r>
          </a:p>
        </p:txBody>
      </p:sp>
      <p:sp>
        <p:nvSpPr>
          <p:cNvPr id="6" name="Synthetic case: P0482 brings the Se">
            <a:extLst xmlns:a="http://schemas.openxmlformats.org/drawingml/2006/main">
              <a:ext uri="{FF2B5EF4-FFF2-40B4-BE49-F238E27FC236}">
                <a16:creationId xmlns:a16="http://schemas.microsoft.com/office/drawing/2014/main" id="{DBF3009E-2EFF-4BDD-A03E-DB345DB88202}"/>
              </a:ext>
            </a:extLst>
          </p:cNvPr>
          <p:cNvSpPr>
            <a:spLocks xmlns:a="http://schemas.openxmlformats.org/drawingml/2006/main" noGrp="1"/>
          </p:cNvSpPr>
          <p:nvPr/>
        </p:nvSpPr>
        <p:spPr>
          <a:xfrm xmlns:a="http://schemas.openxmlformats.org/drawingml/2006/main">
            <a:off x="548640" y="4867275"/>
            <a:ext cx="804672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5B7A82"/>
                </a:solidFill>
                <a:latin typeface="Calibri"/>
                <a:ea typeface="Calibri"/>
                <a:cs typeface="Calibri"/>
              </a:defRPr>
            </a:pPr>
            <a:r>
              <a:rPr sz="900" b="0">
                <a:solidFill>
                  <a:srgbClr val="5B7A82"/>
                </a:solidFill>
                <a:latin typeface="Calibri"/>
                <a:ea typeface="Calibri"/>
                <a:cs typeface="Calibri"/>
              </a:rPr>
              <a:t>Scenario to test with a clinic: one return report, six fields to check. Reviewer capacity determines whether the handoff fits.</a:t>
            </a:r>
          </a:p>
        </p:txBody>
      </p:sp>
    </p:spTree>
    <p:extLst>
      <p:ext uri="{BB962C8B-B14F-4D97-AF65-F5344CB8AC3E}">
        <p14:creationId xmlns:p14="http://schemas.microsoft.com/office/powerpoint/2010/main" val="27351358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6605D5A-6A94-4C71-AE6E-EED3F1C21C12}"/>
              </a:ext>
            </a:extLst>
          </p:cNvPr>
          <p:cNvSpPr>
            <a:spLocks xmlns:a="http://schemas.openxmlformats.org/drawingml/2006/main" noGrp="1"/>
          </p:cNvSpPr>
          <p:nvPr/>
        </p:nvSpPr>
        <p:spPr>
          <a:xfrm xmlns:a="http://schemas.openxmlformats.org/drawingml/2006/main">
            <a:off x="548640" y="320040"/>
            <a:ext cx="804672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16323A"/>
                </a:solidFill>
                <a:latin typeface="Cambria"/>
                <a:ea typeface="Cambria"/>
                <a:cs typeface="Cambria"/>
              </a:rPr>
              <a:t>Progression in context</a:t>
            </a:r>
            <a:endParaRPr sz="3000"/>
          </a:p>
        </p:txBody>
      </p:sp>
      <p:sp>
        <p:nvSpPr>
          <p:cNvPr id="3" name="Text 1">
            <a:extLst xmlns:a="http://schemas.openxmlformats.org/drawingml/2006/main">
              <a:ext uri="{FF2B5EF4-FFF2-40B4-BE49-F238E27FC236}">
                <a16:creationId xmlns:a16="http://schemas.microsoft.com/office/drawing/2014/main" id="{CCD7D1EB-DE36-40B4-941D-13E8827861DD}"/>
              </a:ext>
            </a:extLst>
          </p:cNvPr>
          <p:cNvSpPr>
            <a:spLocks xmlns:a="http://schemas.openxmlformats.org/drawingml/2006/main" noGrp="1"/>
          </p:cNvSpPr>
          <p:nvPr/>
        </p:nvSpPr>
        <p:spPr>
          <a:xfrm xmlns:a="http://schemas.openxmlformats.org/drawingml/2006/main">
            <a:off x="548640" y="868680"/>
            <a:ext cx="8046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12606F"/>
                </a:solidFill>
                <a:latin typeface="Calibri"/>
                <a:ea typeface="Calibri"/>
                <a:cs typeface="Calibri"/>
              </a:rPr>
              <a:t>Three dated HbA1c results • verified local build • synthetic patient P0482</a:t>
            </a:r>
            <a:endParaRPr sz="1500"/>
          </a:p>
        </p:txBody>
      </p:sp>
      <p:sp>
        <p:nvSpPr>
          <p:cNvPr id="11" name="Text 8">
            <a:extLst xmlns:a="http://schemas.openxmlformats.org/drawingml/2006/main">
              <a:ext uri="{FF2B5EF4-FFF2-40B4-BE49-F238E27FC236}">
                <a16:creationId xmlns:a16="http://schemas.microsoft.com/office/drawing/2014/main" id="{D3974E4F-FC26-43E9-B258-AE3100B60FF8}"/>
              </a:ext>
            </a:extLst>
          </p:cNvPr>
          <p:cNvSpPr>
            <a:spLocks xmlns:a="http://schemas.openxmlformats.org/drawingml/2006/main" noGrp="1"/>
          </p:cNvSpPr>
          <p:nvPr/>
        </p:nvSpPr>
        <p:spPr>
          <a:xfrm xmlns:a="http://schemas.openxmlformats.org/drawingml/2006/main">
            <a:off x="548640" y="4457700"/>
            <a:ext cx="8046720" cy="4191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sz="975" i="0"/>
            </a:pPr>
            <a:r>
              <a:rPr sz="975" i="0">
                <a:solidFill>
                  <a:srgbClr val="5B7A82"/>
                </a:solidFill>
                <a:latin typeface="Calibri"/>
                <a:ea typeface="Calibri"/>
                <a:cs typeface="Calibri"/>
              </a:rPr>
              <a:t>Each value opens its source report; each care event retains its date and source.
The doctor interprets the history. Timing alone does not establish a treatment effect.</a:t>
            </a:r>
            <a:endParaRPr sz="1150"/>
          </a:p>
        </p:txBody>
      </p:sp>
      <p:sp>
        <p:nvSpPr>
          <p:cNvPr id="17" name="Care context card">
            <a:extLst xmlns:a="http://schemas.openxmlformats.org/drawingml/2006/main">
              <a:ext uri="{FF2B5EF4-FFF2-40B4-BE49-F238E27FC236}">
                <a16:creationId xmlns:a16="http://schemas.microsoft.com/office/drawing/2014/main" id="{A69E343D-D059-4A59-AE43-FAA9501D540B}"/>
              </a:ext>
            </a:extLst>
          </p:cNvPr>
          <p:cNvSpPr>
            <a:spLocks xmlns:a="http://schemas.openxmlformats.org/drawingml/2006/main" noGrp="1"/>
          </p:cNvSpPr>
          <p:nvPr/>
        </p:nvSpPr>
        <p:spPr>
          <a:xfrm xmlns:a="http://schemas.openxmlformats.org/drawingml/2006/main">
            <a:off x="548640" y="3543300"/>
            <a:ext cx="1874520" cy="323850"/>
          </a:xfrm>
          <a:prstGeom xmlns:a="http://schemas.openxmlformats.org/drawingml/2006/main" prst="roundRect">
            <a:avLst>
              <a:gd name="adj" fmla="val 23529"/>
            </a:avLst>
          </a:prstGeom>
          <a:solidFill xmlns:a="http://schemas.openxmlformats.org/drawingml/2006/main">
            <a:srgbClr val="F3F8F8"/>
          </a:solidFill>
          <a:ln xmlns:a="http://schemas.openxmlformats.org/drawingml/2006/main" w="0">
            <a:noFill/>
          </a:ln>
        </p:spPr>
        <p:txBody xmlns:a="http://schemas.openxmlformats.org/drawingml/2006/main">
          <a:bodyPr/>
          <a:p/>
        </p:txBody>
      </p:sp>
      <p:sp>
        <p:nvSpPr>
          <p:cNvPr id="18" name="15 Jan · Prescription">
            <a:extLst xmlns:a="http://schemas.openxmlformats.org/drawingml/2006/main">
              <a:ext uri="{FF2B5EF4-FFF2-40B4-BE49-F238E27FC236}">
                <a16:creationId xmlns:a16="http://schemas.microsoft.com/office/drawing/2014/main" id="{28E48DF9-9165-4A91-A357-09E5AAAAF309}"/>
              </a:ext>
            </a:extLst>
          </p:cNvPr>
          <p:cNvSpPr>
            <a:spLocks xmlns:a="http://schemas.openxmlformats.org/drawingml/2006/main" noGrp="1"/>
          </p:cNvSpPr>
          <p:nvPr/>
        </p:nvSpPr>
        <p:spPr>
          <a:xfrm xmlns:a="http://schemas.openxmlformats.org/drawingml/2006/main">
            <a:off x="643890" y="3571875"/>
            <a:ext cx="1685925"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788" b="1">
                <a:solidFill>
                  <a:srgbClr val="12606F"/>
                </a:solidFill>
                <a:latin typeface="Calibri"/>
                <a:ea typeface="Calibri"/>
                <a:cs typeface="Calibri"/>
              </a:defRPr>
            </a:pPr>
            <a:r>
              <a:rPr sz="788" b="1">
                <a:solidFill>
                  <a:srgbClr val="12606F"/>
                </a:solidFill>
                <a:latin typeface="Calibri"/>
                <a:ea typeface="Calibri"/>
                <a:cs typeface="Calibri"/>
              </a:rPr>
              <a:t>15 Jan · Prescription</a:t>
            </a:r>
          </a:p>
        </p:txBody>
      </p:sp>
      <p:sp>
        <p:nvSpPr>
          <p:cNvPr id="19" name="Metformin listed">
            <a:extLst xmlns:a="http://schemas.openxmlformats.org/drawingml/2006/main">
              <a:ext uri="{FF2B5EF4-FFF2-40B4-BE49-F238E27FC236}">
                <a16:creationId xmlns:a16="http://schemas.microsoft.com/office/drawing/2014/main" id="{EF282242-0C77-48B4-9954-F250E57ADA22}"/>
              </a:ext>
            </a:extLst>
          </p:cNvPr>
          <p:cNvSpPr>
            <a:spLocks xmlns:a="http://schemas.openxmlformats.org/drawingml/2006/main" noGrp="1"/>
          </p:cNvSpPr>
          <p:nvPr/>
        </p:nvSpPr>
        <p:spPr>
          <a:xfrm xmlns:a="http://schemas.openxmlformats.org/drawingml/2006/main">
            <a:off x="643890" y="3714750"/>
            <a:ext cx="1685925"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825" b="0">
                <a:solidFill>
                  <a:srgbClr val="16323A"/>
                </a:solidFill>
                <a:latin typeface="Calibri"/>
                <a:ea typeface="Calibri"/>
                <a:cs typeface="Calibri"/>
              </a:defRPr>
            </a:pPr>
            <a:r>
              <a:rPr sz="825" b="0">
                <a:solidFill>
                  <a:srgbClr val="16323A"/>
                </a:solidFill>
                <a:latin typeface="Calibri"/>
                <a:ea typeface="Calibri"/>
                <a:cs typeface="Calibri"/>
              </a:rPr>
              <a:t>Metformin listed</a:t>
            </a:r>
          </a:p>
        </p:txBody>
      </p:sp>
      <p:sp>
        <p:nvSpPr>
          <p:cNvPr id="20" name="Care context card">
            <a:extLst xmlns:a="http://schemas.openxmlformats.org/drawingml/2006/main">
              <a:ext uri="{FF2B5EF4-FFF2-40B4-BE49-F238E27FC236}">
                <a16:creationId xmlns:a16="http://schemas.microsoft.com/office/drawing/2014/main" id="{C11F7EEA-59AA-4FB4-9B76-2A9E6B1EA5DC}"/>
              </a:ext>
            </a:extLst>
          </p:cNvPr>
          <p:cNvSpPr>
            <a:spLocks xmlns:a="http://schemas.openxmlformats.org/drawingml/2006/main" noGrp="1"/>
          </p:cNvSpPr>
          <p:nvPr/>
        </p:nvSpPr>
        <p:spPr>
          <a:xfrm xmlns:a="http://schemas.openxmlformats.org/drawingml/2006/main">
            <a:off x="2606040" y="3543300"/>
            <a:ext cx="1874520" cy="323850"/>
          </a:xfrm>
          <a:prstGeom xmlns:a="http://schemas.openxmlformats.org/drawingml/2006/main" prst="roundRect">
            <a:avLst>
              <a:gd name="adj" fmla="val 23529"/>
            </a:avLst>
          </a:prstGeom>
          <a:solidFill xmlns:a="http://schemas.openxmlformats.org/drawingml/2006/main">
            <a:srgbClr val="F3F8F8"/>
          </a:solidFill>
          <a:ln xmlns:a="http://schemas.openxmlformats.org/drawingml/2006/main" w="0">
            <a:noFill/>
          </a:ln>
        </p:spPr>
        <p:txBody xmlns:a="http://schemas.openxmlformats.org/drawingml/2006/main">
          <a:bodyPr/>
          <a:p/>
        </p:txBody>
      </p:sp>
      <p:sp>
        <p:nvSpPr>
          <p:cNvPr id="21" name="18 Apr · Prescription">
            <a:extLst xmlns:a="http://schemas.openxmlformats.org/drawingml/2006/main">
              <a:ext uri="{FF2B5EF4-FFF2-40B4-BE49-F238E27FC236}">
                <a16:creationId xmlns:a16="http://schemas.microsoft.com/office/drawing/2014/main" id="{B3D9CC7E-9071-4FA6-A494-E55BFEB8A673}"/>
              </a:ext>
            </a:extLst>
          </p:cNvPr>
          <p:cNvSpPr>
            <a:spLocks xmlns:a="http://schemas.openxmlformats.org/drawingml/2006/main" noGrp="1"/>
          </p:cNvSpPr>
          <p:nvPr/>
        </p:nvSpPr>
        <p:spPr>
          <a:xfrm xmlns:a="http://schemas.openxmlformats.org/drawingml/2006/main">
            <a:off x="2701290" y="3571875"/>
            <a:ext cx="1685925"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788" b="1">
                <a:solidFill>
                  <a:srgbClr val="12606F"/>
                </a:solidFill>
                <a:latin typeface="Calibri"/>
                <a:ea typeface="Calibri"/>
                <a:cs typeface="Calibri"/>
              </a:defRPr>
            </a:pPr>
            <a:r>
              <a:rPr sz="788" b="1">
                <a:solidFill>
                  <a:srgbClr val="12606F"/>
                </a:solidFill>
                <a:latin typeface="Calibri"/>
                <a:ea typeface="Calibri"/>
                <a:cs typeface="Calibri"/>
              </a:rPr>
              <a:t>18 Apr · Prescription</a:t>
            </a:r>
          </a:p>
        </p:txBody>
      </p:sp>
      <p:sp>
        <p:nvSpPr>
          <p:cNvPr id="22" name="Prescription revised">
            <a:extLst xmlns:a="http://schemas.openxmlformats.org/drawingml/2006/main">
              <a:ext uri="{FF2B5EF4-FFF2-40B4-BE49-F238E27FC236}">
                <a16:creationId xmlns:a16="http://schemas.microsoft.com/office/drawing/2014/main" id="{0A7C39EB-27B5-4F08-9688-1FEBE7E737DE}"/>
              </a:ext>
            </a:extLst>
          </p:cNvPr>
          <p:cNvSpPr>
            <a:spLocks xmlns:a="http://schemas.openxmlformats.org/drawingml/2006/main" noGrp="1"/>
          </p:cNvSpPr>
          <p:nvPr/>
        </p:nvSpPr>
        <p:spPr>
          <a:xfrm xmlns:a="http://schemas.openxmlformats.org/drawingml/2006/main">
            <a:off x="2701290" y="3714750"/>
            <a:ext cx="1685925"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825" b="0">
                <a:solidFill>
                  <a:srgbClr val="16323A"/>
                </a:solidFill>
                <a:latin typeface="Calibri"/>
                <a:ea typeface="Calibri"/>
                <a:cs typeface="Calibri"/>
              </a:defRPr>
            </a:pPr>
            <a:r>
              <a:rPr sz="825" b="0">
                <a:solidFill>
                  <a:srgbClr val="16323A"/>
                </a:solidFill>
                <a:latin typeface="Calibri"/>
                <a:ea typeface="Calibri"/>
                <a:cs typeface="Calibri"/>
              </a:rPr>
              <a:t>Prescription revised</a:t>
            </a:r>
          </a:p>
        </p:txBody>
      </p:sp>
      <p:sp>
        <p:nvSpPr>
          <p:cNvPr id="23" name="Care context card">
            <a:extLst xmlns:a="http://schemas.openxmlformats.org/drawingml/2006/main">
              <a:ext uri="{FF2B5EF4-FFF2-40B4-BE49-F238E27FC236}">
                <a16:creationId xmlns:a16="http://schemas.microsoft.com/office/drawing/2014/main" id="{12874CFA-FEEF-493C-B16D-F25E1B7D299F}"/>
              </a:ext>
            </a:extLst>
          </p:cNvPr>
          <p:cNvSpPr>
            <a:spLocks xmlns:a="http://schemas.openxmlformats.org/drawingml/2006/main" noGrp="1"/>
          </p:cNvSpPr>
          <p:nvPr/>
        </p:nvSpPr>
        <p:spPr>
          <a:xfrm xmlns:a="http://schemas.openxmlformats.org/drawingml/2006/main">
            <a:off x="4663440" y="3543300"/>
            <a:ext cx="1874520" cy="323850"/>
          </a:xfrm>
          <a:prstGeom xmlns:a="http://schemas.openxmlformats.org/drawingml/2006/main" prst="roundRect">
            <a:avLst>
              <a:gd name="adj" fmla="val 23529"/>
            </a:avLst>
          </a:prstGeom>
          <a:solidFill xmlns:a="http://schemas.openxmlformats.org/drawingml/2006/main">
            <a:srgbClr val="F3F8F8"/>
          </a:solidFill>
          <a:ln xmlns:a="http://schemas.openxmlformats.org/drawingml/2006/main" w="0">
            <a:noFill/>
          </a:ln>
        </p:spPr>
        <p:txBody xmlns:a="http://schemas.openxmlformats.org/drawingml/2006/main">
          <a:bodyPr/>
          <a:p/>
        </p:txBody>
      </p:sp>
      <p:sp>
        <p:nvSpPr>
          <p:cNvPr id="24" name="09 Jul · Patient note">
            <a:extLst xmlns:a="http://schemas.openxmlformats.org/drawingml/2006/main">
              <a:ext uri="{FF2B5EF4-FFF2-40B4-BE49-F238E27FC236}">
                <a16:creationId xmlns:a16="http://schemas.microsoft.com/office/drawing/2014/main" id="{A2F9132F-F239-480C-8880-45C8A468477B}"/>
              </a:ext>
            </a:extLst>
          </p:cNvPr>
          <p:cNvSpPr>
            <a:spLocks xmlns:a="http://schemas.openxmlformats.org/drawingml/2006/main" noGrp="1"/>
          </p:cNvSpPr>
          <p:nvPr/>
        </p:nvSpPr>
        <p:spPr>
          <a:xfrm xmlns:a="http://schemas.openxmlformats.org/drawingml/2006/main">
            <a:off x="4758690" y="3571875"/>
            <a:ext cx="1685925"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788" b="1">
                <a:solidFill>
                  <a:srgbClr val="12606F"/>
                </a:solidFill>
                <a:latin typeface="Calibri"/>
                <a:ea typeface="Calibri"/>
                <a:cs typeface="Calibri"/>
              </a:defRPr>
            </a:pPr>
            <a:r>
              <a:rPr sz="788" b="1">
                <a:solidFill>
                  <a:srgbClr val="12606F"/>
                </a:solidFill>
                <a:latin typeface="Calibri"/>
                <a:ea typeface="Calibri"/>
                <a:cs typeface="Calibri"/>
              </a:rPr>
              <a:t>09 Jul · Patient note</a:t>
            </a:r>
          </a:p>
        </p:txBody>
      </p:sp>
      <p:sp>
        <p:nvSpPr>
          <p:cNvPr id="25" name="Diet and walking reported">
            <a:extLst xmlns:a="http://schemas.openxmlformats.org/drawingml/2006/main">
              <a:ext uri="{FF2B5EF4-FFF2-40B4-BE49-F238E27FC236}">
                <a16:creationId xmlns:a16="http://schemas.microsoft.com/office/drawing/2014/main" id="{51E85AF3-4D20-4D59-950A-A25EF22885AA}"/>
              </a:ext>
            </a:extLst>
          </p:cNvPr>
          <p:cNvSpPr>
            <a:spLocks xmlns:a="http://schemas.openxmlformats.org/drawingml/2006/main" noGrp="1"/>
          </p:cNvSpPr>
          <p:nvPr/>
        </p:nvSpPr>
        <p:spPr>
          <a:xfrm xmlns:a="http://schemas.openxmlformats.org/drawingml/2006/main">
            <a:off x="4758690" y="3714750"/>
            <a:ext cx="1685925"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825" b="0">
                <a:solidFill>
                  <a:srgbClr val="16323A"/>
                </a:solidFill>
                <a:latin typeface="Calibri"/>
                <a:ea typeface="Calibri"/>
                <a:cs typeface="Calibri"/>
              </a:defRPr>
            </a:pPr>
            <a:r>
              <a:rPr sz="825" b="0">
                <a:solidFill>
                  <a:srgbClr val="16323A"/>
                </a:solidFill>
                <a:latin typeface="Calibri"/>
                <a:ea typeface="Calibri"/>
                <a:cs typeface="Calibri"/>
              </a:rPr>
              <a:t>Diet and walking reported</a:t>
            </a:r>
          </a:p>
        </p:txBody>
      </p:sp>
      <p:sp>
        <p:nvSpPr>
          <p:cNvPr id="26" name="Care context card">
            <a:extLst xmlns:a="http://schemas.openxmlformats.org/drawingml/2006/main">
              <a:ext uri="{FF2B5EF4-FFF2-40B4-BE49-F238E27FC236}">
                <a16:creationId xmlns:a16="http://schemas.microsoft.com/office/drawing/2014/main" id="{EA0F46BF-94EB-4B3D-AFE4-F1FAA17C1C0C}"/>
              </a:ext>
            </a:extLst>
          </p:cNvPr>
          <p:cNvSpPr>
            <a:spLocks xmlns:a="http://schemas.openxmlformats.org/drawingml/2006/main" noGrp="1"/>
          </p:cNvSpPr>
          <p:nvPr/>
        </p:nvSpPr>
        <p:spPr>
          <a:xfrm xmlns:a="http://schemas.openxmlformats.org/drawingml/2006/main">
            <a:off x="6720840" y="3543300"/>
            <a:ext cx="1874520" cy="323850"/>
          </a:xfrm>
          <a:prstGeom xmlns:a="http://schemas.openxmlformats.org/drawingml/2006/main" prst="roundRect">
            <a:avLst>
              <a:gd name="adj" fmla="val 23529"/>
            </a:avLst>
          </a:prstGeom>
          <a:solidFill xmlns:a="http://schemas.openxmlformats.org/drawingml/2006/main">
            <a:srgbClr val="F3F8F8"/>
          </a:solidFill>
          <a:ln xmlns:a="http://schemas.openxmlformats.org/drawingml/2006/main" w="0">
            <a:noFill/>
          </a:ln>
        </p:spPr>
        <p:txBody xmlns:a="http://schemas.openxmlformats.org/drawingml/2006/main">
          <a:bodyPr/>
          <a:p/>
        </p:txBody>
      </p:sp>
      <p:sp>
        <p:nvSpPr>
          <p:cNvPr id="27" name="04 Sep · Eye exam">
            <a:extLst xmlns:a="http://schemas.openxmlformats.org/drawingml/2006/main">
              <a:ext uri="{FF2B5EF4-FFF2-40B4-BE49-F238E27FC236}">
                <a16:creationId xmlns:a16="http://schemas.microsoft.com/office/drawing/2014/main" id="{8D1D1488-CBAF-46D7-A062-1C3FA4A5514A}"/>
              </a:ext>
            </a:extLst>
          </p:cNvPr>
          <p:cNvSpPr>
            <a:spLocks xmlns:a="http://schemas.openxmlformats.org/drawingml/2006/main" noGrp="1"/>
          </p:cNvSpPr>
          <p:nvPr/>
        </p:nvSpPr>
        <p:spPr>
          <a:xfrm xmlns:a="http://schemas.openxmlformats.org/drawingml/2006/main">
            <a:off x="6816090" y="3571875"/>
            <a:ext cx="1685925"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788" b="1">
                <a:solidFill>
                  <a:srgbClr val="12606F"/>
                </a:solidFill>
                <a:latin typeface="Calibri"/>
                <a:ea typeface="Calibri"/>
                <a:cs typeface="Calibri"/>
              </a:defRPr>
            </a:pPr>
            <a:r>
              <a:rPr sz="788" b="1">
                <a:solidFill>
                  <a:srgbClr val="12606F"/>
                </a:solidFill>
                <a:latin typeface="Calibri"/>
                <a:ea typeface="Calibri"/>
                <a:cs typeface="Calibri"/>
              </a:rPr>
              <a:t>04 Sep · Eye exam</a:t>
            </a:r>
          </a:p>
        </p:txBody>
      </p:sp>
      <p:sp>
        <p:nvSpPr>
          <p:cNvPr id="28" name="Report available">
            <a:extLst xmlns:a="http://schemas.openxmlformats.org/drawingml/2006/main">
              <a:ext uri="{FF2B5EF4-FFF2-40B4-BE49-F238E27FC236}">
                <a16:creationId xmlns:a16="http://schemas.microsoft.com/office/drawing/2014/main" id="{060E4B12-EA34-43A4-BAB9-6F49AE941F58}"/>
              </a:ext>
            </a:extLst>
          </p:cNvPr>
          <p:cNvSpPr>
            <a:spLocks xmlns:a="http://schemas.openxmlformats.org/drawingml/2006/main" noGrp="1"/>
          </p:cNvSpPr>
          <p:nvPr/>
        </p:nvSpPr>
        <p:spPr>
          <a:xfrm xmlns:a="http://schemas.openxmlformats.org/drawingml/2006/main">
            <a:off x="6816090" y="3714750"/>
            <a:ext cx="1685925"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825" b="0">
                <a:solidFill>
                  <a:srgbClr val="16323A"/>
                </a:solidFill>
                <a:latin typeface="Calibri"/>
                <a:ea typeface="Calibri"/>
                <a:cs typeface="Calibri"/>
              </a:defRPr>
            </a:pPr>
            <a:r>
              <a:rPr sz="825" b="0">
                <a:solidFill>
                  <a:srgbClr val="16323A"/>
                </a:solidFill>
                <a:latin typeface="Calibri"/>
                <a:ea typeface="Calibri"/>
                <a:cs typeface="Calibri"/>
              </a:rPr>
              <a:t>Report available</a:t>
            </a:r>
          </a:p>
        </p:txBody>
      </p:sp>
      <p:sp>
        <p:nvSpPr>
          <p:cNvPr id="29" name="Record domain">
            <a:extLst xmlns:a="http://schemas.openxmlformats.org/drawingml/2006/main">
              <a:ext uri="{FF2B5EF4-FFF2-40B4-BE49-F238E27FC236}">
                <a16:creationId xmlns:a16="http://schemas.microsoft.com/office/drawing/2014/main" id="{54D3F58F-0CAF-48DA-8520-EDD7B2263110}"/>
              </a:ext>
            </a:extLst>
          </p:cNvPr>
          <p:cNvSpPr>
            <a:spLocks xmlns:a="http://schemas.openxmlformats.org/drawingml/2006/main" noGrp="1"/>
          </p:cNvSpPr>
          <p:nvPr/>
        </p:nvSpPr>
        <p:spPr>
          <a:xfrm xmlns:a="http://schemas.openxmlformats.org/drawingml/2006/main">
            <a:off x="548640" y="3943350"/>
            <a:ext cx="1277303" cy="381000"/>
          </a:xfrm>
          <a:prstGeom xmlns:a="http://schemas.openxmlformats.org/drawingml/2006/main" prst="roundRect">
            <a:avLst>
              <a:gd name="adj" fmla="val 20000"/>
            </a:avLst>
          </a:prstGeom>
          <a:solidFill xmlns:a="http://schemas.openxmlformats.org/drawingml/2006/main">
            <a:srgbClr val="F3F8F8"/>
          </a:solidFill>
          <a:ln xmlns:a="http://schemas.openxmlformats.org/drawingml/2006/main" w="9525">
            <a:solidFill>
              <a:srgbClr val="DDEBEC"/>
            </a:solidFill>
          </a:ln>
        </p:spPr>
        <p:txBody xmlns:a="http://schemas.openxmlformats.org/drawingml/2006/main">
          <a:bodyPr/>
          <a:p/>
        </p:txBody>
      </p:sp>
      <p:sp>
        <p:nvSpPr>
          <p:cNvPr id="30" name="HbA1c">
            <a:extLst xmlns:a="http://schemas.openxmlformats.org/drawingml/2006/main">
              <a:ext uri="{FF2B5EF4-FFF2-40B4-BE49-F238E27FC236}">
                <a16:creationId xmlns:a16="http://schemas.microsoft.com/office/drawing/2014/main" id="{64CCD65C-DCD0-4342-AA4D-1442C18B5951}"/>
              </a:ext>
            </a:extLst>
          </p:cNvPr>
          <p:cNvSpPr>
            <a:spLocks xmlns:a="http://schemas.openxmlformats.org/drawingml/2006/main" noGrp="1"/>
          </p:cNvSpPr>
          <p:nvPr/>
        </p:nvSpPr>
        <p:spPr>
          <a:xfrm xmlns:a="http://schemas.openxmlformats.org/drawingml/2006/main">
            <a:off x="624840" y="3971925"/>
            <a:ext cx="1124903"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750" b="1">
                <a:solidFill>
                  <a:srgbClr val="12606F"/>
                </a:solidFill>
                <a:latin typeface="Calibri"/>
                <a:ea typeface="Calibri"/>
                <a:cs typeface="Calibri"/>
              </a:defRPr>
            </a:pPr>
            <a:r>
              <a:rPr sz="750" b="1">
                <a:solidFill>
                  <a:srgbClr val="12606F"/>
                </a:solidFill>
                <a:latin typeface="Calibri"/>
                <a:ea typeface="Calibri"/>
                <a:cs typeface="Calibri"/>
              </a:rPr>
              <a:t>HbA1c</a:t>
            </a:r>
          </a:p>
        </p:txBody>
      </p:sp>
      <p:sp>
        <p:nvSpPr>
          <p:cNvPr id="31" name="4 results · 7.5–8.2%">
            <a:extLst xmlns:a="http://schemas.openxmlformats.org/drawingml/2006/main">
              <a:ext uri="{FF2B5EF4-FFF2-40B4-BE49-F238E27FC236}">
                <a16:creationId xmlns:a16="http://schemas.microsoft.com/office/drawing/2014/main" id="{3BE24FCE-FFF1-4169-824D-C9E390C6E3B4}"/>
              </a:ext>
            </a:extLst>
          </p:cNvPr>
          <p:cNvSpPr>
            <a:spLocks xmlns:a="http://schemas.openxmlformats.org/drawingml/2006/main" noGrp="1"/>
          </p:cNvSpPr>
          <p:nvPr/>
        </p:nvSpPr>
        <p:spPr>
          <a:xfrm xmlns:a="http://schemas.openxmlformats.org/drawingml/2006/main">
            <a:off x="624840" y="4105275"/>
            <a:ext cx="1124903"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713" b="0">
                <a:solidFill>
                  <a:srgbClr val="5B7A82"/>
                </a:solidFill>
                <a:latin typeface="Calibri"/>
                <a:ea typeface="Calibri"/>
                <a:cs typeface="Calibri"/>
              </a:defRPr>
            </a:pPr>
            <a:r>
              <a:rPr sz="713" b="0">
                <a:solidFill>
                  <a:srgbClr val="5B7A82"/>
                </a:solidFill>
                <a:latin typeface="Calibri"/>
                <a:ea typeface="Calibri"/>
                <a:cs typeface="Calibri"/>
              </a:rPr>
              <a:t>4 results · 7.5–8.2%</a:t>
            </a:r>
          </a:p>
        </p:txBody>
      </p:sp>
      <p:sp>
        <p:nvSpPr>
          <p:cNvPr id="32" name="Record domain">
            <a:extLst xmlns:a="http://schemas.openxmlformats.org/drawingml/2006/main">
              <a:ext uri="{FF2B5EF4-FFF2-40B4-BE49-F238E27FC236}">
                <a16:creationId xmlns:a16="http://schemas.microsoft.com/office/drawing/2014/main" id="{82F6E396-FDB8-425E-AAEB-F61875C5922C}"/>
              </a:ext>
            </a:extLst>
          </p:cNvPr>
          <p:cNvSpPr>
            <a:spLocks xmlns:a="http://schemas.openxmlformats.org/drawingml/2006/main" noGrp="1"/>
          </p:cNvSpPr>
          <p:nvPr/>
        </p:nvSpPr>
        <p:spPr>
          <a:xfrm xmlns:a="http://schemas.openxmlformats.org/drawingml/2006/main">
            <a:off x="1902143" y="3943350"/>
            <a:ext cx="1277303" cy="381000"/>
          </a:xfrm>
          <a:prstGeom xmlns:a="http://schemas.openxmlformats.org/drawingml/2006/main" prst="roundRect">
            <a:avLst>
              <a:gd name="adj" fmla="val 20000"/>
            </a:avLst>
          </a:prstGeom>
          <a:solidFill xmlns:a="http://schemas.openxmlformats.org/drawingml/2006/main">
            <a:srgbClr val="F3F8F8"/>
          </a:solidFill>
          <a:ln xmlns:a="http://schemas.openxmlformats.org/drawingml/2006/main" w="9525">
            <a:solidFill>
              <a:srgbClr val="DDEBEC"/>
            </a:solidFill>
          </a:ln>
        </p:spPr>
        <p:txBody xmlns:a="http://schemas.openxmlformats.org/drawingml/2006/main">
          <a:bodyPr/>
          <a:p/>
        </p:txBody>
      </p:sp>
      <p:sp>
        <p:nvSpPr>
          <p:cNvPr id="33" name="Glucose">
            <a:extLst xmlns:a="http://schemas.openxmlformats.org/drawingml/2006/main">
              <a:ext uri="{FF2B5EF4-FFF2-40B4-BE49-F238E27FC236}">
                <a16:creationId xmlns:a16="http://schemas.microsoft.com/office/drawing/2014/main" id="{3738375B-6642-4406-B0B6-28FE30659483}"/>
              </a:ext>
            </a:extLst>
          </p:cNvPr>
          <p:cNvSpPr>
            <a:spLocks xmlns:a="http://schemas.openxmlformats.org/drawingml/2006/main" noGrp="1"/>
          </p:cNvSpPr>
          <p:nvPr/>
        </p:nvSpPr>
        <p:spPr>
          <a:xfrm xmlns:a="http://schemas.openxmlformats.org/drawingml/2006/main">
            <a:off x="1978343" y="3971925"/>
            <a:ext cx="1124903"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750" b="1">
                <a:solidFill>
                  <a:srgbClr val="12606F"/>
                </a:solidFill>
                <a:latin typeface="Calibri"/>
                <a:ea typeface="Calibri"/>
                <a:cs typeface="Calibri"/>
              </a:defRPr>
            </a:pPr>
            <a:r>
              <a:rPr sz="750" b="1">
                <a:solidFill>
                  <a:srgbClr val="12606F"/>
                </a:solidFill>
                <a:latin typeface="Calibri"/>
                <a:ea typeface="Calibri"/>
                <a:cs typeface="Calibri"/>
              </a:rPr>
              <a:t>Glucose</a:t>
            </a:r>
          </a:p>
        </p:txBody>
      </p:sp>
      <p:sp>
        <p:nvSpPr>
          <p:cNvPr id="34" name="5.6 mmol/L · 14 Sep">
            <a:extLst xmlns:a="http://schemas.openxmlformats.org/drawingml/2006/main">
              <a:ext uri="{FF2B5EF4-FFF2-40B4-BE49-F238E27FC236}">
                <a16:creationId xmlns:a16="http://schemas.microsoft.com/office/drawing/2014/main" id="{363AEE1B-E445-478C-9378-1F5952690C2B}"/>
              </a:ext>
            </a:extLst>
          </p:cNvPr>
          <p:cNvSpPr>
            <a:spLocks xmlns:a="http://schemas.openxmlformats.org/drawingml/2006/main" noGrp="1"/>
          </p:cNvSpPr>
          <p:nvPr/>
        </p:nvSpPr>
        <p:spPr>
          <a:xfrm xmlns:a="http://schemas.openxmlformats.org/drawingml/2006/main">
            <a:off x="1978343" y="4105275"/>
            <a:ext cx="1124903"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713" b="0">
                <a:solidFill>
                  <a:srgbClr val="5B7A82"/>
                </a:solidFill>
                <a:latin typeface="Calibri"/>
                <a:ea typeface="Calibri"/>
                <a:cs typeface="Calibri"/>
              </a:defRPr>
            </a:pPr>
            <a:r>
              <a:rPr sz="713" b="0">
                <a:solidFill>
                  <a:srgbClr val="5B7A82"/>
                </a:solidFill>
                <a:latin typeface="Calibri"/>
                <a:ea typeface="Calibri"/>
                <a:cs typeface="Calibri"/>
              </a:rPr>
              <a:t>5.6 mmol/L · 14 Sep</a:t>
            </a:r>
          </a:p>
        </p:txBody>
      </p:sp>
      <p:sp>
        <p:nvSpPr>
          <p:cNvPr id="35" name="Record domain">
            <a:extLst xmlns:a="http://schemas.openxmlformats.org/drawingml/2006/main">
              <a:ext uri="{FF2B5EF4-FFF2-40B4-BE49-F238E27FC236}">
                <a16:creationId xmlns:a16="http://schemas.microsoft.com/office/drawing/2014/main" id="{CFDDA5B0-DE7B-4022-BBDB-35E1F39F83A7}"/>
              </a:ext>
            </a:extLst>
          </p:cNvPr>
          <p:cNvSpPr>
            <a:spLocks xmlns:a="http://schemas.openxmlformats.org/drawingml/2006/main" noGrp="1"/>
          </p:cNvSpPr>
          <p:nvPr/>
        </p:nvSpPr>
        <p:spPr>
          <a:xfrm xmlns:a="http://schemas.openxmlformats.org/drawingml/2006/main">
            <a:off x="3255645" y="3943350"/>
            <a:ext cx="1277303" cy="381000"/>
          </a:xfrm>
          <a:prstGeom xmlns:a="http://schemas.openxmlformats.org/drawingml/2006/main" prst="roundRect">
            <a:avLst>
              <a:gd name="adj" fmla="val 20000"/>
            </a:avLst>
          </a:prstGeom>
          <a:solidFill xmlns:a="http://schemas.openxmlformats.org/drawingml/2006/main">
            <a:srgbClr val="F3F8F8"/>
          </a:solidFill>
          <a:ln xmlns:a="http://schemas.openxmlformats.org/drawingml/2006/main" w="9525">
            <a:solidFill>
              <a:srgbClr val="DDEBEC"/>
            </a:solidFill>
          </a:ln>
        </p:spPr>
        <p:txBody xmlns:a="http://schemas.openxmlformats.org/drawingml/2006/main">
          <a:bodyPr/>
          <a:p/>
        </p:txBody>
      </p:sp>
      <p:sp>
        <p:nvSpPr>
          <p:cNvPr id="36" name="LDL cholesterol">
            <a:extLst xmlns:a="http://schemas.openxmlformats.org/drawingml/2006/main">
              <a:ext uri="{FF2B5EF4-FFF2-40B4-BE49-F238E27FC236}">
                <a16:creationId xmlns:a16="http://schemas.microsoft.com/office/drawing/2014/main" id="{E1666A8C-E381-4B12-8F39-26A3D3D624B7}"/>
              </a:ext>
            </a:extLst>
          </p:cNvPr>
          <p:cNvSpPr>
            <a:spLocks xmlns:a="http://schemas.openxmlformats.org/drawingml/2006/main" noGrp="1"/>
          </p:cNvSpPr>
          <p:nvPr/>
        </p:nvSpPr>
        <p:spPr>
          <a:xfrm xmlns:a="http://schemas.openxmlformats.org/drawingml/2006/main">
            <a:off x="3331845" y="3971925"/>
            <a:ext cx="1124903"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750" b="1">
                <a:solidFill>
                  <a:srgbClr val="12606F"/>
                </a:solidFill>
                <a:latin typeface="Calibri"/>
                <a:ea typeface="Calibri"/>
                <a:cs typeface="Calibri"/>
              </a:defRPr>
            </a:pPr>
            <a:r>
              <a:rPr sz="750" b="1">
                <a:solidFill>
                  <a:srgbClr val="12606F"/>
                </a:solidFill>
                <a:latin typeface="Calibri"/>
                <a:ea typeface="Calibri"/>
                <a:cs typeface="Calibri"/>
              </a:rPr>
              <a:t>LDL cholesterol</a:t>
            </a:r>
          </a:p>
        </p:txBody>
      </p:sp>
      <p:sp>
        <p:nvSpPr>
          <p:cNvPr id="37" name="2.1 mmol/L · 14 Sep">
            <a:extLst xmlns:a="http://schemas.openxmlformats.org/drawingml/2006/main">
              <a:ext uri="{FF2B5EF4-FFF2-40B4-BE49-F238E27FC236}">
                <a16:creationId xmlns:a16="http://schemas.microsoft.com/office/drawing/2014/main" id="{3F5107A9-DF2B-4447-8C0A-69FFE3A58979}"/>
              </a:ext>
            </a:extLst>
          </p:cNvPr>
          <p:cNvSpPr>
            <a:spLocks xmlns:a="http://schemas.openxmlformats.org/drawingml/2006/main" noGrp="1"/>
          </p:cNvSpPr>
          <p:nvPr/>
        </p:nvSpPr>
        <p:spPr>
          <a:xfrm xmlns:a="http://schemas.openxmlformats.org/drawingml/2006/main">
            <a:off x="3331845" y="4105275"/>
            <a:ext cx="1124903"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713" b="0">
                <a:solidFill>
                  <a:srgbClr val="5B7A82"/>
                </a:solidFill>
                <a:latin typeface="Calibri"/>
                <a:ea typeface="Calibri"/>
                <a:cs typeface="Calibri"/>
              </a:defRPr>
            </a:pPr>
            <a:r>
              <a:rPr sz="713" b="0">
                <a:solidFill>
                  <a:srgbClr val="5B7A82"/>
                </a:solidFill>
                <a:latin typeface="Calibri"/>
                <a:ea typeface="Calibri"/>
                <a:cs typeface="Calibri"/>
              </a:rPr>
              <a:t>2.1 mmol/L · 14 Sep</a:t>
            </a:r>
          </a:p>
        </p:txBody>
      </p:sp>
      <p:sp>
        <p:nvSpPr>
          <p:cNvPr id="38" name="Record domain">
            <a:extLst xmlns:a="http://schemas.openxmlformats.org/drawingml/2006/main">
              <a:ext uri="{FF2B5EF4-FFF2-40B4-BE49-F238E27FC236}">
                <a16:creationId xmlns:a16="http://schemas.microsoft.com/office/drawing/2014/main" id="{44566625-8629-4A10-BF85-B4EFD8A9A26D}"/>
              </a:ext>
            </a:extLst>
          </p:cNvPr>
          <p:cNvSpPr>
            <a:spLocks xmlns:a="http://schemas.openxmlformats.org/drawingml/2006/main" noGrp="1"/>
          </p:cNvSpPr>
          <p:nvPr/>
        </p:nvSpPr>
        <p:spPr>
          <a:xfrm xmlns:a="http://schemas.openxmlformats.org/drawingml/2006/main">
            <a:off x="4609148" y="3943350"/>
            <a:ext cx="1277303" cy="3810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9525">
            <a:solidFill>
              <a:srgbClr val="DDEBEC"/>
            </a:solidFill>
          </a:ln>
        </p:spPr>
        <p:txBody xmlns:a="http://schemas.openxmlformats.org/drawingml/2006/main">
          <a:bodyPr/>
          <a:p/>
        </p:txBody>
      </p:sp>
      <p:sp>
        <p:nvSpPr>
          <p:cNvPr id="39" name="BP / weight">
            <a:extLst xmlns:a="http://schemas.openxmlformats.org/drawingml/2006/main">
              <a:ext uri="{FF2B5EF4-FFF2-40B4-BE49-F238E27FC236}">
                <a16:creationId xmlns:a16="http://schemas.microsoft.com/office/drawing/2014/main" id="{CB030F9E-B07F-41ED-A10E-A5E6FC5BFB99}"/>
              </a:ext>
            </a:extLst>
          </p:cNvPr>
          <p:cNvSpPr>
            <a:spLocks xmlns:a="http://schemas.openxmlformats.org/drawingml/2006/main" noGrp="1"/>
          </p:cNvSpPr>
          <p:nvPr/>
        </p:nvSpPr>
        <p:spPr>
          <a:xfrm xmlns:a="http://schemas.openxmlformats.org/drawingml/2006/main">
            <a:off x="4685348" y="3971925"/>
            <a:ext cx="1124903"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750" b="1">
                <a:solidFill>
                  <a:srgbClr val="12606F"/>
                </a:solidFill>
                <a:latin typeface="Calibri"/>
                <a:ea typeface="Calibri"/>
                <a:cs typeface="Calibri"/>
              </a:defRPr>
            </a:pPr>
            <a:r>
              <a:rPr sz="750" b="1">
                <a:solidFill>
                  <a:srgbClr val="12606F"/>
                </a:solidFill>
                <a:latin typeface="Calibri"/>
                <a:ea typeface="Calibri"/>
                <a:cs typeface="Calibri"/>
              </a:rPr>
              <a:t>BP / weight</a:t>
            </a:r>
          </a:p>
        </p:txBody>
      </p:sp>
      <p:sp>
        <p:nvSpPr>
          <p:cNvPr id="40" name="no record — gap">
            <a:extLst xmlns:a="http://schemas.openxmlformats.org/drawingml/2006/main">
              <a:ext uri="{FF2B5EF4-FFF2-40B4-BE49-F238E27FC236}">
                <a16:creationId xmlns:a16="http://schemas.microsoft.com/office/drawing/2014/main" id="{995D0259-31B9-4074-8368-FD506D1D69EF}"/>
              </a:ext>
            </a:extLst>
          </p:cNvPr>
          <p:cNvSpPr>
            <a:spLocks xmlns:a="http://schemas.openxmlformats.org/drawingml/2006/main" noGrp="1"/>
          </p:cNvSpPr>
          <p:nvPr/>
        </p:nvSpPr>
        <p:spPr>
          <a:xfrm xmlns:a="http://schemas.openxmlformats.org/drawingml/2006/main">
            <a:off x="4685348" y="4105275"/>
            <a:ext cx="1124903"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713" b="0">
                <a:solidFill>
                  <a:srgbClr val="8A9BA0"/>
                </a:solidFill>
                <a:latin typeface="Calibri"/>
                <a:ea typeface="Calibri"/>
                <a:cs typeface="Calibri"/>
              </a:defRPr>
            </a:pPr>
            <a:r>
              <a:rPr sz="713" b="0">
                <a:solidFill>
                  <a:srgbClr val="8A9BA0"/>
                </a:solidFill>
                <a:latin typeface="Calibri"/>
                <a:ea typeface="Calibri"/>
                <a:cs typeface="Calibri"/>
              </a:rPr>
              <a:t>no record — gap</a:t>
            </a:r>
          </a:p>
        </p:txBody>
      </p:sp>
      <p:sp>
        <p:nvSpPr>
          <p:cNvPr id="41" name="Record domain">
            <a:extLst xmlns:a="http://schemas.openxmlformats.org/drawingml/2006/main">
              <a:ext uri="{FF2B5EF4-FFF2-40B4-BE49-F238E27FC236}">
                <a16:creationId xmlns:a16="http://schemas.microsoft.com/office/drawing/2014/main" id="{0C6F4012-5A04-4954-92FB-2AC1E281F3E5}"/>
              </a:ext>
            </a:extLst>
          </p:cNvPr>
          <p:cNvSpPr>
            <a:spLocks xmlns:a="http://schemas.openxmlformats.org/drawingml/2006/main" noGrp="1"/>
          </p:cNvSpPr>
          <p:nvPr/>
        </p:nvSpPr>
        <p:spPr>
          <a:xfrm xmlns:a="http://schemas.openxmlformats.org/drawingml/2006/main">
            <a:off x="5962650" y="3943350"/>
            <a:ext cx="1277303" cy="3810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9525">
            <a:solidFill>
              <a:srgbClr val="DDEBEC"/>
            </a:solidFill>
          </a:ln>
        </p:spPr>
        <p:txBody xmlns:a="http://schemas.openxmlformats.org/drawingml/2006/main">
          <a:bodyPr/>
          <a:p/>
        </p:txBody>
      </p:sp>
      <p:sp>
        <p:nvSpPr>
          <p:cNvPr id="42" name="Kidney (eGFR/UACR)">
            <a:extLst xmlns:a="http://schemas.openxmlformats.org/drawingml/2006/main">
              <a:ext uri="{FF2B5EF4-FFF2-40B4-BE49-F238E27FC236}">
                <a16:creationId xmlns:a16="http://schemas.microsoft.com/office/drawing/2014/main" id="{A7C5D130-A3D5-47E6-ABD5-E5103BC2D764}"/>
              </a:ext>
            </a:extLst>
          </p:cNvPr>
          <p:cNvSpPr>
            <a:spLocks xmlns:a="http://schemas.openxmlformats.org/drawingml/2006/main" noGrp="1"/>
          </p:cNvSpPr>
          <p:nvPr/>
        </p:nvSpPr>
        <p:spPr>
          <a:xfrm xmlns:a="http://schemas.openxmlformats.org/drawingml/2006/main">
            <a:off x="6038850" y="3971925"/>
            <a:ext cx="1124903"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750" b="1">
                <a:solidFill>
                  <a:srgbClr val="12606F"/>
                </a:solidFill>
                <a:latin typeface="Calibri"/>
                <a:ea typeface="Calibri"/>
                <a:cs typeface="Calibri"/>
              </a:defRPr>
            </a:pPr>
            <a:r>
              <a:rPr sz="750" b="1">
                <a:solidFill>
                  <a:srgbClr val="12606F"/>
                </a:solidFill>
                <a:latin typeface="Calibri"/>
                <a:ea typeface="Calibri"/>
                <a:cs typeface="Calibri"/>
              </a:rPr>
              <a:t>Kidney (eGFR/UACR)</a:t>
            </a:r>
          </a:p>
        </p:txBody>
      </p:sp>
      <p:sp>
        <p:nvSpPr>
          <p:cNvPr id="43" name="no record — gap">
            <a:extLst xmlns:a="http://schemas.openxmlformats.org/drawingml/2006/main">
              <a:ext uri="{FF2B5EF4-FFF2-40B4-BE49-F238E27FC236}">
                <a16:creationId xmlns:a16="http://schemas.microsoft.com/office/drawing/2014/main" id="{69E3C945-66C6-416A-92BA-9D5CDC7E3F76}"/>
              </a:ext>
            </a:extLst>
          </p:cNvPr>
          <p:cNvSpPr>
            <a:spLocks xmlns:a="http://schemas.openxmlformats.org/drawingml/2006/main" noGrp="1"/>
          </p:cNvSpPr>
          <p:nvPr/>
        </p:nvSpPr>
        <p:spPr>
          <a:xfrm xmlns:a="http://schemas.openxmlformats.org/drawingml/2006/main">
            <a:off x="6038850" y="4105275"/>
            <a:ext cx="1124903"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713" b="0">
                <a:solidFill>
                  <a:srgbClr val="8A9BA0"/>
                </a:solidFill>
                <a:latin typeface="Calibri"/>
                <a:ea typeface="Calibri"/>
                <a:cs typeface="Calibri"/>
              </a:defRPr>
            </a:pPr>
            <a:r>
              <a:rPr sz="713" b="0">
                <a:solidFill>
                  <a:srgbClr val="8A9BA0"/>
                </a:solidFill>
                <a:latin typeface="Calibri"/>
                <a:ea typeface="Calibri"/>
                <a:cs typeface="Calibri"/>
              </a:rPr>
              <a:t>no record — gap</a:t>
            </a:r>
          </a:p>
        </p:txBody>
      </p:sp>
      <p:sp>
        <p:nvSpPr>
          <p:cNvPr id="44" name="Record domain">
            <a:extLst xmlns:a="http://schemas.openxmlformats.org/drawingml/2006/main">
              <a:ext uri="{FF2B5EF4-FFF2-40B4-BE49-F238E27FC236}">
                <a16:creationId xmlns:a16="http://schemas.microsoft.com/office/drawing/2014/main" id="{B6EEF582-CA67-497D-908F-A6F32056619D}"/>
              </a:ext>
            </a:extLst>
          </p:cNvPr>
          <p:cNvSpPr>
            <a:spLocks xmlns:a="http://schemas.openxmlformats.org/drawingml/2006/main" noGrp="1"/>
          </p:cNvSpPr>
          <p:nvPr/>
        </p:nvSpPr>
        <p:spPr>
          <a:xfrm xmlns:a="http://schemas.openxmlformats.org/drawingml/2006/main">
            <a:off x="7316153" y="3943350"/>
            <a:ext cx="1277303" cy="381000"/>
          </a:xfrm>
          <a:prstGeom xmlns:a="http://schemas.openxmlformats.org/drawingml/2006/main" prst="roundRect">
            <a:avLst>
              <a:gd name="adj" fmla="val 20000"/>
            </a:avLst>
          </a:prstGeom>
          <a:solidFill xmlns:a="http://schemas.openxmlformats.org/drawingml/2006/main">
            <a:srgbClr val="F3F8F8"/>
          </a:solidFill>
          <a:ln xmlns:a="http://schemas.openxmlformats.org/drawingml/2006/main" w="9525">
            <a:solidFill>
              <a:srgbClr val="DDEBEC"/>
            </a:solidFill>
          </a:ln>
        </p:spPr>
        <p:txBody xmlns:a="http://schemas.openxmlformats.org/drawingml/2006/main">
          <a:bodyPr/>
          <a:p/>
        </p:txBody>
      </p:sp>
      <p:sp>
        <p:nvSpPr>
          <p:cNvPr id="45" name="Eye / foot / nerve">
            <a:extLst xmlns:a="http://schemas.openxmlformats.org/drawingml/2006/main">
              <a:ext uri="{FF2B5EF4-FFF2-40B4-BE49-F238E27FC236}">
                <a16:creationId xmlns:a16="http://schemas.microsoft.com/office/drawing/2014/main" id="{98562E4B-5F83-4571-B7BD-A4E65FC70904}"/>
              </a:ext>
            </a:extLst>
          </p:cNvPr>
          <p:cNvSpPr>
            <a:spLocks xmlns:a="http://schemas.openxmlformats.org/drawingml/2006/main" noGrp="1"/>
          </p:cNvSpPr>
          <p:nvPr/>
        </p:nvSpPr>
        <p:spPr>
          <a:xfrm xmlns:a="http://schemas.openxmlformats.org/drawingml/2006/main">
            <a:off x="7392353" y="3971925"/>
            <a:ext cx="1124903"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750" b="1">
                <a:solidFill>
                  <a:srgbClr val="12606F"/>
                </a:solidFill>
                <a:latin typeface="Calibri"/>
                <a:ea typeface="Calibri"/>
                <a:cs typeface="Calibri"/>
              </a:defRPr>
            </a:pPr>
            <a:r>
              <a:rPr sz="750" b="1">
                <a:solidFill>
                  <a:srgbClr val="12606F"/>
                </a:solidFill>
                <a:latin typeface="Calibri"/>
                <a:ea typeface="Calibri"/>
                <a:cs typeface="Calibri"/>
              </a:rPr>
              <a:t>Eye / foot / nerve</a:t>
            </a:r>
          </a:p>
        </p:txBody>
      </p:sp>
      <p:sp>
        <p:nvSpPr>
          <p:cNvPr id="46" name="eye exam 04 Sep">
            <a:extLst xmlns:a="http://schemas.openxmlformats.org/drawingml/2006/main">
              <a:ext uri="{FF2B5EF4-FFF2-40B4-BE49-F238E27FC236}">
                <a16:creationId xmlns:a16="http://schemas.microsoft.com/office/drawing/2014/main" id="{CE777153-2372-421C-BF94-C7CABD955B02}"/>
              </a:ext>
            </a:extLst>
          </p:cNvPr>
          <p:cNvSpPr>
            <a:spLocks xmlns:a="http://schemas.openxmlformats.org/drawingml/2006/main" noGrp="1"/>
          </p:cNvSpPr>
          <p:nvPr/>
        </p:nvSpPr>
        <p:spPr>
          <a:xfrm xmlns:a="http://schemas.openxmlformats.org/drawingml/2006/main">
            <a:off x="7392353" y="4105275"/>
            <a:ext cx="1124903"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713" b="0">
                <a:solidFill>
                  <a:srgbClr val="5B7A82"/>
                </a:solidFill>
                <a:latin typeface="Calibri"/>
                <a:ea typeface="Calibri"/>
                <a:cs typeface="Calibri"/>
              </a:defRPr>
            </a:pPr>
            <a:r>
              <a:rPr sz="713" b="0">
                <a:solidFill>
                  <a:srgbClr val="5B7A82"/>
                </a:solidFill>
                <a:latin typeface="Calibri"/>
                <a:ea typeface="Calibri"/>
                <a:cs typeface="Calibri"/>
              </a:rPr>
              <a:t>eye exam 04 Sep</a:t>
            </a:r>
          </a:p>
        </p:txBody>
      </p:sp>
      <p:sp>
        <p:nvSpPr>
          <p:cNvPr id="47" name="Dated and source-linked; absent rec">
            <a:extLst xmlns:a="http://schemas.openxmlformats.org/drawingml/2006/main">
              <a:ext uri="{FF2B5EF4-FFF2-40B4-BE49-F238E27FC236}">
                <a16:creationId xmlns:a16="http://schemas.microsoft.com/office/drawing/2014/main" id="{0C09FB65-F53A-43C0-8FAB-904777E8D8F3}"/>
              </a:ext>
            </a:extLst>
          </p:cNvPr>
          <p:cNvSpPr>
            <a:spLocks xmlns:a="http://schemas.openxmlformats.org/drawingml/2006/main" noGrp="1"/>
          </p:cNvSpPr>
          <p:nvPr/>
        </p:nvSpPr>
        <p:spPr>
          <a:xfrm xmlns:a="http://schemas.openxmlformats.org/drawingml/2006/main">
            <a:off x="548640" y="4933950"/>
            <a:ext cx="804672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825" b="0">
                <a:solidFill>
                  <a:srgbClr val="5B7A82"/>
                </a:solidFill>
                <a:latin typeface="Calibri"/>
                <a:ea typeface="Calibri"/>
                <a:cs typeface="Calibri"/>
              </a:defRPr>
            </a:pPr>
            <a:r>
              <a:rPr sz="825" b="0">
                <a:solidFill>
                  <a:srgbClr val="5B7A82"/>
                </a:solidFill>
                <a:latin typeface="Calibri"/>
                <a:ea typeface="Calibri"/>
                <a:cs typeface="Calibri"/>
              </a:rPr>
              <a:t>Dated and source-linked; absent records stay visible as gaps. Assay methods stay with the source; no cross-lab correction.</a:t>
            </a:r>
          </a:p>
        </p:txBody>
      </p:sp>
      <p:graphicFrame>
        <p:nvGraphicFramePr>
          <p:cNvPr id="88" name="Chart"/>
          <p:cNvGraphicFramePr/>
          <p:nvPr/>
        </p:nvGraphicFramePr>
        <p:xfrm>
          <a:off xmlns:a="http://schemas.openxmlformats.org/drawingml/2006/main" x="548640" y="1381125"/>
          <a:ext xmlns:a="http://schemas.openxmlformats.org/drawingml/2006/main" cx="8046720" cy="2085975"/>
        </p:xfrm>
        <a:graphic xmlns:a="http://schemas.openxmlformats.org/drawingml/2006/main">
          <a:graphicData uri="http://schemas.openxmlformats.org/drawingml/2006/chart">
            <c:chart xmlns:r="http://schemas.openxmlformats.org/officeDocument/2006/relationships" xmlns:c="http://schemas.openxmlformats.org/drawingml/2006/chart" r:id="R6be2e30b7944462e"/>
          </a:graphicData>
        </a:graphic>
      </p:graphicFrame>
      <p:sp>
        <p:nvSpPr>
          <p:cNvPr id="49" name="12 Jan&#10;8.2">
            <a:extLst xmlns:a="http://schemas.openxmlformats.org/drawingml/2006/main">
              <a:ext uri="{FF2B5EF4-FFF2-40B4-BE49-F238E27FC236}">
                <a16:creationId xmlns:a16="http://schemas.microsoft.com/office/drawing/2014/main" id="{FF6B1645-8023-4561-84E7-87CDF4F7A304}"/>
              </a:ext>
            </a:extLst>
          </p:cNvPr>
          <p:cNvSpPr>
            <a:spLocks xmlns:a="http://schemas.openxmlformats.org/drawingml/2006/main" noGrp="1"/>
          </p:cNvSpPr>
          <p:nvPr/>
        </p:nvSpPr>
        <p:spPr>
          <a:xfrm xmlns:a="http://schemas.openxmlformats.org/drawingml/2006/main">
            <a:off x="1184910" y="1773555"/>
            <a:ext cx="533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863" b="1">
                <a:solidFill>
                  <a:srgbClr val="16323A"/>
                </a:solidFill>
                <a:latin typeface="Calibri"/>
                <a:ea typeface="Calibri"/>
                <a:cs typeface="Calibri"/>
              </a:defRPr>
            </a:pPr>
            <a:r>
              <a:rPr sz="863" b="1">
                <a:solidFill>
                  <a:srgbClr val="16323A"/>
                </a:solidFill>
                <a:latin typeface="Calibri"/>
                <a:ea typeface="Calibri"/>
                <a:cs typeface="Calibri"/>
              </a:rPr>
              <a:t>12 Jan</a:t>
            </a:r>
          </a:p>
          <a:p xmlns:a="http://schemas.openxmlformats.org/drawingml/2006/main">
            <a:pPr algn="ctr">
              <a:defRPr sz="863" b="1">
                <a:solidFill>
                  <a:srgbClr val="16323A"/>
                </a:solidFill>
                <a:latin typeface="Calibri"/>
                <a:ea typeface="Calibri"/>
                <a:cs typeface="Calibri"/>
              </a:defRPr>
            </a:pPr>
            <a:r>
              <a:rPr sz="863" b="1">
                <a:solidFill>
                  <a:srgbClr val="16323A"/>
                </a:solidFill>
                <a:latin typeface="Calibri"/>
                <a:ea typeface="Calibri"/>
                <a:cs typeface="Calibri"/>
              </a:rPr>
              <a:t>8.2</a:t>
            </a:r>
          </a:p>
        </p:txBody>
      </p:sp>
      <p:sp>
        <p:nvSpPr>
          <p:cNvPr id="50" name="10 Apr&#10;7.9">
            <a:extLst xmlns:a="http://schemas.openxmlformats.org/drawingml/2006/main">
              <a:ext uri="{FF2B5EF4-FFF2-40B4-BE49-F238E27FC236}">
                <a16:creationId xmlns:a16="http://schemas.microsoft.com/office/drawing/2014/main" id="{A3BFCFEF-B34C-421D-863E-2824E9E8EA4F}"/>
              </a:ext>
            </a:extLst>
          </p:cNvPr>
          <p:cNvSpPr>
            <a:spLocks xmlns:a="http://schemas.openxmlformats.org/drawingml/2006/main" noGrp="1"/>
          </p:cNvSpPr>
          <p:nvPr/>
        </p:nvSpPr>
        <p:spPr>
          <a:xfrm xmlns:a="http://schemas.openxmlformats.org/drawingml/2006/main">
            <a:off x="3631883" y="1884998"/>
            <a:ext cx="533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863" b="1">
                <a:solidFill>
                  <a:srgbClr val="16323A"/>
                </a:solidFill>
                <a:latin typeface="Calibri"/>
                <a:ea typeface="Calibri"/>
                <a:cs typeface="Calibri"/>
              </a:defRPr>
            </a:pPr>
            <a:r>
              <a:rPr sz="863" b="1">
                <a:solidFill>
                  <a:srgbClr val="16323A"/>
                </a:solidFill>
                <a:latin typeface="Calibri"/>
                <a:ea typeface="Calibri"/>
                <a:cs typeface="Calibri"/>
              </a:rPr>
              <a:t>10 Apr</a:t>
            </a:r>
          </a:p>
          <a:p xmlns:a="http://schemas.openxmlformats.org/drawingml/2006/main">
            <a:pPr algn="ctr">
              <a:defRPr sz="863" b="1">
                <a:solidFill>
                  <a:srgbClr val="16323A"/>
                </a:solidFill>
                <a:latin typeface="Calibri"/>
                <a:ea typeface="Calibri"/>
                <a:cs typeface="Calibri"/>
              </a:defRPr>
            </a:pPr>
            <a:r>
              <a:rPr sz="863" b="1">
                <a:solidFill>
                  <a:srgbClr val="16323A"/>
                </a:solidFill>
                <a:latin typeface="Calibri"/>
                <a:ea typeface="Calibri"/>
                <a:cs typeface="Calibri"/>
              </a:rPr>
              <a:t>7.9</a:t>
            </a:r>
          </a:p>
        </p:txBody>
      </p:sp>
      <p:sp>
        <p:nvSpPr>
          <p:cNvPr id="51" name="09 Jul&#10;7.5">
            <a:extLst xmlns:a="http://schemas.openxmlformats.org/drawingml/2006/main">
              <a:ext uri="{FF2B5EF4-FFF2-40B4-BE49-F238E27FC236}">
                <a16:creationId xmlns:a16="http://schemas.microsoft.com/office/drawing/2014/main" id="{55D13EA8-C28F-4DF4-A518-F0C1E049360B}"/>
              </a:ext>
            </a:extLst>
          </p:cNvPr>
          <p:cNvSpPr>
            <a:spLocks xmlns:a="http://schemas.openxmlformats.org/drawingml/2006/main" noGrp="1"/>
          </p:cNvSpPr>
          <p:nvPr/>
        </p:nvSpPr>
        <p:spPr>
          <a:xfrm xmlns:a="http://schemas.openxmlformats.org/drawingml/2006/main">
            <a:off x="6136005" y="2033588"/>
            <a:ext cx="533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863" b="1">
                <a:solidFill>
                  <a:srgbClr val="16323A"/>
                </a:solidFill>
                <a:latin typeface="Calibri"/>
                <a:ea typeface="Calibri"/>
                <a:cs typeface="Calibri"/>
              </a:defRPr>
            </a:pPr>
            <a:r>
              <a:rPr sz="863" b="1">
                <a:solidFill>
                  <a:srgbClr val="16323A"/>
                </a:solidFill>
                <a:latin typeface="Calibri"/>
                <a:ea typeface="Calibri"/>
                <a:cs typeface="Calibri"/>
              </a:rPr>
              <a:t>09 Jul</a:t>
            </a:r>
          </a:p>
          <a:p xmlns:a="http://schemas.openxmlformats.org/drawingml/2006/main">
            <a:pPr algn="ctr">
              <a:defRPr sz="863" b="1">
                <a:solidFill>
                  <a:srgbClr val="16323A"/>
                </a:solidFill>
                <a:latin typeface="Calibri"/>
                <a:ea typeface="Calibri"/>
                <a:cs typeface="Calibri"/>
              </a:defRPr>
            </a:pPr>
            <a:r>
              <a:rPr sz="863" b="1">
                <a:solidFill>
                  <a:srgbClr val="16323A"/>
                </a:solidFill>
                <a:latin typeface="Calibri"/>
                <a:ea typeface="Calibri"/>
                <a:cs typeface="Calibri"/>
              </a:rPr>
              <a:t>7.5</a:t>
            </a:r>
          </a:p>
        </p:txBody>
      </p:sp>
      <p:sp>
        <p:nvSpPr>
          <p:cNvPr id="52" name="14 Sep&#10;7.8">
            <a:extLst xmlns:a="http://schemas.openxmlformats.org/drawingml/2006/main">
              <a:ext uri="{FF2B5EF4-FFF2-40B4-BE49-F238E27FC236}">
                <a16:creationId xmlns:a16="http://schemas.microsoft.com/office/drawing/2014/main" id="{4B4FD856-1341-4665-BE96-8DEB1829FBDA}"/>
              </a:ext>
            </a:extLst>
          </p:cNvPr>
          <p:cNvSpPr>
            <a:spLocks xmlns:a="http://schemas.openxmlformats.org/drawingml/2006/main" noGrp="1"/>
          </p:cNvSpPr>
          <p:nvPr/>
        </p:nvSpPr>
        <p:spPr>
          <a:xfrm xmlns:a="http://schemas.openxmlformats.org/drawingml/2006/main">
            <a:off x="7968615" y="1922145"/>
            <a:ext cx="533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863" b="1">
                <a:solidFill>
                  <a:srgbClr val="16323A"/>
                </a:solidFill>
                <a:latin typeface="Calibri"/>
                <a:ea typeface="Calibri"/>
                <a:cs typeface="Calibri"/>
              </a:defRPr>
            </a:pPr>
            <a:r>
              <a:rPr sz="863" b="1">
                <a:solidFill>
                  <a:srgbClr val="16323A"/>
                </a:solidFill>
                <a:latin typeface="Calibri"/>
                <a:ea typeface="Calibri"/>
                <a:cs typeface="Calibri"/>
              </a:rPr>
              <a:t>14 Sep</a:t>
            </a:r>
          </a:p>
          <a:p xmlns:a="http://schemas.openxmlformats.org/drawingml/2006/main">
            <a:pPr algn="ctr">
              <a:defRPr sz="863" b="1">
                <a:solidFill>
                  <a:srgbClr val="16323A"/>
                </a:solidFill>
                <a:latin typeface="Calibri"/>
                <a:ea typeface="Calibri"/>
                <a:cs typeface="Calibri"/>
              </a:defRPr>
            </a:pPr>
            <a:r>
              <a:rPr sz="863" b="1">
                <a:solidFill>
                  <a:srgbClr val="16323A"/>
                </a:solidFill>
                <a:latin typeface="Calibri"/>
                <a:ea typeface="Calibri"/>
                <a:cs typeface="Calibri"/>
              </a:rPr>
              <a:t>7.8</a:t>
            </a:r>
          </a:p>
        </p:txBody>
      </p:sp>
      <p:sp>
        <p:nvSpPr>
          <p:cNvPr id="53" name="Other dated source records, listed ">
            <a:extLst xmlns:a="http://schemas.openxmlformats.org/drawingml/2006/main">
              <a:ext uri="{FF2B5EF4-FFF2-40B4-BE49-F238E27FC236}">
                <a16:creationId xmlns:a16="http://schemas.microsoft.com/office/drawing/2014/main" id="{8A439302-7D24-41B6-93BD-E69972BA12E9}"/>
              </a:ext>
            </a:extLst>
          </p:cNvPr>
          <p:cNvSpPr>
            <a:spLocks xmlns:a="http://schemas.openxmlformats.org/drawingml/2006/main" noGrp="1"/>
          </p:cNvSpPr>
          <p:nvPr/>
        </p:nvSpPr>
        <p:spPr>
          <a:xfrm xmlns:a="http://schemas.openxmlformats.org/drawingml/2006/main">
            <a:off x="548640" y="3352800"/>
            <a:ext cx="804672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825" b="0">
                <a:solidFill>
                  <a:srgbClr val="5B7A82"/>
                </a:solidFill>
                <a:latin typeface="Calibri"/>
                <a:ea typeface="Calibri"/>
                <a:cs typeface="Calibri"/>
              </a:defRPr>
            </a:pPr>
            <a:r>
              <a:rPr sz="825" b="0">
                <a:solidFill>
                  <a:srgbClr val="5B7A82"/>
                </a:solidFill>
                <a:latin typeface="Calibri"/>
                <a:ea typeface="Calibri"/>
                <a:cs typeface="Calibri"/>
              </a:rPr>
              <a:t>Other dated source records, listed chronologically</a:t>
            </a:r>
          </a:p>
        </p:txBody>
      </p:sp>
    </p:spTree>
    <p:extLst>
      <p:ext uri="{BB962C8B-B14F-4D97-AF65-F5344CB8AC3E}">
        <p14:creationId xmlns:p14="http://schemas.microsoft.com/office/powerpoint/2010/main" val="213144493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1E12422-D8A6-434B-93EF-EDB27A5C5C07}"/>
              </a:ext>
            </a:extLst>
          </p:cNvPr>
          <p:cNvSpPr>
            <a:spLocks xmlns:a="http://schemas.openxmlformats.org/drawingml/2006/main" noGrp="1"/>
          </p:cNvSpPr>
          <p:nvPr/>
        </p:nvSpPr>
        <p:spPr>
          <a:xfrm xmlns:a="http://schemas.openxmlformats.org/drawingml/2006/main">
            <a:off x="548640" y="320040"/>
            <a:ext cx="804672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16323A"/>
                </a:solidFill>
                <a:latin typeface="Cambria"/>
                <a:ea typeface="Cambria"/>
                <a:cs typeface="Cambria"/>
              </a:rPr>
              <a:t>One fact, checked at its source</a:t>
            </a:r>
            <a:endParaRPr sz="3000"/>
          </a:p>
        </p:txBody>
      </p:sp>
      <p:sp>
        <p:nvSpPr>
          <p:cNvPr id="3" name="Text 1">
            <a:extLst xmlns:a="http://schemas.openxmlformats.org/drawingml/2006/main">
              <a:ext uri="{FF2B5EF4-FFF2-40B4-BE49-F238E27FC236}">
                <a16:creationId xmlns:a16="http://schemas.microsoft.com/office/drawing/2014/main" id="{2A2D8AB9-3EA6-406E-99ED-C609D00B113E}"/>
              </a:ext>
            </a:extLst>
          </p:cNvPr>
          <p:cNvSpPr>
            <a:spLocks xmlns:a="http://schemas.openxmlformats.org/drawingml/2006/main" noGrp="1"/>
          </p:cNvSpPr>
          <p:nvPr/>
        </p:nvSpPr>
        <p:spPr>
          <a:xfrm xmlns:a="http://schemas.openxmlformats.org/drawingml/2006/main">
            <a:off x="548640" y="868680"/>
            <a:ext cx="8046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12606F"/>
                </a:solidFill>
                <a:latin typeface="Calibri"/>
                <a:ea typeface="Calibri"/>
                <a:cs typeface="Calibri"/>
              </a:rPr>
              <a:t>Implemented extraction and staff review. Synthetic report; deterministic fixture engine, not a live model.</a:t>
            </a:r>
            <a:endParaRPr sz="1500"/>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8988abfb4c104a26"/>
          <a:stretch xmlns:a="http://schemas.openxmlformats.org/drawingml/2006/main"/>
        </p:blipFill>
        <p:spPr>
          <a:xfrm xmlns:a="http://schemas.openxmlformats.org/drawingml/2006/main">
            <a:off x="722566" y="1590675"/>
            <a:ext cx="7698869" cy="2962275"/>
          </a:xfrm>
          <a:prstGeom xmlns:a="http://schemas.openxmlformats.org/drawingml/2006/main" prst="rect">
            <a:avLst/>
          </a:prstGeom>
        </p:spPr>
      </p:pic>
      <p:sp>
        <p:nvSpPr>
          <p:cNvPr id="5" name="After staff approval, HbA1c 7.8% jo">
            <a:extLst xmlns:a="http://schemas.openxmlformats.org/drawingml/2006/main">
              <a:ext uri="{FF2B5EF4-FFF2-40B4-BE49-F238E27FC236}">
                <a16:creationId xmlns:a16="http://schemas.microsoft.com/office/drawing/2014/main" id="{2BCE6EDB-47C2-4CBD-9CDD-BDDB2F963624}"/>
              </a:ext>
            </a:extLst>
          </p:cNvPr>
          <p:cNvSpPr>
            <a:spLocks xmlns:a="http://schemas.openxmlformats.org/drawingml/2006/main" noGrp="1"/>
          </p:cNvSpPr>
          <p:nvPr/>
        </p:nvSpPr>
        <p:spPr>
          <a:xfrm xmlns:a="http://schemas.openxmlformats.org/drawingml/2006/main">
            <a:off x="548640" y="4667250"/>
            <a:ext cx="80467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B7A82"/>
                </a:solidFill>
                <a:latin typeface="Calibri"/>
                <a:ea typeface="Calibri"/>
                <a:cs typeface="Calibri"/>
              </a:defRPr>
            </a:pPr>
            <a:r>
              <a:rPr sz="1050" b="0">
                <a:solidFill>
                  <a:srgbClr val="5B7A82"/>
                </a:solidFill>
                <a:latin typeface="Calibri"/>
                <a:ea typeface="Calibri"/>
                <a:cs typeface="Calibri"/>
              </a:rPr>
              <a:t>The example catches a wrong unit. Staff approve the correction before the fact joins the history.</a:t>
            </a:r>
          </a:p>
        </p:txBody>
      </p:sp>
      <p:sp>
        <p:nvSpPr>
          <p:cNvPr id="6" name="Proposed stack: React / TypeScript ">
            <a:extLst xmlns:a="http://schemas.openxmlformats.org/drawingml/2006/main">
              <a:ext uri="{FF2B5EF4-FFF2-40B4-BE49-F238E27FC236}">
                <a16:creationId xmlns:a16="http://schemas.microsoft.com/office/drawing/2014/main" id="{FA77100A-EDA2-4F1B-B98C-AF220E052CD2}"/>
              </a:ext>
            </a:extLst>
          </p:cNvPr>
          <p:cNvSpPr>
            <a:spLocks xmlns:a="http://schemas.openxmlformats.org/drawingml/2006/main" noGrp="1"/>
          </p:cNvSpPr>
          <p:nvPr/>
        </p:nvSpPr>
        <p:spPr>
          <a:xfrm xmlns:a="http://schemas.openxmlformats.org/drawingml/2006/main">
            <a:off x="548640" y="4933950"/>
            <a:ext cx="804672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825" b="0">
                <a:solidFill>
                  <a:srgbClr val="5B7A82"/>
                </a:solidFill>
                <a:latin typeface="Calibri"/>
                <a:ea typeface="Calibri"/>
                <a:cs typeface="Calibri"/>
              </a:defRPr>
            </a:pPr>
            <a:r>
              <a:rPr sz="825" b="0">
                <a:solidFill>
                  <a:srgbClr val="5B7A82"/>
                </a:solidFill>
                <a:latin typeface="Calibri"/>
                <a:ea typeface="Calibri"/>
                <a:cs typeface="Calibri"/>
              </a:rPr>
              <a:t>Built: Vite / React, Capacitor Android, Fastify API + worker, PostgreSQL. Running locally; hosted deployment is configured but not yet exercised.</a:t>
            </a:r>
          </a:p>
        </p:txBody>
      </p:sp>
      <p:sp>
        <p:nvSpPr>
          <p:cNvPr id="7" name="OCR reads the report. AI maps varie">
            <a:extLst xmlns:a="http://schemas.openxmlformats.org/drawingml/2006/main">
              <a:ext uri="{FF2B5EF4-FFF2-40B4-BE49-F238E27FC236}">
                <a16:creationId xmlns:a16="http://schemas.microsoft.com/office/drawing/2014/main" id="{33746961-BF6B-4CC2-9FD6-6D4F42B61DD1}"/>
              </a:ext>
            </a:extLst>
          </p:cNvPr>
          <p:cNvSpPr>
            <a:spLocks xmlns:a="http://schemas.openxmlformats.org/drawingml/2006/main" noGrp="1"/>
          </p:cNvSpPr>
          <p:nvPr/>
        </p:nvSpPr>
        <p:spPr>
          <a:xfrm xmlns:a="http://schemas.openxmlformats.org/drawingml/2006/main">
            <a:off x="548640" y="1343025"/>
            <a:ext cx="80467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12606F"/>
                </a:solidFill>
                <a:latin typeface="Calibri"/>
                <a:ea typeface="Calibri"/>
                <a:cs typeface="Calibri"/>
              </a:defRPr>
            </a:pPr>
            <a:r>
              <a:rPr sz="1050" b="0">
                <a:solidFill>
                  <a:srgbClr val="12606F"/>
                </a:solidFill>
                <a:latin typeface="Calibri"/>
                <a:ea typeface="Calibri"/>
                <a:cs typeface="Calibri"/>
              </a:rPr>
              <a:t>OCR reads the report. AI maps varied layouts and prescription wording into dated fields with source evidence.</a:t>
            </a:r>
          </a:p>
        </p:txBody>
      </p:sp>
    </p:spTree>
    <p:extLst>
      <p:ext uri="{BB962C8B-B14F-4D97-AF65-F5344CB8AC3E}">
        <p14:creationId xmlns:p14="http://schemas.microsoft.com/office/powerpoint/2010/main" val="1134872917"/>
      </p:ext>
    </p:extLst>
  </p:cSld>
</p:sld>
</file>

<file path=ppt/slides/slide5.xml><?xml version="1.0" encoding="utf-8"?>
<p:sld xmlns:p="http://schemas.openxmlformats.org/presentationml/2006/main">
  <p:cSld>
    <p:bg>
      <p:bgPr>
        <a:solidFill xmlns:a="http://schemas.openxmlformats.org/drawingml/2006/main">
          <a:srgbClr val="EAF4F4"/>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9E3216C-B93F-441B-A167-4DBCF37A1BA6}"/>
              </a:ext>
            </a:extLst>
          </p:cNvPr>
          <p:cNvSpPr>
            <a:spLocks xmlns:a="http://schemas.openxmlformats.org/drawingml/2006/main" noGrp="1"/>
          </p:cNvSpPr>
          <p:nvPr/>
        </p:nvSpPr>
        <p:spPr>
          <a:xfrm xmlns:a="http://schemas.openxmlformats.org/drawingml/2006/main">
            <a:off x="548640" y="320040"/>
            <a:ext cx="804672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3000"/>
            </a:pPr>
            <a:r>
              <a:rPr sz="3000" b="1">
                <a:solidFill>
                  <a:srgbClr val="16323A"/>
                </a:solidFill>
                <a:latin typeface="Cambria"/>
                <a:ea typeface="Cambria"/>
                <a:cs typeface="Cambria"/>
              </a:rPr>
              <a:t>The return visit: review the change</a:t>
            </a:r>
            <a:endParaRPr sz="3000"/>
          </a:p>
        </p:txBody>
      </p:sp>
      <p:sp>
        <p:nvSpPr>
          <p:cNvPr id="3" name="Text 1">
            <a:extLst xmlns:a="http://schemas.openxmlformats.org/drawingml/2006/main">
              <a:ext uri="{FF2B5EF4-FFF2-40B4-BE49-F238E27FC236}">
                <a16:creationId xmlns:a16="http://schemas.microsoft.com/office/drawing/2014/main" id="{8FB0071B-A107-4D72-9A77-8C754D11EFE1}"/>
              </a:ext>
            </a:extLst>
          </p:cNvPr>
          <p:cNvSpPr>
            <a:spLocks xmlns:a="http://schemas.openxmlformats.org/drawingml/2006/main" noGrp="1"/>
          </p:cNvSpPr>
          <p:nvPr/>
        </p:nvSpPr>
        <p:spPr>
          <a:xfrm xmlns:a="http://schemas.openxmlformats.org/drawingml/2006/main">
            <a:off x="548640" y="868680"/>
            <a:ext cx="8046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1500"/>
            </a:pPr>
            <a:r>
              <a:rPr sz="1500" b="1">
                <a:solidFill>
                  <a:srgbClr val="12606F"/>
                </a:solidFill>
                <a:latin typeface="Calibri"/>
                <a:ea typeface="Calibri"/>
                <a:cs typeface="Calibri"/>
              </a:rPr>
              <a:t>Verified on web and on an Android emulator: approved facts stay available while the new report is reviewed</a:t>
            </a:r>
            <a:endParaRPr sz="1500"/>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c3c6549f3649440a"/>
          <a:stretch xmlns:a="http://schemas.openxmlformats.org/drawingml/2006/main"/>
        </p:blipFill>
        <p:spPr>
          <a:xfrm xmlns:a="http://schemas.openxmlformats.org/drawingml/2006/main">
            <a:off x="549279" y="1390650"/>
            <a:ext cx="8045442" cy="3095625"/>
          </a:xfrm>
          <a:prstGeom xmlns:a="http://schemas.openxmlformats.org/drawingml/2006/main" prst="rect">
            <a:avLst/>
          </a:prstGeom>
        </p:spPr>
      </p:pic>
      <p:sp>
        <p:nvSpPr>
          <p:cNvPr id="5" name="Initial intake checks every importe">
            <a:extLst xmlns:a="http://schemas.openxmlformats.org/drawingml/2006/main">
              <a:ext uri="{FF2B5EF4-FFF2-40B4-BE49-F238E27FC236}">
                <a16:creationId xmlns:a16="http://schemas.microsoft.com/office/drawing/2014/main" id="{2BD4C1BD-3DD4-46F9-912A-B7DBEEF424E6}"/>
              </a:ext>
            </a:extLst>
          </p:cNvPr>
          <p:cNvSpPr>
            <a:spLocks xmlns:a="http://schemas.openxmlformats.org/drawingml/2006/main" noGrp="1"/>
          </p:cNvSpPr>
          <p:nvPr/>
        </p:nvSpPr>
        <p:spPr>
          <a:xfrm xmlns:a="http://schemas.openxmlformats.org/drawingml/2006/main">
            <a:off x="548640" y="4657725"/>
            <a:ext cx="804672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5B7A82"/>
                </a:solidFill>
                <a:latin typeface="Calibri"/>
                <a:ea typeface="Calibri"/>
                <a:cs typeface="Calibri"/>
              </a:defRPr>
            </a:pPr>
            <a:r>
              <a:rPr sz="1050" b="0">
                <a:solidFill>
                  <a:srgbClr val="5B7A82"/>
                </a:solidFill>
                <a:latin typeface="Calibri"/>
                <a:ea typeface="Calibri"/>
                <a:cs typeface="Calibri"/>
              </a:rPr>
              <a:t>First intake checks all imported facts. A return visit checks the new report and amendments. Previous approvals stay available.</a:t>
            </a:r>
          </a:p>
        </p:txBody>
      </p:sp>
    </p:spTree>
    <p:extLst>
      <p:ext uri="{BB962C8B-B14F-4D97-AF65-F5344CB8AC3E}">
        <p14:creationId xmlns:p14="http://schemas.microsoft.com/office/powerpoint/2010/main" val="2082711862"/>
      </p:ext>
    </p:extLst>
  </p:cSld>
</p:sld>
</file>

<file path=ppt/slides/slide6.xml><?xml version="1.0" encoding="utf-8"?>
<p:sld xmlns:p="http://schemas.openxmlformats.org/presentationml/2006/main">
  <p:cSld>
    <p:bg>
      <p:bgPr>
        <a:solidFill xmlns:a="http://schemas.openxmlformats.org/drawingml/2006/main">
          <a:srgbClr val="EAF4F4"/>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9E3216C-B93F-441B-A167-4DBCF37A1BA6}"/>
              </a:ext>
            </a:extLst>
          </p:cNvPr>
          <p:cNvSpPr>
            <a:spLocks xmlns:a="http://schemas.openxmlformats.org/drawingml/2006/main" noGrp="1"/>
          </p:cNvSpPr>
          <p:nvPr/>
        </p:nvSpPr>
        <p:spPr>
          <a:xfrm xmlns:a="http://schemas.openxmlformats.org/drawingml/2006/main">
            <a:off x="548640" y="320040"/>
            <a:ext cx="804672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16323A"/>
                </a:solidFill>
                <a:latin typeface="Cambria"/>
                <a:ea typeface="Cambria"/>
                <a:cs typeface="Cambria"/>
              </a:rPr>
              <a:t>The application workflow, as built</a:t>
            </a:r>
            <a:endParaRPr sz="3000"/>
          </a:p>
        </p:txBody>
      </p:sp>
      <p:sp>
        <p:nvSpPr>
          <p:cNvPr id="3" name="Text 1">
            <a:extLst xmlns:a="http://schemas.openxmlformats.org/drawingml/2006/main">
              <a:ext uri="{FF2B5EF4-FFF2-40B4-BE49-F238E27FC236}">
                <a16:creationId xmlns:a16="http://schemas.microsoft.com/office/drawing/2014/main" id="{8FB0071B-A107-4D72-9A77-8C754D11EFE1}"/>
              </a:ext>
            </a:extLst>
          </p:cNvPr>
          <p:cNvSpPr>
            <a:spLocks xmlns:a="http://schemas.openxmlformats.org/drawingml/2006/main" noGrp="1"/>
          </p:cNvSpPr>
          <p:nvPr/>
        </p:nvSpPr>
        <p:spPr>
          <a:xfrm xmlns:a="http://schemas.openxmlformats.org/drawingml/2006/main">
            <a:off x="548640" y="868680"/>
            <a:ext cx="8046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12606F"/>
                </a:solidFill>
                <a:latin typeface="Calibri"/>
                <a:ea typeface="Calibri"/>
                <a:cs typeface="Calibri"/>
              </a:rPr>
              <a:t>Architecture as built. Staff approve facts before they enter the visit view.</a:t>
            </a:r>
            <a:endParaRPr sz="1500"/>
          </a:p>
        </p:txBody>
      </p:sp>
      <p:sp>
        <p:nvSpPr>
          <p:cNvPr id="21" name="Integration reference: NHA ABDM M1 ">
            <a:extLst xmlns:a="http://schemas.openxmlformats.org/drawingml/2006/main">
              <a:ext uri="{FF2B5EF4-FFF2-40B4-BE49-F238E27FC236}">
                <a16:creationId xmlns:a16="http://schemas.microsoft.com/office/drawing/2014/main" id="{141AF11A-6322-4AB0-B0A4-B65AFDD802E1}"/>
              </a:ext>
            </a:extLst>
          </p:cNvPr>
          <p:cNvSpPr>
            <a:spLocks xmlns:a="http://schemas.openxmlformats.org/drawingml/2006/main" noGrp="1"/>
          </p:cNvSpPr>
          <p:nvPr/>
        </p:nvSpPr>
        <p:spPr>
          <a:xfrm xmlns:a="http://schemas.openxmlformats.org/drawingml/2006/main">
            <a:off x="548640" y="4933950"/>
            <a:ext cx="804672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825" b="0">
                <a:solidFill>
                  <a:srgbClr val="5B7A82"/>
                </a:solidFill>
                <a:latin typeface="Calibri"/>
                <a:ea typeface="Calibri"/>
                <a:cs typeface="Calibri"/>
              </a:defRPr>
            </a:pPr>
            <a:r>
              <a:rPr sz="825" b="0">
                <a:solidFill>
                  <a:srgbClr val="5B7A82"/>
                </a:solidFill>
                <a:latin typeface="Calibri"/>
                <a:ea typeface="Calibri"/>
                <a:cs typeface="Calibri"/>
              </a:rPr>
              <a:t>Implemented locally. NHA ABDM M1 / M3 documentation; NRCeS FHIR R4. No live integration claimed.</a:t>
            </a:r>
          </a:p>
        </p:txBody>
      </p:sp>
      <p:sp>
        <p:nvSpPr>
          <p:cNvPr id="22" name="Architecture stage">
            <a:extLst xmlns:a="http://schemas.openxmlformats.org/drawingml/2006/main">
              <a:ext uri="{FF2B5EF4-FFF2-40B4-BE49-F238E27FC236}">
                <a16:creationId xmlns:a16="http://schemas.microsoft.com/office/drawing/2014/main" id="{DE1CA240-D9C3-4E96-B863-D7A22B82EFA2}"/>
              </a:ext>
            </a:extLst>
          </p:cNvPr>
          <p:cNvSpPr>
            <a:spLocks xmlns:a="http://schemas.openxmlformats.org/drawingml/2006/main" noGrp="1"/>
          </p:cNvSpPr>
          <p:nvPr/>
        </p:nvSpPr>
        <p:spPr>
          <a:xfrm xmlns:a="http://schemas.openxmlformats.org/drawingml/2006/main">
            <a:off x="548640" y="1571625"/>
            <a:ext cx="1874520" cy="1476375"/>
          </a:xfrm>
          <a:prstGeom xmlns:a="http://schemas.openxmlformats.org/drawingml/2006/main" prst="roundRect">
            <a:avLst>
              <a:gd name="adj" fmla="val 5161"/>
            </a:avLst>
          </a:prstGeom>
          <a:solidFill xmlns:a="http://schemas.openxmlformats.org/drawingml/2006/main">
            <a:srgbClr val="FFFFFF"/>
          </a:solidFill>
          <a:ln xmlns:a="http://schemas.openxmlformats.org/drawingml/2006/main" w="9525">
            <a:solidFill>
              <a:srgbClr val="DDEBEC"/>
            </a:solidFill>
          </a:ln>
        </p:spPr>
        <p:txBody xmlns:a="http://schemas.openxmlformats.org/drawingml/2006/main">
          <a:bodyPr/>
          <a:p/>
        </p:txBody>
      </p:sp>
      <p:sp>
        <p:nvSpPr>
          <p:cNvPr id="23" name="01">
            <a:extLst xmlns:a="http://schemas.openxmlformats.org/drawingml/2006/main">
              <a:ext uri="{FF2B5EF4-FFF2-40B4-BE49-F238E27FC236}">
                <a16:creationId xmlns:a16="http://schemas.microsoft.com/office/drawing/2014/main" id="{910CDB43-D70C-4C3E-B864-11E25935E58E}"/>
              </a:ext>
            </a:extLst>
          </p:cNvPr>
          <p:cNvSpPr>
            <a:spLocks xmlns:a="http://schemas.openxmlformats.org/drawingml/2006/main" noGrp="1"/>
          </p:cNvSpPr>
          <p:nvPr/>
        </p:nvSpPr>
        <p:spPr>
          <a:xfrm xmlns:a="http://schemas.openxmlformats.org/drawingml/2006/main">
            <a:off x="701040" y="1714500"/>
            <a:ext cx="156972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12606F"/>
                </a:solidFill>
                <a:latin typeface="Calibri"/>
                <a:ea typeface="Calibri"/>
                <a:cs typeface="Calibri"/>
              </a:defRPr>
            </a:pPr>
            <a:r>
              <a:rPr sz="1050" b="1">
                <a:solidFill>
                  <a:srgbClr val="12606F"/>
                </a:solidFill>
                <a:latin typeface="Calibri"/>
                <a:ea typeface="Calibri"/>
                <a:cs typeface="Calibri"/>
              </a:rPr>
              <a:t>01</a:t>
            </a:r>
          </a:p>
        </p:txBody>
      </p:sp>
      <p:sp>
        <p:nvSpPr>
          <p:cNvPr id="24" name="Read records">
            <a:extLst xmlns:a="http://schemas.openxmlformats.org/drawingml/2006/main">
              <a:ext uri="{FF2B5EF4-FFF2-40B4-BE49-F238E27FC236}">
                <a16:creationId xmlns:a16="http://schemas.microsoft.com/office/drawing/2014/main" id="{2FDEF3F8-0EC6-4D0F-8923-D5DEB9D368CF}"/>
              </a:ext>
            </a:extLst>
          </p:cNvPr>
          <p:cNvSpPr>
            <a:spLocks xmlns:a="http://schemas.openxmlformats.org/drawingml/2006/main" noGrp="1"/>
          </p:cNvSpPr>
          <p:nvPr/>
        </p:nvSpPr>
        <p:spPr>
          <a:xfrm xmlns:a="http://schemas.openxmlformats.org/drawingml/2006/main">
            <a:off x="701040" y="2009775"/>
            <a:ext cx="156972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16323A"/>
                </a:solidFill>
                <a:latin typeface="Calibri"/>
                <a:ea typeface="Calibri"/>
                <a:cs typeface="Calibri"/>
              </a:defRPr>
            </a:pPr>
            <a:r>
              <a:rPr sz="1350" b="1">
                <a:solidFill>
                  <a:srgbClr val="16323A"/>
                </a:solidFill>
                <a:latin typeface="Calibri"/>
                <a:ea typeface="Calibri"/>
                <a:cs typeface="Calibri"/>
              </a:rPr>
              <a:t>Read records</a:t>
            </a:r>
          </a:p>
        </p:txBody>
      </p:sp>
      <p:sp>
        <p:nvSpPr>
          <p:cNvPr id="25" name="PDF scans use OCR. Structured FHIR ">
            <a:extLst xmlns:a="http://schemas.openxmlformats.org/drawingml/2006/main">
              <a:ext uri="{FF2B5EF4-FFF2-40B4-BE49-F238E27FC236}">
                <a16:creationId xmlns:a16="http://schemas.microsoft.com/office/drawing/2014/main" id="{D2FE03C2-3981-43A6-B715-1774B1F22E12}"/>
              </a:ext>
            </a:extLst>
          </p:cNvPr>
          <p:cNvSpPr>
            <a:spLocks xmlns:a="http://schemas.openxmlformats.org/drawingml/2006/main" noGrp="1"/>
          </p:cNvSpPr>
          <p:nvPr/>
        </p:nvSpPr>
        <p:spPr>
          <a:xfrm xmlns:a="http://schemas.openxmlformats.org/drawingml/2006/main">
            <a:off x="701040" y="2371725"/>
            <a:ext cx="156972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16323A"/>
                </a:solidFill>
                <a:latin typeface="Calibri"/>
                <a:ea typeface="Calibri"/>
                <a:cs typeface="Calibri"/>
              </a:defRPr>
            </a:pPr>
            <a:r>
              <a:rPr sz="1050" b="0">
                <a:solidFill>
                  <a:srgbClr val="16323A"/>
                </a:solidFill>
                <a:latin typeface="Calibri"/>
                <a:ea typeface="Calibri"/>
                <a:cs typeface="Calibri"/>
              </a:rPr>
              <a:t>Upload PDFs or scans. Read digital text directly and use OCR for image pages.</a:t>
            </a:r>
          </a:p>
        </p:txBody>
      </p:sp>
      <p:sp>
        <p:nvSpPr>
          <p:cNvPr id="26" name="Architecture stage">
            <a:extLst xmlns:a="http://schemas.openxmlformats.org/drawingml/2006/main">
              <a:ext uri="{FF2B5EF4-FFF2-40B4-BE49-F238E27FC236}">
                <a16:creationId xmlns:a16="http://schemas.microsoft.com/office/drawing/2014/main" id="{B232C057-8BE0-4D93-B693-A8BF4E840BDF}"/>
              </a:ext>
            </a:extLst>
          </p:cNvPr>
          <p:cNvSpPr>
            <a:spLocks xmlns:a="http://schemas.openxmlformats.org/drawingml/2006/main" noGrp="1"/>
          </p:cNvSpPr>
          <p:nvPr/>
        </p:nvSpPr>
        <p:spPr>
          <a:xfrm xmlns:a="http://schemas.openxmlformats.org/drawingml/2006/main">
            <a:off x="2606040" y="1571625"/>
            <a:ext cx="1874520" cy="1476375"/>
          </a:xfrm>
          <a:prstGeom xmlns:a="http://schemas.openxmlformats.org/drawingml/2006/main" prst="roundRect">
            <a:avLst>
              <a:gd name="adj" fmla="val 5161"/>
            </a:avLst>
          </a:prstGeom>
          <a:solidFill xmlns:a="http://schemas.openxmlformats.org/drawingml/2006/main">
            <a:srgbClr val="FFFFFF"/>
          </a:solidFill>
          <a:ln xmlns:a="http://schemas.openxmlformats.org/drawingml/2006/main" w="9525">
            <a:solidFill>
              <a:srgbClr val="DDEBEC"/>
            </a:solidFill>
          </a:ln>
        </p:spPr>
        <p:txBody xmlns:a="http://schemas.openxmlformats.org/drawingml/2006/main">
          <a:bodyPr/>
          <a:p/>
        </p:txBody>
      </p:sp>
      <p:sp>
        <p:nvSpPr>
          <p:cNvPr id="27" name="02">
            <a:extLst xmlns:a="http://schemas.openxmlformats.org/drawingml/2006/main">
              <a:ext uri="{FF2B5EF4-FFF2-40B4-BE49-F238E27FC236}">
                <a16:creationId xmlns:a16="http://schemas.microsoft.com/office/drawing/2014/main" id="{848EE73E-692F-4A73-97A1-0AEEDD5AA66D}"/>
              </a:ext>
            </a:extLst>
          </p:cNvPr>
          <p:cNvSpPr>
            <a:spLocks xmlns:a="http://schemas.openxmlformats.org/drawingml/2006/main" noGrp="1"/>
          </p:cNvSpPr>
          <p:nvPr/>
        </p:nvSpPr>
        <p:spPr>
          <a:xfrm xmlns:a="http://schemas.openxmlformats.org/drawingml/2006/main">
            <a:off x="2758440" y="1714500"/>
            <a:ext cx="156972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12606F"/>
                </a:solidFill>
                <a:latin typeface="Calibri"/>
                <a:ea typeface="Calibri"/>
                <a:cs typeface="Calibri"/>
              </a:defRPr>
            </a:pPr>
            <a:r>
              <a:rPr sz="1050" b="1">
                <a:solidFill>
                  <a:srgbClr val="12606F"/>
                </a:solidFill>
                <a:latin typeface="Calibri"/>
                <a:ea typeface="Calibri"/>
                <a:cs typeface="Calibri"/>
              </a:rPr>
              <a:t>02</a:t>
            </a:r>
          </a:p>
        </p:txBody>
      </p:sp>
      <p:sp>
        <p:nvSpPr>
          <p:cNvPr id="28" name="Propose fields">
            <a:extLst xmlns:a="http://schemas.openxmlformats.org/drawingml/2006/main">
              <a:ext uri="{FF2B5EF4-FFF2-40B4-BE49-F238E27FC236}">
                <a16:creationId xmlns:a16="http://schemas.microsoft.com/office/drawing/2014/main" id="{65541F74-DAA3-4CC6-BCC7-8003F94DB861}"/>
              </a:ext>
            </a:extLst>
          </p:cNvPr>
          <p:cNvSpPr>
            <a:spLocks xmlns:a="http://schemas.openxmlformats.org/drawingml/2006/main" noGrp="1"/>
          </p:cNvSpPr>
          <p:nvPr/>
        </p:nvSpPr>
        <p:spPr>
          <a:xfrm xmlns:a="http://schemas.openxmlformats.org/drawingml/2006/main">
            <a:off x="2758440" y="2009775"/>
            <a:ext cx="156972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16323A"/>
                </a:solidFill>
                <a:latin typeface="Calibri"/>
                <a:ea typeface="Calibri"/>
                <a:cs typeface="Calibri"/>
              </a:defRPr>
            </a:pPr>
            <a:r>
              <a:rPr sz="1350" b="1">
                <a:solidFill>
                  <a:srgbClr val="16323A"/>
                </a:solidFill>
                <a:latin typeface="Calibri"/>
                <a:ea typeface="Calibri"/>
                <a:cs typeface="Calibri"/>
              </a:rPr>
              <a:t>Propose fields</a:t>
            </a:r>
          </a:p>
        </p:txBody>
      </p:sp>
      <p:sp>
        <p:nvSpPr>
          <p:cNvPr id="29" name="AI maps varied layouts and wording ">
            <a:extLst xmlns:a="http://schemas.openxmlformats.org/drawingml/2006/main">
              <a:ext uri="{FF2B5EF4-FFF2-40B4-BE49-F238E27FC236}">
                <a16:creationId xmlns:a16="http://schemas.microsoft.com/office/drawing/2014/main" id="{E833EB0B-1BD4-472C-99D1-E59B72F5CDC5}"/>
              </a:ext>
            </a:extLst>
          </p:cNvPr>
          <p:cNvSpPr>
            <a:spLocks xmlns:a="http://schemas.openxmlformats.org/drawingml/2006/main" noGrp="1"/>
          </p:cNvSpPr>
          <p:nvPr/>
        </p:nvSpPr>
        <p:spPr>
          <a:xfrm xmlns:a="http://schemas.openxmlformats.org/drawingml/2006/main">
            <a:off x="2758440" y="2371725"/>
            <a:ext cx="156972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16323A"/>
                </a:solidFill>
                <a:latin typeface="Calibri"/>
                <a:ea typeface="Calibri"/>
                <a:cs typeface="Calibri"/>
              </a:defRPr>
            </a:pPr>
            <a:r>
              <a:rPr sz="1050" b="0">
                <a:solidFill>
                  <a:srgbClr val="16323A"/>
                </a:solidFill>
                <a:latin typeface="Calibri"/>
                <a:ea typeface="Calibri"/>
                <a:cs typeface="Calibri"/>
              </a:rPr>
              <a:t>AI maps varied layouts and wording to dates, values and units with source evidence.</a:t>
            </a:r>
          </a:p>
        </p:txBody>
      </p:sp>
      <p:sp>
        <p:nvSpPr>
          <p:cNvPr id="30" name="Architecture stage">
            <a:extLst xmlns:a="http://schemas.openxmlformats.org/drawingml/2006/main">
              <a:ext uri="{FF2B5EF4-FFF2-40B4-BE49-F238E27FC236}">
                <a16:creationId xmlns:a16="http://schemas.microsoft.com/office/drawing/2014/main" id="{B8B760C2-0698-4D94-9902-48C5F35019A1}"/>
              </a:ext>
            </a:extLst>
          </p:cNvPr>
          <p:cNvSpPr>
            <a:spLocks xmlns:a="http://schemas.openxmlformats.org/drawingml/2006/main" noGrp="1"/>
          </p:cNvSpPr>
          <p:nvPr/>
        </p:nvSpPr>
        <p:spPr>
          <a:xfrm xmlns:a="http://schemas.openxmlformats.org/drawingml/2006/main">
            <a:off x="4663440" y="1571625"/>
            <a:ext cx="1874520" cy="1476375"/>
          </a:xfrm>
          <a:prstGeom xmlns:a="http://schemas.openxmlformats.org/drawingml/2006/main" prst="roundRect">
            <a:avLst>
              <a:gd name="adj" fmla="val 5161"/>
            </a:avLst>
          </a:prstGeom>
          <a:solidFill xmlns:a="http://schemas.openxmlformats.org/drawingml/2006/main">
            <a:srgbClr val="FFFFFF"/>
          </a:solidFill>
          <a:ln xmlns:a="http://schemas.openxmlformats.org/drawingml/2006/main" w="9525">
            <a:solidFill>
              <a:srgbClr val="DDEBEC"/>
            </a:solidFill>
          </a:ln>
        </p:spPr>
        <p:txBody xmlns:a="http://schemas.openxmlformats.org/drawingml/2006/main">
          <a:bodyPr/>
          <a:p/>
        </p:txBody>
      </p:sp>
      <p:sp>
        <p:nvSpPr>
          <p:cNvPr id="31" name="03">
            <a:extLst xmlns:a="http://schemas.openxmlformats.org/drawingml/2006/main">
              <a:ext uri="{FF2B5EF4-FFF2-40B4-BE49-F238E27FC236}">
                <a16:creationId xmlns:a16="http://schemas.microsoft.com/office/drawing/2014/main" id="{B49EE537-635A-46DB-8BBD-314F1D9C8165}"/>
              </a:ext>
            </a:extLst>
          </p:cNvPr>
          <p:cNvSpPr>
            <a:spLocks xmlns:a="http://schemas.openxmlformats.org/drawingml/2006/main" noGrp="1"/>
          </p:cNvSpPr>
          <p:nvPr/>
        </p:nvSpPr>
        <p:spPr>
          <a:xfrm xmlns:a="http://schemas.openxmlformats.org/drawingml/2006/main">
            <a:off x="4815840" y="1714500"/>
            <a:ext cx="156972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12606F"/>
                </a:solidFill>
                <a:latin typeface="Calibri"/>
                <a:ea typeface="Calibri"/>
                <a:cs typeface="Calibri"/>
              </a:defRPr>
            </a:pPr>
            <a:r>
              <a:rPr sz="1050" b="1">
                <a:solidFill>
                  <a:srgbClr val="12606F"/>
                </a:solidFill>
                <a:latin typeface="Calibri"/>
                <a:ea typeface="Calibri"/>
                <a:cs typeface="Calibri"/>
              </a:rPr>
              <a:t>03</a:t>
            </a:r>
          </a:p>
        </p:txBody>
      </p:sp>
      <p:sp>
        <p:nvSpPr>
          <p:cNvPr id="32" name="Check and approve">
            <a:extLst xmlns:a="http://schemas.openxmlformats.org/drawingml/2006/main">
              <a:ext uri="{FF2B5EF4-FFF2-40B4-BE49-F238E27FC236}">
                <a16:creationId xmlns:a16="http://schemas.microsoft.com/office/drawing/2014/main" id="{FD8FC5CE-503D-4CB0-B75A-315CB7E314E4}"/>
              </a:ext>
            </a:extLst>
          </p:cNvPr>
          <p:cNvSpPr>
            <a:spLocks xmlns:a="http://schemas.openxmlformats.org/drawingml/2006/main" noGrp="1"/>
          </p:cNvSpPr>
          <p:nvPr/>
        </p:nvSpPr>
        <p:spPr>
          <a:xfrm xmlns:a="http://schemas.openxmlformats.org/drawingml/2006/main">
            <a:off x="4815840" y="2009775"/>
            <a:ext cx="156972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16323A"/>
                </a:solidFill>
                <a:latin typeface="Calibri"/>
                <a:ea typeface="Calibri"/>
                <a:cs typeface="Calibri"/>
              </a:defRPr>
            </a:pPr>
            <a:r>
              <a:rPr sz="1350" b="1">
                <a:solidFill>
                  <a:srgbClr val="16323A"/>
                </a:solidFill>
                <a:latin typeface="Calibri"/>
                <a:ea typeface="Calibri"/>
                <a:cs typeface="Calibri"/>
              </a:rPr>
              <a:t>Check and approve</a:t>
            </a:r>
          </a:p>
        </p:txBody>
      </p:sp>
      <p:sp>
        <p:nvSpPr>
          <p:cNvPr id="33" name="Validate patient, date and unit. St">
            <a:extLst xmlns:a="http://schemas.openxmlformats.org/drawingml/2006/main">
              <a:ext uri="{FF2B5EF4-FFF2-40B4-BE49-F238E27FC236}">
                <a16:creationId xmlns:a16="http://schemas.microsoft.com/office/drawing/2014/main" id="{63FD7B58-06A1-4228-9DE2-CA0037234B32}"/>
              </a:ext>
            </a:extLst>
          </p:cNvPr>
          <p:cNvSpPr>
            <a:spLocks xmlns:a="http://schemas.openxmlformats.org/drawingml/2006/main" noGrp="1"/>
          </p:cNvSpPr>
          <p:nvPr/>
        </p:nvSpPr>
        <p:spPr>
          <a:xfrm xmlns:a="http://schemas.openxmlformats.org/drawingml/2006/main">
            <a:off x="4815840" y="2371725"/>
            <a:ext cx="156972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16323A"/>
                </a:solidFill>
                <a:latin typeface="Calibri"/>
                <a:ea typeface="Calibri"/>
                <a:cs typeface="Calibri"/>
              </a:defRPr>
            </a:pPr>
            <a:r>
              <a:rPr sz="1050" b="0">
                <a:solidFill>
                  <a:srgbClr val="16323A"/>
                </a:solidFill>
                <a:latin typeface="Calibri"/>
                <a:ea typeface="Calibri"/>
                <a:cs typeface="Calibri"/>
              </a:rPr>
              <a:t>Validate patient, date and unit. Staff correct the draft against its source.</a:t>
            </a:r>
          </a:p>
        </p:txBody>
      </p:sp>
      <p:sp>
        <p:nvSpPr>
          <p:cNvPr id="34" name="Architecture stage">
            <a:extLst xmlns:a="http://schemas.openxmlformats.org/drawingml/2006/main">
              <a:ext uri="{FF2B5EF4-FFF2-40B4-BE49-F238E27FC236}">
                <a16:creationId xmlns:a16="http://schemas.microsoft.com/office/drawing/2014/main" id="{47D0885B-B15E-45D4-A074-07EAB1316463}"/>
              </a:ext>
            </a:extLst>
          </p:cNvPr>
          <p:cNvSpPr>
            <a:spLocks xmlns:a="http://schemas.openxmlformats.org/drawingml/2006/main" noGrp="1"/>
          </p:cNvSpPr>
          <p:nvPr/>
        </p:nvSpPr>
        <p:spPr>
          <a:xfrm xmlns:a="http://schemas.openxmlformats.org/drawingml/2006/main">
            <a:off x="6720840" y="1571625"/>
            <a:ext cx="1874520" cy="1476375"/>
          </a:xfrm>
          <a:prstGeom xmlns:a="http://schemas.openxmlformats.org/drawingml/2006/main" prst="roundRect">
            <a:avLst>
              <a:gd name="adj" fmla="val 5161"/>
            </a:avLst>
          </a:prstGeom>
          <a:solidFill xmlns:a="http://schemas.openxmlformats.org/drawingml/2006/main">
            <a:srgbClr val="FFFFFF"/>
          </a:solidFill>
          <a:ln xmlns:a="http://schemas.openxmlformats.org/drawingml/2006/main" w="9525">
            <a:solidFill>
              <a:srgbClr val="DDEBEC"/>
            </a:solidFill>
          </a:ln>
        </p:spPr>
        <p:txBody xmlns:a="http://schemas.openxmlformats.org/drawingml/2006/main">
          <a:bodyPr/>
          <a:p/>
        </p:txBody>
      </p:sp>
      <p:sp>
        <p:nvSpPr>
          <p:cNvPr id="35" name="04">
            <a:extLst xmlns:a="http://schemas.openxmlformats.org/drawingml/2006/main">
              <a:ext uri="{FF2B5EF4-FFF2-40B4-BE49-F238E27FC236}">
                <a16:creationId xmlns:a16="http://schemas.microsoft.com/office/drawing/2014/main" id="{76B1502D-620D-4BE6-8568-E0E7860F061D}"/>
              </a:ext>
            </a:extLst>
          </p:cNvPr>
          <p:cNvSpPr>
            <a:spLocks xmlns:a="http://schemas.openxmlformats.org/drawingml/2006/main" noGrp="1"/>
          </p:cNvSpPr>
          <p:nvPr/>
        </p:nvSpPr>
        <p:spPr>
          <a:xfrm xmlns:a="http://schemas.openxmlformats.org/drawingml/2006/main">
            <a:off x="6873240" y="1714500"/>
            <a:ext cx="156972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12606F"/>
                </a:solidFill>
                <a:latin typeface="Calibri"/>
                <a:ea typeface="Calibri"/>
                <a:cs typeface="Calibri"/>
              </a:defRPr>
            </a:pPr>
            <a:r>
              <a:rPr sz="1050" b="1">
                <a:solidFill>
                  <a:srgbClr val="12606F"/>
                </a:solidFill>
                <a:latin typeface="Calibri"/>
                <a:ea typeface="Calibri"/>
                <a:cs typeface="Calibri"/>
              </a:rPr>
              <a:t>04</a:t>
            </a:r>
          </a:p>
        </p:txBody>
      </p:sp>
      <p:sp>
        <p:nvSpPr>
          <p:cNvPr id="36" name="Save and deliver">
            <a:extLst xmlns:a="http://schemas.openxmlformats.org/drawingml/2006/main">
              <a:ext uri="{FF2B5EF4-FFF2-40B4-BE49-F238E27FC236}">
                <a16:creationId xmlns:a16="http://schemas.microsoft.com/office/drawing/2014/main" id="{2419AA15-11D5-4B19-BE38-CACB1D5920BB}"/>
              </a:ext>
            </a:extLst>
          </p:cNvPr>
          <p:cNvSpPr>
            <a:spLocks xmlns:a="http://schemas.openxmlformats.org/drawingml/2006/main" noGrp="1"/>
          </p:cNvSpPr>
          <p:nvPr/>
        </p:nvSpPr>
        <p:spPr>
          <a:xfrm xmlns:a="http://schemas.openxmlformats.org/drawingml/2006/main">
            <a:off x="6873240" y="2009775"/>
            <a:ext cx="156972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16323A"/>
                </a:solidFill>
                <a:latin typeface="Calibri"/>
                <a:ea typeface="Calibri"/>
                <a:cs typeface="Calibri"/>
              </a:defRPr>
            </a:pPr>
            <a:r>
              <a:rPr sz="1350" b="1">
                <a:solidFill>
                  <a:srgbClr val="16323A"/>
                </a:solidFill>
                <a:latin typeface="Calibri"/>
                <a:ea typeface="Calibri"/>
                <a:cs typeface="Calibri"/>
              </a:rPr>
              <a:t>Save and deliver</a:t>
            </a:r>
          </a:p>
        </p:txBody>
      </p:sp>
      <p:sp>
        <p:nvSpPr>
          <p:cNvPr id="37" name="Keep approval versions. Plot dated ">
            <a:extLst xmlns:a="http://schemas.openxmlformats.org/drawingml/2006/main">
              <a:ext uri="{FF2B5EF4-FFF2-40B4-BE49-F238E27FC236}">
                <a16:creationId xmlns:a16="http://schemas.microsoft.com/office/drawing/2014/main" id="{74D2BDC6-9E20-4AFC-85FE-65133FC4E60D}"/>
              </a:ext>
            </a:extLst>
          </p:cNvPr>
          <p:cNvSpPr>
            <a:spLocks xmlns:a="http://schemas.openxmlformats.org/drawingml/2006/main" noGrp="1"/>
          </p:cNvSpPr>
          <p:nvPr/>
        </p:nvSpPr>
        <p:spPr>
          <a:xfrm xmlns:a="http://schemas.openxmlformats.org/drawingml/2006/main">
            <a:off x="6873240" y="2371725"/>
            <a:ext cx="156972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16323A"/>
                </a:solidFill>
                <a:latin typeface="Calibri"/>
                <a:ea typeface="Calibri"/>
                <a:cs typeface="Calibri"/>
              </a:defRPr>
            </a:pPr>
            <a:r>
              <a:rPr sz="1050" b="0">
                <a:solidFill>
                  <a:srgbClr val="16323A"/>
                </a:solidFill>
                <a:latin typeface="Calibri"/>
                <a:ea typeface="Calibri"/>
                <a:cs typeface="Calibri"/>
              </a:rPr>
              <a:t>Save approved versions. Explore trends, search reports and export the visit summary.</a:t>
            </a:r>
          </a:p>
        </p:txBody>
      </p:sp>
      <p:sp>
        <p:nvSpPr>
          <p:cNvPr id="38" name="Changed source records reopen affec">
            <a:extLst xmlns:a="http://schemas.openxmlformats.org/drawingml/2006/main">
              <a:ext uri="{FF2B5EF4-FFF2-40B4-BE49-F238E27FC236}">
                <a16:creationId xmlns:a16="http://schemas.microsoft.com/office/drawing/2014/main" id="{34E4427B-8ED9-48C4-9B8C-C027CC84452B}"/>
              </a:ext>
            </a:extLst>
          </p:cNvPr>
          <p:cNvSpPr>
            <a:spLocks xmlns:a="http://schemas.openxmlformats.org/drawingml/2006/main" noGrp="1"/>
          </p:cNvSpPr>
          <p:nvPr/>
        </p:nvSpPr>
        <p:spPr>
          <a:xfrm xmlns:a="http://schemas.openxmlformats.org/drawingml/2006/main">
            <a:off x="548640" y="3200400"/>
            <a:ext cx="80467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12606F"/>
                </a:solidFill>
                <a:latin typeface="Calibri"/>
                <a:ea typeface="Calibri"/>
                <a:cs typeface="Calibri"/>
              </a:defRPr>
            </a:pPr>
            <a:r>
              <a:rPr sz="1050" b="0">
                <a:solidFill>
                  <a:srgbClr val="12606F"/>
                </a:solidFill>
                <a:latin typeface="Calibri"/>
                <a:ea typeface="Calibri"/>
                <a:cs typeface="Calibri"/>
              </a:rPr>
              <a:t>Changed source records reopen affected facts. An unresolved patient identity conflict keeps the update on hold.</a:t>
            </a:r>
          </a:p>
        </p:txBody>
      </p:sp>
      <p:sp>
        <p:nvSpPr>
          <p:cNvPr id="39" name="Optional ABHA integration">
            <a:extLst xmlns:a="http://schemas.openxmlformats.org/drawingml/2006/main">
              <a:ext uri="{FF2B5EF4-FFF2-40B4-BE49-F238E27FC236}">
                <a16:creationId xmlns:a16="http://schemas.microsoft.com/office/drawing/2014/main" id="{C914F01B-5FD2-4EAC-87B0-35460B68540D}"/>
              </a:ext>
            </a:extLst>
          </p:cNvPr>
          <p:cNvSpPr>
            <a:spLocks xmlns:a="http://schemas.openxmlformats.org/drawingml/2006/main" noGrp="1"/>
          </p:cNvSpPr>
          <p:nvPr/>
        </p:nvSpPr>
        <p:spPr>
          <a:xfrm xmlns:a="http://schemas.openxmlformats.org/drawingml/2006/main">
            <a:off x="548640" y="3590925"/>
            <a:ext cx="8046720" cy="1066800"/>
          </a:xfrm>
          <a:prstGeom xmlns:a="http://schemas.openxmlformats.org/drawingml/2006/main" prst="roundRect">
            <a:avLst>
              <a:gd name="adj" fmla="val 7143"/>
            </a:avLst>
          </a:prstGeom>
          <a:solidFill xmlns:a="http://schemas.openxmlformats.org/drawingml/2006/main">
            <a:srgbClr val="0B3C49"/>
          </a:solidFill>
          <a:ln xmlns:a="http://schemas.openxmlformats.org/drawingml/2006/main" w="0">
            <a:noFill/>
          </a:ln>
        </p:spPr>
        <p:txBody xmlns:a="http://schemas.openxmlformats.org/drawingml/2006/main">
          <a:bodyPr/>
          <a:p/>
        </p:txBody>
      </p:sp>
      <p:sp>
        <p:nvSpPr>
          <p:cNvPr id="40" name="Optional ABHA integration">
            <a:extLst xmlns:a="http://schemas.openxmlformats.org/drawingml/2006/main">
              <a:ext uri="{FF2B5EF4-FFF2-40B4-BE49-F238E27FC236}">
                <a16:creationId xmlns:a16="http://schemas.microsoft.com/office/drawing/2014/main" id="{4F0BD8DF-7A57-4A92-B2BC-041AF3CB67C1}"/>
              </a:ext>
            </a:extLst>
          </p:cNvPr>
          <p:cNvSpPr>
            <a:spLocks xmlns:a="http://schemas.openxmlformats.org/drawingml/2006/main" noGrp="1"/>
          </p:cNvSpPr>
          <p:nvPr/>
        </p:nvSpPr>
        <p:spPr>
          <a:xfrm xmlns:a="http://schemas.openxmlformats.org/drawingml/2006/main">
            <a:off x="739140" y="3733800"/>
            <a:ext cx="766572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FFFFFF"/>
                </a:solidFill>
                <a:latin typeface="Calibri"/>
                <a:ea typeface="Calibri"/>
                <a:cs typeface="Calibri"/>
              </a:defRPr>
            </a:pPr>
            <a:r>
              <a:rPr sz="1500" b="1">
                <a:solidFill>
                  <a:srgbClr val="FFFFFF"/>
                </a:solidFill>
                <a:latin typeface="Calibri"/>
                <a:ea typeface="Calibri"/>
                <a:cs typeface="Calibri"/>
              </a:rPr>
              <a:t>Later extension: consented ABHA records</a:t>
            </a:r>
          </a:p>
        </p:txBody>
      </p:sp>
      <p:sp>
        <p:nvSpPr>
          <p:cNvPr id="41" name="Verify the clinic patient link and ">
            <a:extLst xmlns:a="http://schemas.openxmlformats.org/drawingml/2006/main">
              <a:ext uri="{FF2B5EF4-FFF2-40B4-BE49-F238E27FC236}">
                <a16:creationId xmlns:a16="http://schemas.microsoft.com/office/drawing/2014/main" id="{20D01AEB-41B2-4DB8-B38C-188D584AFECC}"/>
              </a:ext>
            </a:extLst>
          </p:cNvPr>
          <p:cNvSpPr>
            <a:spLocks xmlns:a="http://schemas.openxmlformats.org/drawingml/2006/main" noGrp="1"/>
          </p:cNvSpPr>
          <p:nvPr/>
        </p:nvSpPr>
        <p:spPr>
          <a:xfrm xmlns:a="http://schemas.openxmlformats.org/drawingml/2006/main">
            <a:off x="739140" y="4095750"/>
            <a:ext cx="766572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FFFFFF"/>
                </a:solidFill>
                <a:latin typeface="Calibri"/>
                <a:ea typeface="Calibri"/>
                <a:cs typeface="Calibri"/>
              </a:defRPr>
            </a:pPr>
            <a:r>
              <a:rPr sz="1050" b="0">
                <a:solidFill>
                  <a:srgbClr val="FFFFFF"/>
                </a:solidFill>
                <a:latin typeface="Calibri"/>
                <a:ea typeface="Calibri"/>
                <a:cs typeface="Calibri"/>
              </a:rPr>
              <a:t>Verify the clinic patient link and request scoped consent. Retrieve permitted provider records through ABDM, validate their structured format and send them through the same review.</a:t>
            </a:r>
          </a:p>
        </p:txBody>
      </p:sp>
      <p:sp>
        <p:nvSpPr>
          <p:cNvPr id="42" name="Expiry or revocation stops access. ">
            <a:extLst xmlns:a="http://schemas.openxmlformats.org/drawingml/2006/main">
              <a:ext uri="{FF2B5EF4-FFF2-40B4-BE49-F238E27FC236}">
                <a16:creationId xmlns:a16="http://schemas.microsoft.com/office/drawing/2014/main" id="{AE4794F3-2B41-4528-A5AF-0EDFDE911DA9}"/>
              </a:ext>
            </a:extLst>
          </p:cNvPr>
          <p:cNvSpPr>
            <a:spLocks xmlns:a="http://schemas.openxmlformats.org/drawingml/2006/main" noGrp="1"/>
          </p:cNvSpPr>
          <p:nvPr/>
        </p:nvSpPr>
        <p:spPr>
          <a:xfrm xmlns:a="http://schemas.openxmlformats.org/drawingml/2006/main">
            <a:off x="548640" y="4714875"/>
            <a:ext cx="804672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863" b="0">
                <a:solidFill>
                  <a:srgbClr val="5B7A82"/>
                </a:solidFill>
                <a:latin typeface="Calibri"/>
                <a:ea typeface="Calibri"/>
                <a:cs typeface="Calibri"/>
              </a:defRPr>
            </a:pPr>
            <a:r>
              <a:rPr sz="863" b="0">
                <a:solidFill>
                  <a:srgbClr val="5B7A82"/>
                </a:solidFill>
                <a:latin typeface="Calibri"/>
                <a:ea typeface="Calibri"/>
                <a:cs typeface="Calibri"/>
              </a:rPr>
              <a:t>Expiry or revocation stops access. Enforce the consent’s erasure deadline. Sandbox and certification precede production.</a:t>
            </a:r>
          </a:p>
        </p:txBody>
      </p:sp>
    </p:spTree>
    <p:extLst>
      <p:ext uri="{BB962C8B-B14F-4D97-AF65-F5344CB8AC3E}">
        <p14:creationId xmlns:p14="http://schemas.microsoft.com/office/powerpoint/2010/main" val="208271186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04A14FD-1B18-46E1-8F1F-CB36297DA1F7}"/>
              </a:ext>
            </a:extLst>
          </p:cNvPr>
          <p:cNvSpPr>
            <a:spLocks xmlns:a="http://schemas.openxmlformats.org/drawingml/2006/main" noGrp="1"/>
          </p:cNvSpPr>
          <p:nvPr/>
        </p:nvSpPr>
        <p:spPr>
          <a:xfrm xmlns:a="http://schemas.openxmlformats.org/drawingml/2006/main">
            <a:off x="548640" y="320040"/>
            <a:ext cx="804672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16323A"/>
                </a:solidFill>
                <a:latin typeface="Cambria"/>
                <a:ea typeface="Cambria"/>
                <a:cs typeface="Cambria"/>
              </a:rPr>
              <a:t>Does the return visit save work?</a:t>
            </a:r>
            <a:endParaRPr sz="3000"/>
          </a:p>
        </p:txBody>
      </p:sp>
      <p:sp>
        <p:nvSpPr>
          <p:cNvPr id="3" name="Text 1">
            <a:extLst xmlns:a="http://schemas.openxmlformats.org/drawingml/2006/main">
              <a:ext uri="{FF2B5EF4-FFF2-40B4-BE49-F238E27FC236}">
                <a16:creationId xmlns:a16="http://schemas.microsoft.com/office/drawing/2014/main" id="{FBFB73B5-40E4-45B4-A484-76AECFEE9C22}"/>
              </a:ext>
            </a:extLst>
          </p:cNvPr>
          <p:cNvSpPr>
            <a:spLocks xmlns:a="http://schemas.openxmlformats.org/drawingml/2006/main" noGrp="1"/>
          </p:cNvSpPr>
          <p:nvPr/>
        </p:nvSpPr>
        <p:spPr>
          <a:xfrm xmlns:a="http://schemas.openxmlformats.org/drawingml/2006/main">
            <a:off x="548640" y="868680"/>
            <a:ext cx="8046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1388"/>
            </a:pPr>
            <a:r>
              <a:rPr sz="1388" b="1">
                <a:solidFill>
                  <a:srgbClr val="12606F"/>
                </a:solidFill>
                <a:latin typeface="Calibri"/>
                <a:ea typeface="Calibri"/>
                <a:cs typeface="Calibri"/>
              </a:rPr>
              <a:t>Illustrative workload model. Every minute below is an assumption to test; extraction accuracy is measured, time is not.</a:t>
            </a:r>
            <a:endParaRPr sz="1500"/>
          </a:p>
        </p:txBody>
      </p:sp>
      <p:sp>
        <p:nvSpPr>
          <p:cNvPr id="4" name="10 min">
            <a:extLst xmlns:a="http://schemas.openxmlformats.org/drawingml/2006/main">
              <a:ext uri="{FF2B5EF4-FFF2-40B4-BE49-F238E27FC236}">
                <a16:creationId xmlns:a16="http://schemas.microsoft.com/office/drawing/2014/main" id="{B808D2C7-784A-4EA2-8154-29796F1A10B8}"/>
              </a:ext>
            </a:extLst>
          </p:cNvPr>
          <p:cNvSpPr>
            <a:spLocks xmlns:a="http://schemas.openxmlformats.org/drawingml/2006/main" noGrp="1"/>
          </p:cNvSpPr>
          <p:nvPr/>
        </p:nvSpPr>
        <p:spPr>
          <a:xfrm xmlns:a="http://schemas.openxmlformats.org/drawingml/2006/main">
            <a:off x="548640" y="1381125"/>
            <a:ext cx="1857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a:solidFill>
                  <a:srgbClr val="16323A"/>
                </a:solidFill>
                <a:latin typeface="Calibri"/>
                <a:ea typeface="Calibri"/>
                <a:cs typeface="Calibri"/>
              </a:defRPr>
            </a:pPr>
            <a:r>
              <a:rPr sz="2550" b="1">
                <a:solidFill>
                  <a:srgbClr val="16323A"/>
                </a:solidFill>
                <a:latin typeface="Calibri"/>
                <a:ea typeface="Calibri"/>
                <a:cs typeface="Calibri"/>
              </a:rPr>
              <a:t>10 min</a:t>
            </a:r>
          </a:p>
        </p:txBody>
      </p:sp>
      <p:sp>
        <p:nvSpPr>
          <p:cNvPr id="5" name="6 min">
            <a:extLst xmlns:a="http://schemas.openxmlformats.org/drawingml/2006/main">
              <a:ext uri="{FF2B5EF4-FFF2-40B4-BE49-F238E27FC236}">
                <a16:creationId xmlns:a16="http://schemas.microsoft.com/office/drawing/2014/main" id="{367B5372-64AD-4CB6-B319-897AE8EDE5D7}"/>
              </a:ext>
            </a:extLst>
          </p:cNvPr>
          <p:cNvSpPr>
            <a:spLocks xmlns:a="http://schemas.openxmlformats.org/drawingml/2006/main" noGrp="1"/>
          </p:cNvSpPr>
          <p:nvPr/>
        </p:nvSpPr>
        <p:spPr>
          <a:xfrm xmlns:a="http://schemas.openxmlformats.org/drawingml/2006/main">
            <a:off x="2691765" y="1381125"/>
            <a:ext cx="1857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a:solidFill>
                  <a:srgbClr val="12606F"/>
                </a:solidFill>
                <a:latin typeface="Calibri"/>
                <a:ea typeface="Calibri"/>
                <a:cs typeface="Calibri"/>
              </a:defRPr>
            </a:pPr>
            <a:r>
              <a:rPr sz="2550" b="1">
                <a:solidFill>
                  <a:srgbClr val="12606F"/>
                </a:solidFill>
                <a:latin typeface="Calibri"/>
                <a:ea typeface="Calibri"/>
                <a:cs typeface="Calibri"/>
              </a:rPr>
              <a:t>6 min</a:t>
            </a:r>
          </a:p>
        </p:txBody>
      </p:sp>
      <p:sp>
        <p:nvSpPr>
          <p:cNvPr id="6" name="Manual timeline">
            <a:extLst xmlns:a="http://schemas.openxmlformats.org/drawingml/2006/main">
              <a:ext uri="{FF2B5EF4-FFF2-40B4-BE49-F238E27FC236}">
                <a16:creationId xmlns:a16="http://schemas.microsoft.com/office/drawing/2014/main" id="{4E8D169C-7DA5-4D9E-A171-EC56A4679A24}"/>
              </a:ext>
            </a:extLst>
          </p:cNvPr>
          <p:cNvSpPr>
            <a:spLocks xmlns:a="http://schemas.openxmlformats.org/drawingml/2006/main" noGrp="1"/>
          </p:cNvSpPr>
          <p:nvPr/>
        </p:nvSpPr>
        <p:spPr>
          <a:xfrm xmlns:a="http://schemas.openxmlformats.org/drawingml/2006/main">
            <a:off x="548640" y="1809750"/>
            <a:ext cx="18573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B7A82"/>
                </a:solidFill>
                <a:latin typeface="Calibri"/>
                <a:ea typeface="Calibri"/>
                <a:cs typeface="Calibri"/>
              </a:defRPr>
            </a:pPr>
            <a:r>
              <a:rPr sz="1125" b="0">
                <a:solidFill>
                  <a:srgbClr val="5B7A82"/>
                </a:solidFill>
                <a:latin typeface="Calibri"/>
                <a:ea typeface="Calibri"/>
                <a:cs typeface="Calibri"/>
              </a:rPr>
              <a:t>Manual timeline</a:t>
            </a:r>
          </a:p>
        </p:txBody>
      </p:sp>
      <p:sp>
        <p:nvSpPr>
          <p:cNvPr id="7" name="Glucoflow return visit">
            <a:extLst xmlns:a="http://schemas.openxmlformats.org/drawingml/2006/main">
              <a:ext uri="{FF2B5EF4-FFF2-40B4-BE49-F238E27FC236}">
                <a16:creationId xmlns:a16="http://schemas.microsoft.com/office/drawing/2014/main" id="{DAA4A0F6-66A4-4D57-9199-E622118A025B}"/>
              </a:ext>
            </a:extLst>
          </p:cNvPr>
          <p:cNvSpPr>
            <a:spLocks xmlns:a="http://schemas.openxmlformats.org/drawingml/2006/main" noGrp="1"/>
          </p:cNvSpPr>
          <p:nvPr/>
        </p:nvSpPr>
        <p:spPr>
          <a:xfrm xmlns:a="http://schemas.openxmlformats.org/drawingml/2006/main">
            <a:off x="2691765" y="1809750"/>
            <a:ext cx="18573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B7A82"/>
                </a:solidFill>
                <a:latin typeface="Calibri"/>
                <a:ea typeface="Calibri"/>
                <a:cs typeface="Calibri"/>
              </a:defRPr>
            </a:pPr>
            <a:r>
              <a:rPr sz="1125" b="0">
                <a:solidFill>
                  <a:srgbClr val="5B7A82"/>
                </a:solidFill>
                <a:latin typeface="Calibri"/>
                <a:ea typeface="Calibri"/>
                <a:cs typeface="Calibri"/>
              </a:rPr>
              <a:t>Glucoflow return visit</a:t>
            </a:r>
          </a:p>
        </p:txBody>
      </p:sp>
      <p:graphicFrame>
        <p:nvGraphicFramePr>
          <p:cNvPr id="24" name=""/>
          <p:cNvGraphicFramePr/>
          <p:nvPr/>
        </p:nvGraphicFramePr>
        <p:xfrm>
          <a:off xmlns:a="http://schemas.openxmlformats.org/drawingml/2006/main" x="548640" y="2152650"/>
          <a:ext xmlns:a="http://schemas.openxmlformats.org/drawingml/2006/main" cx="4000500" cy="2038350"/>
        </p:xfrm>
        <a:graphic xmlns:a="http://schemas.openxmlformats.org/drawingml/2006/main">
          <a:graphicData uri="http://schemas.openxmlformats.org/drawingml/2006/table">
            <a:tbl>
              <a:tblPr firstRow="0" bandRow="0" bandCol="0"/>
              <a:tblGrid>
                <a:gridCol w="2228850"/>
                <a:gridCol w="885825"/>
                <a:gridCol w="885825"/>
              </a:tblGrid>
              <a:tr h="419100">
                <a:tc>
                  <a:txBody>
                    <a:bodyPr wrap="square" lIns="133350" tIns="76200" rIns="133350" bIns="76200">
                      <a:noAutofit/>
                    </a:bodyPr>
                    <a:lstStyle/>
                    <a:p>
                      <a:r>
                        <a:rPr sz="975" b="1">
                          <a:solidFill>
                            <a:srgbClr val="FFFFFF"/>
                          </a:solidFill>
                          <a:latin typeface="Calibri"/>
                          <a:ea typeface="Calibri"/>
                          <a:cs typeface="Calibri"/>
                        </a:rPr>
                        <a:t>Task</a:t>
                      </a:r>
                    </a:p>
                  </a:txBody>
                  <a:tcPr marL="133350" marR="133350" marT="76200" marB="76200" anchor="ctr">
                    <a:solidFill>
                      <a:srgbClr val="0B3C49"/>
                    </a:solidFill>
                  </a:tcPr>
                </a:tc>
                <a:tc>
                  <a:txBody>
                    <a:bodyPr wrap="square" lIns="133350" tIns="76200" rIns="133350" bIns="76200">
                      <a:noAutofit/>
                    </a:bodyPr>
                    <a:lstStyle/>
                    <a:p>
                      <a:r>
                        <a:rPr sz="975" b="1">
                          <a:solidFill>
                            <a:srgbClr val="FFFFFF"/>
                          </a:solidFill>
                          <a:latin typeface="Calibri"/>
                          <a:ea typeface="Calibri"/>
                          <a:cs typeface="Calibri"/>
                        </a:rPr>
                        <a:t>Manual</a:t>
                      </a:r>
                    </a:p>
                    <a:p>
                      <a:r>
                        <a:rPr sz="975" b="1">
                          <a:solidFill>
                            <a:srgbClr val="FFFFFF"/>
                          </a:solidFill>
                          <a:latin typeface="Calibri"/>
                          <a:ea typeface="Calibri"/>
                          <a:cs typeface="Calibri"/>
                        </a:rPr>
                        <a:t>(min)</a:t>
                      </a:r>
                    </a:p>
                  </a:txBody>
                  <a:tcPr marL="133350" marR="133350" marT="76200" marB="76200" anchor="ctr">
                    <a:solidFill>
                      <a:srgbClr val="0B3C49"/>
                    </a:solidFill>
                  </a:tcPr>
                </a:tc>
                <a:tc>
                  <a:txBody>
                    <a:bodyPr wrap="square" lIns="133350" tIns="76200" rIns="133350" bIns="76200">
                      <a:noAutofit/>
                    </a:bodyPr>
                    <a:lstStyle/>
                    <a:p>
                      <a:r>
                        <a:rPr sz="975" b="1">
                          <a:solidFill>
                            <a:srgbClr val="FFFFFF"/>
                          </a:solidFill>
                          <a:latin typeface="Calibri"/>
                          <a:ea typeface="Calibri"/>
                          <a:cs typeface="Calibri"/>
                        </a:rPr>
                        <a:t>Glucoflow</a:t>
                      </a:r>
                    </a:p>
                    <a:p>
                      <a:r>
                        <a:rPr sz="975" b="1">
                          <a:solidFill>
                            <a:srgbClr val="FFFFFF"/>
                          </a:solidFill>
                          <a:latin typeface="Calibri"/>
                          <a:ea typeface="Calibri"/>
                          <a:cs typeface="Calibri"/>
                        </a:rPr>
                        <a:t>(min)</a:t>
                      </a:r>
                    </a:p>
                  </a:txBody>
                  <a:tcPr marL="133350" marR="133350" marT="76200" marB="76200" anchor="ctr">
                    <a:solidFill>
                      <a:srgbClr val="0B3C49"/>
                    </a:solidFill>
                  </a:tcPr>
                </a:tc>
              </a:tr>
              <a:tr h="323850">
                <a:tc>
                  <a:txBody>
                    <a:bodyPr wrap="square" lIns="133350" tIns="76200" rIns="133350" bIns="76200">
                      <a:noAutofit/>
                    </a:bodyPr>
                    <a:lstStyle/>
                    <a:p>
                      <a:r>
                        <a:rPr sz="975" b="0">
                          <a:solidFill>
                            <a:srgbClr val="16323A"/>
                          </a:solidFill>
                          <a:latin typeface="Calibri"/>
                          <a:ea typeface="Calibri"/>
                          <a:cs typeface="Calibri"/>
                        </a:rPr>
                        <a:t>Intake</a:t>
                      </a:r>
                    </a:p>
                  </a:txBody>
                  <a:tcPr marL="133350" marR="133350" marT="76200" marB="76200" anchor="ctr">
                    <a:solidFill>
                      <a:srgbClr val="FFFFFF"/>
                    </a:solidFill>
                  </a:tcPr>
                </a:tc>
                <a:tc>
                  <a:txBody>
                    <a:bodyPr wrap="square" lIns="133350" tIns="76200" rIns="133350" bIns="76200">
                      <a:noAutofit/>
                    </a:bodyPr>
                    <a:lstStyle/>
                    <a:p>
                      <a:r>
                        <a:rPr sz="975" b="0">
                          <a:solidFill>
                            <a:srgbClr val="16323A"/>
                          </a:solidFill>
                          <a:latin typeface="Calibri"/>
                          <a:ea typeface="Calibri"/>
                          <a:cs typeface="Calibri"/>
                        </a:rPr>
                        <a:t>2</a:t>
                      </a:r>
                    </a:p>
                  </a:txBody>
                  <a:tcPr marL="133350" marR="133350" marT="76200" marB="76200" anchor="ctr">
                    <a:solidFill>
                      <a:srgbClr val="FFFFFF"/>
                    </a:solidFill>
                  </a:tcPr>
                </a:tc>
                <a:tc>
                  <a:txBody>
                    <a:bodyPr wrap="square" lIns="133350" tIns="76200" rIns="133350" bIns="76200">
                      <a:noAutofit/>
                    </a:bodyPr>
                    <a:lstStyle/>
                    <a:p>
                      <a:r>
                        <a:rPr sz="975" b="0">
                          <a:solidFill>
                            <a:srgbClr val="16323A"/>
                          </a:solidFill>
                          <a:latin typeface="Calibri"/>
                          <a:ea typeface="Calibri"/>
                          <a:cs typeface="Calibri"/>
                        </a:rPr>
                        <a:t>1</a:t>
                      </a:r>
                    </a:p>
                  </a:txBody>
                  <a:tcPr marL="133350" marR="133350" marT="76200" marB="76200" anchor="ctr">
                    <a:solidFill>
                      <a:srgbClr val="FFFFFF"/>
                    </a:solidFill>
                  </a:tcPr>
                </a:tc>
              </a:tr>
              <a:tr h="323850">
                <a:tc>
                  <a:txBody>
                    <a:bodyPr wrap="square" lIns="133350" tIns="76200" rIns="133350" bIns="76200">
                      <a:noAutofit/>
                    </a:bodyPr>
                    <a:lstStyle/>
                    <a:p>
                      <a:r>
                        <a:rPr sz="975" b="0">
                          <a:solidFill>
                            <a:srgbClr val="16323A"/>
                          </a:solidFill>
                          <a:latin typeface="Calibri"/>
                          <a:ea typeface="Calibri"/>
                          <a:cs typeface="Calibri"/>
                        </a:rPr>
                        <a:t>Verification and sources</a:t>
                      </a:r>
                    </a:p>
                  </a:txBody>
                  <a:tcPr marL="133350" marR="133350" marT="76200" marB="76200" anchor="ctr">
                    <a:solidFill>
                      <a:srgbClr val="FFFFFF"/>
                    </a:solidFill>
                  </a:tcPr>
                </a:tc>
                <a:tc>
                  <a:txBody>
                    <a:bodyPr wrap="square" lIns="133350" tIns="76200" rIns="133350" bIns="76200">
                      <a:noAutofit/>
                    </a:bodyPr>
                    <a:lstStyle/>
                    <a:p>
                      <a:r>
                        <a:rPr sz="975" b="0">
                          <a:solidFill>
                            <a:srgbClr val="16323A"/>
                          </a:solidFill>
                          <a:latin typeface="Calibri"/>
                          <a:ea typeface="Calibri"/>
                          <a:cs typeface="Calibri"/>
                        </a:rPr>
                        <a:t>5</a:t>
                      </a:r>
                    </a:p>
                  </a:txBody>
                  <a:tcPr marL="133350" marR="133350" marT="76200" marB="76200" anchor="ctr">
                    <a:solidFill>
                      <a:srgbClr val="FFFFFF"/>
                    </a:solidFill>
                  </a:tcPr>
                </a:tc>
                <a:tc>
                  <a:txBody>
                    <a:bodyPr wrap="square" lIns="133350" tIns="76200" rIns="133350" bIns="76200">
                      <a:noAutofit/>
                    </a:bodyPr>
                    <a:lstStyle/>
                    <a:p>
                      <a:r>
                        <a:rPr sz="975" b="0">
                          <a:solidFill>
                            <a:srgbClr val="16323A"/>
                          </a:solidFill>
                          <a:latin typeface="Calibri"/>
                          <a:ea typeface="Calibri"/>
                          <a:cs typeface="Calibri"/>
                        </a:rPr>
                        <a:t>3</a:t>
                      </a:r>
                    </a:p>
                  </a:txBody>
                  <a:tcPr marL="133350" marR="133350" marT="76200" marB="76200" anchor="ctr">
                    <a:solidFill>
                      <a:srgbClr val="FFFFFF"/>
                    </a:solidFill>
                  </a:tcPr>
                </a:tc>
              </a:tr>
              <a:tr h="323850">
                <a:tc>
                  <a:txBody>
                    <a:bodyPr wrap="square" lIns="133350" tIns="76200" rIns="133350" bIns="76200">
                      <a:noAutofit/>
                    </a:bodyPr>
                    <a:lstStyle/>
                    <a:p>
                      <a:r>
                        <a:rPr sz="975" b="0">
                          <a:solidFill>
                            <a:srgbClr val="16323A"/>
                          </a:solidFill>
                          <a:latin typeface="Calibri"/>
                          <a:ea typeface="Calibri"/>
                          <a:cs typeface="Calibri"/>
                        </a:rPr>
                        <a:t>Doctor lookup</a:t>
                      </a:r>
                    </a:p>
                  </a:txBody>
                  <a:tcPr marL="133350" marR="133350" marT="76200" marB="76200" anchor="ctr">
                    <a:solidFill>
                      <a:srgbClr val="FFFFFF"/>
                    </a:solidFill>
                  </a:tcPr>
                </a:tc>
                <a:tc>
                  <a:txBody>
                    <a:bodyPr wrap="square" lIns="133350" tIns="76200" rIns="133350" bIns="76200">
                      <a:noAutofit/>
                    </a:bodyPr>
                    <a:lstStyle/>
                    <a:p>
                      <a:r>
                        <a:rPr sz="975" b="0">
                          <a:solidFill>
                            <a:srgbClr val="16323A"/>
                          </a:solidFill>
                          <a:latin typeface="Calibri"/>
                          <a:ea typeface="Calibri"/>
                          <a:cs typeface="Calibri"/>
                        </a:rPr>
                        <a:t>2</a:t>
                      </a:r>
                    </a:p>
                  </a:txBody>
                  <a:tcPr marL="133350" marR="133350" marT="76200" marB="76200" anchor="ctr">
                    <a:solidFill>
                      <a:srgbClr val="FFFFFF"/>
                    </a:solidFill>
                  </a:tcPr>
                </a:tc>
                <a:tc>
                  <a:txBody>
                    <a:bodyPr wrap="square" lIns="133350" tIns="76200" rIns="133350" bIns="76200">
                      <a:noAutofit/>
                    </a:bodyPr>
                    <a:lstStyle/>
                    <a:p>
                      <a:r>
                        <a:rPr sz="975" b="0">
                          <a:solidFill>
                            <a:srgbClr val="16323A"/>
                          </a:solidFill>
                          <a:latin typeface="Calibri"/>
                          <a:ea typeface="Calibri"/>
                          <a:cs typeface="Calibri"/>
                        </a:rPr>
                        <a:t>1</a:t>
                      </a:r>
                    </a:p>
                  </a:txBody>
                  <a:tcPr marL="133350" marR="133350" marT="76200" marB="76200" anchor="ctr">
                    <a:solidFill>
                      <a:srgbClr val="FFFFFF"/>
                    </a:solidFill>
                  </a:tcPr>
                </a:tc>
              </a:tr>
              <a:tr h="323850">
                <a:tc>
                  <a:txBody>
                    <a:bodyPr wrap="square" lIns="133350" tIns="76200" rIns="133350" bIns="76200">
                      <a:noAutofit/>
                    </a:bodyPr>
                    <a:lstStyle/>
                    <a:p>
                      <a:r>
                        <a:rPr sz="975" b="0">
                          <a:solidFill>
                            <a:srgbClr val="16323A"/>
                          </a:solidFill>
                          <a:latin typeface="Calibri"/>
                          <a:ea typeface="Calibri"/>
                          <a:cs typeface="Calibri"/>
                        </a:rPr>
                        <a:t>Corrections</a:t>
                      </a:r>
                    </a:p>
                  </a:txBody>
                  <a:tcPr marL="133350" marR="133350" marT="76200" marB="76200" anchor="ctr">
                    <a:solidFill>
                      <a:srgbClr val="FFFFFF"/>
                    </a:solidFill>
                  </a:tcPr>
                </a:tc>
                <a:tc>
                  <a:txBody>
                    <a:bodyPr wrap="square" lIns="133350" tIns="76200" rIns="133350" bIns="76200">
                      <a:noAutofit/>
                    </a:bodyPr>
                    <a:lstStyle/>
                    <a:p>
                      <a:r>
                        <a:rPr sz="975" b="0">
                          <a:solidFill>
                            <a:srgbClr val="16323A"/>
                          </a:solidFill>
                          <a:latin typeface="Calibri"/>
                          <a:ea typeface="Calibri"/>
                          <a:cs typeface="Calibri"/>
                        </a:rPr>
                        <a:t>1</a:t>
                      </a:r>
                    </a:p>
                  </a:txBody>
                  <a:tcPr marL="133350" marR="133350" marT="76200" marB="76200" anchor="ctr">
                    <a:solidFill>
                      <a:srgbClr val="FFFFFF"/>
                    </a:solidFill>
                  </a:tcPr>
                </a:tc>
                <a:tc>
                  <a:txBody>
                    <a:bodyPr wrap="square" lIns="133350" tIns="76200" rIns="133350" bIns="76200">
                      <a:noAutofit/>
                    </a:bodyPr>
                    <a:lstStyle/>
                    <a:p>
                      <a:r>
                        <a:rPr sz="975" b="0">
                          <a:solidFill>
                            <a:srgbClr val="16323A"/>
                          </a:solidFill>
                          <a:latin typeface="Calibri"/>
                          <a:ea typeface="Calibri"/>
                          <a:cs typeface="Calibri"/>
                        </a:rPr>
                        <a:t>1</a:t>
                      </a:r>
                    </a:p>
                  </a:txBody>
                  <a:tcPr marL="133350" marR="133350" marT="76200" marB="76200" anchor="ctr">
                    <a:solidFill>
                      <a:srgbClr val="FFFFFF"/>
                    </a:solidFill>
                  </a:tcPr>
                </a:tc>
              </a:tr>
              <a:tr h="323850">
                <a:tc>
                  <a:txBody>
                    <a:bodyPr wrap="square" lIns="133350" tIns="76200" rIns="133350" bIns="76200">
                      <a:noAutofit/>
                    </a:bodyPr>
                    <a:lstStyle/>
                    <a:p>
                      <a:r>
                        <a:rPr sz="975" b="1">
                          <a:solidFill>
                            <a:srgbClr val="16323A"/>
                          </a:solidFill>
                          <a:latin typeface="Calibri"/>
                          <a:ea typeface="Calibri"/>
                          <a:cs typeface="Calibri"/>
                        </a:rPr>
                        <a:t>Total</a:t>
                      </a:r>
                    </a:p>
                  </a:txBody>
                  <a:tcPr marL="133350" marR="133350" marT="76200" marB="76200" anchor="ctr">
                    <a:solidFill>
                      <a:srgbClr val="E8F3F4"/>
                    </a:solidFill>
                  </a:tcPr>
                </a:tc>
                <a:tc>
                  <a:txBody>
                    <a:bodyPr wrap="square" lIns="133350" tIns="76200" rIns="133350" bIns="76200">
                      <a:noAutofit/>
                    </a:bodyPr>
                    <a:lstStyle/>
                    <a:p>
                      <a:r>
                        <a:rPr sz="975" b="1">
                          <a:solidFill>
                            <a:srgbClr val="16323A"/>
                          </a:solidFill>
                          <a:latin typeface="Calibri"/>
                          <a:ea typeface="Calibri"/>
                          <a:cs typeface="Calibri"/>
                        </a:rPr>
                        <a:t>10</a:t>
                      </a:r>
                    </a:p>
                  </a:txBody>
                  <a:tcPr marL="133350" marR="133350" marT="76200" marB="76200" anchor="ctr">
                    <a:solidFill>
                      <a:srgbClr val="E8F3F4"/>
                    </a:solidFill>
                  </a:tcPr>
                </a:tc>
                <a:tc>
                  <a:txBody>
                    <a:bodyPr wrap="square" lIns="133350" tIns="76200" rIns="133350" bIns="76200">
                      <a:noAutofit/>
                    </a:bodyPr>
                    <a:lstStyle/>
                    <a:p>
                      <a:r>
                        <a:rPr sz="975" b="1">
                          <a:solidFill>
                            <a:srgbClr val="16323A"/>
                          </a:solidFill>
                          <a:latin typeface="Calibri"/>
                          <a:ea typeface="Calibri"/>
                          <a:cs typeface="Calibri"/>
                        </a:rPr>
                        <a:t>6</a:t>
                      </a:r>
                    </a:p>
                  </a:txBody>
                  <a:tcPr marL="133350" marR="133350" marT="76200" marB="76200" anchor="ctr">
                    <a:solidFill>
                      <a:srgbClr val="E8F3F4"/>
                    </a:solidFill>
                  </a:tcPr>
                </a:tc>
              </a:tr>
            </a:tbl>
          </a:graphicData>
        </a:graphic>
      </p:graphicFrame>
      <p:sp>
        <p:nvSpPr>
          <p:cNvPr id="9" name="Test plan panel">
            <a:extLst xmlns:a="http://schemas.openxmlformats.org/drawingml/2006/main">
              <a:ext uri="{FF2B5EF4-FFF2-40B4-BE49-F238E27FC236}">
                <a16:creationId xmlns:a16="http://schemas.microsoft.com/office/drawing/2014/main" id="{7E170587-2D6A-4C2F-9BE0-0B52E3506C58}"/>
              </a:ext>
            </a:extLst>
          </p:cNvPr>
          <p:cNvSpPr>
            <a:spLocks xmlns:a="http://schemas.openxmlformats.org/drawingml/2006/main" noGrp="1"/>
          </p:cNvSpPr>
          <p:nvPr/>
        </p:nvSpPr>
        <p:spPr>
          <a:xfrm xmlns:a="http://schemas.openxmlformats.org/drawingml/2006/main">
            <a:off x="4787265" y="1390650"/>
            <a:ext cx="3808095" cy="2800350"/>
          </a:xfrm>
          <a:prstGeom xmlns:a="http://schemas.openxmlformats.org/drawingml/2006/main" prst="roundRect">
            <a:avLst>
              <a:gd name="adj" fmla="val 2721"/>
            </a:avLst>
          </a:prstGeom>
          <a:solidFill xmlns:a="http://schemas.openxmlformats.org/drawingml/2006/main">
            <a:srgbClr val="0B3C49"/>
          </a:solidFill>
          <a:ln xmlns:a="http://schemas.openxmlformats.org/drawingml/2006/main" w="0">
            <a:noFill/>
          </a:ln>
        </p:spPr>
        <p:txBody xmlns:a="http://schemas.openxmlformats.org/drawingml/2006/main">
          <a:bodyPr/>
          <a:p/>
        </p:txBody>
      </p:sp>
      <p:sp>
        <p:nvSpPr>
          <p:cNvPr id="10" name="The comparison test">
            <a:extLst xmlns:a="http://schemas.openxmlformats.org/drawingml/2006/main">
              <a:ext uri="{FF2B5EF4-FFF2-40B4-BE49-F238E27FC236}">
                <a16:creationId xmlns:a16="http://schemas.microsoft.com/office/drawing/2014/main" id="{CF66BC38-6E58-4AE9-B4B6-EE607E43CAEA}"/>
              </a:ext>
            </a:extLst>
          </p:cNvPr>
          <p:cNvSpPr>
            <a:spLocks xmlns:a="http://schemas.openxmlformats.org/drawingml/2006/main" noGrp="1"/>
          </p:cNvSpPr>
          <p:nvPr/>
        </p:nvSpPr>
        <p:spPr>
          <a:xfrm xmlns:a="http://schemas.openxmlformats.org/drawingml/2006/main">
            <a:off x="5015865" y="1543050"/>
            <a:ext cx="335089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1">
                <a:solidFill>
                  <a:srgbClr val="FFFFFF"/>
                </a:solidFill>
                <a:latin typeface="Calibri"/>
                <a:ea typeface="Calibri"/>
                <a:cs typeface="Calibri"/>
              </a:defRPr>
            </a:pPr>
            <a:r>
              <a:rPr sz="1575" b="1">
                <a:solidFill>
                  <a:srgbClr val="FFFFFF"/>
                </a:solidFill>
                <a:latin typeface="Calibri"/>
                <a:ea typeface="Calibri"/>
                <a:cs typeface="Calibri"/>
              </a:rPr>
              <a:t>The comparison test</a:t>
            </a:r>
          </a:p>
        </p:txBody>
      </p:sp>
      <p:sp>
        <p:nvSpPr>
          <p:cNvPr id="11" name="30 unseen synthetic histories. Use ">
            <a:extLst xmlns:a="http://schemas.openxmlformats.org/drawingml/2006/main">
              <a:ext uri="{FF2B5EF4-FFF2-40B4-BE49-F238E27FC236}">
                <a16:creationId xmlns:a16="http://schemas.microsoft.com/office/drawing/2014/main" id="{7AE673E1-4987-45B0-8496-6002B20C7EC2}"/>
              </a:ext>
            </a:extLst>
          </p:cNvPr>
          <p:cNvSpPr>
            <a:spLocks xmlns:a="http://schemas.openxmlformats.org/drawingml/2006/main" noGrp="1"/>
          </p:cNvSpPr>
          <p:nvPr/>
        </p:nvSpPr>
        <p:spPr>
          <a:xfrm xmlns:a="http://schemas.openxmlformats.org/drawingml/2006/main">
            <a:off x="5015865" y="1933575"/>
            <a:ext cx="335089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FFFFFF"/>
                </a:solidFill>
                <a:latin typeface="Calibri"/>
                <a:ea typeface="Calibri"/>
                <a:cs typeface="Calibri"/>
              </a:defRPr>
            </a:pPr>
            <a:r>
              <a:rPr sz="1050" b="0">
                <a:solidFill>
                  <a:srgbClr val="FFFFFF"/>
                </a:solidFill>
                <a:latin typeface="Calibri"/>
                <a:ea typeface="Calibri"/>
                <a:cs typeface="Calibri"/>
              </a:rPr>
              <a:t>30 unseen synthetic histories. Use the same reports in both workflows. Test first and return visits separately.</a:t>
            </a:r>
          </a:p>
        </p:txBody>
      </p:sp>
      <p:sp>
        <p:nvSpPr>
          <p:cNvPr id="12" name="Use separate participants and balan">
            <a:extLst xmlns:a="http://schemas.openxmlformats.org/drawingml/2006/main">
              <a:ext uri="{FF2B5EF4-FFF2-40B4-BE49-F238E27FC236}">
                <a16:creationId xmlns:a16="http://schemas.microsoft.com/office/drawing/2014/main" id="{CAB66D2E-2F3F-4261-8C15-4C8EBF22928B}"/>
              </a:ext>
            </a:extLst>
          </p:cNvPr>
          <p:cNvSpPr>
            <a:spLocks xmlns:a="http://schemas.openxmlformats.org/drawingml/2006/main" noGrp="1"/>
          </p:cNvSpPr>
          <p:nvPr/>
        </p:nvSpPr>
        <p:spPr>
          <a:xfrm xmlns:a="http://schemas.openxmlformats.org/drawingml/2006/main">
            <a:off x="5015865" y="2533650"/>
            <a:ext cx="335089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FFFFFF"/>
                </a:solidFill>
                <a:latin typeface="Calibri"/>
                <a:ea typeface="Calibri"/>
                <a:cs typeface="Calibri"/>
              </a:defRPr>
            </a:pPr>
            <a:r>
              <a:rPr sz="1050" b="0">
                <a:solidFill>
                  <a:srgbClr val="FFFFFF"/>
                </a:solidFill>
                <a:latin typeface="Calibri"/>
                <a:ea typeface="Calibri"/>
                <a:cs typeface="Calibri"/>
              </a:rPr>
              <a:t>Use separate participants and balanced task order. Sum time across all roles, including corrections and failed extraction.</a:t>
            </a:r>
          </a:p>
        </p:txBody>
      </p:sp>
      <p:sp>
        <p:nvSpPr>
          <p:cNvPr id="13" name="Independent reference: patient, tes">
            <a:extLst xmlns:a="http://schemas.openxmlformats.org/drawingml/2006/main">
              <a:ext uri="{FF2B5EF4-FFF2-40B4-BE49-F238E27FC236}">
                <a16:creationId xmlns:a16="http://schemas.microsoft.com/office/drawing/2014/main" id="{491EC297-5BBC-4A1E-A2C8-F500B6752FE4}"/>
              </a:ext>
            </a:extLst>
          </p:cNvPr>
          <p:cNvSpPr>
            <a:spLocks xmlns:a="http://schemas.openxmlformats.org/drawingml/2006/main" noGrp="1"/>
          </p:cNvSpPr>
          <p:nvPr/>
        </p:nvSpPr>
        <p:spPr>
          <a:xfrm xmlns:a="http://schemas.openxmlformats.org/drawingml/2006/main">
            <a:off x="5015865" y="3114675"/>
            <a:ext cx="335089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0">
                <a:solidFill>
                  <a:srgbClr val="FFFFFF"/>
                </a:solidFill>
                <a:latin typeface="Calibri"/>
                <a:ea typeface="Calibri"/>
                <a:cs typeface="Calibri"/>
              </a:defRPr>
            </a:pPr>
            <a:r>
              <a:rPr sz="1050" b="0">
                <a:solidFill>
                  <a:srgbClr val="FFFFFF"/>
                </a:solidFill>
                <a:latin typeface="Calibri"/>
                <a:ea typeface="Calibri"/>
                <a:cs typeface="Calibri"/>
              </a:rPr>
              <a:t>Independent reference: patient, test, date, value and unit. Score precision and recall. Report identity, date and unit errors separately.</a:t>
            </a:r>
          </a:p>
        </p:txBody>
      </p:sp>
      <p:sp>
        <p:nvSpPr>
          <p:cNvPr id="14" name="Gate: at least 30% less median retu">
            <a:extLst xmlns:a="http://schemas.openxmlformats.org/drawingml/2006/main">
              <a:ext uri="{FF2B5EF4-FFF2-40B4-BE49-F238E27FC236}">
                <a16:creationId xmlns:a16="http://schemas.microsoft.com/office/drawing/2014/main" id="{528FA122-F4B2-41E1-B24C-546BB71DFF05}"/>
              </a:ext>
            </a:extLst>
          </p:cNvPr>
          <p:cNvSpPr>
            <a:spLocks xmlns:a="http://schemas.openxmlformats.org/drawingml/2006/main" noGrp="1"/>
          </p:cNvSpPr>
          <p:nvPr/>
        </p:nvSpPr>
        <p:spPr>
          <a:xfrm xmlns:a="http://schemas.openxmlformats.org/drawingml/2006/main">
            <a:off x="5015865" y="3724275"/>
            <a:ext cx="335089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1">
                <a:solidFill>
                  <a:srgbClr val="FFFFFF"/>
                </a:solidFill>
                <a:latin typeface="Calibri"/>
                <a:ea typeface="Calibri"/>
                <a:cs typeface="Calibri"/>
              </a:defRPr>
            </a:pPr>
            <a:r>
              <a:rPr sz="975" b="1">
                <a:solidFill>
                  <a:srgbClr val="FFFFFF"/>
                </a:solidFill>
                <a:latin typeface="Calibri"/>
                <a:ea typeface="Calibri"/>
                <a:cs typeface="Calibri"/>
              </a:rPr>
              <a:t>Gate: at least 30% less median return time, with no worse precision or recall. Identity conflicts block release.</a:t>
            </a:r>
          </a:p>
        </p:txBody>
      </p:sp>
      <p:sp>
        <p:nvSpPr>
          <p:cNvPr id="15" name="First patient intake: 12 min vs 10 ">
            <a:extLst xmlns:a="http://schemas.openxmlformats.org/drawingml/2006/main">
              <a:ext uri="{FF2B5EF4-FFF2-40B4-BE49-F238E27FC236}">
                <a16:creationId xmlns:a16="http://schemas.microsoft.com/office/drawing/2014/main" id="{F046674B-B616-41D1-8982-11C1744E78B5}"/>
              </a:ext>
            </a:extLst>
          </p:cNvPr>
          <p:cNvSpPr>
            <a:spLocks xmlns:a="http://schemas.openxmlformats.org/drawingml/2006/main" noGrp="1"/>
          </p:cNvSpPr>
          <p:nvPr/>
        </p:nvSpPr>
        <p:spPr>
          <a:xfrm xmlns:a="http://schemas.openxmlformats.org/drawingml/2006/main">
            <a:off x="548640" y="4667250"/>
            <a:ext cx="804672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5B7A82"/>
                </a:solidFill>
                <a:latin typeface="Calibri"/>
                <a:ea typeface="Calibri"/>
                <a:cs typeface="Calibri"/>
              </a:defRPr>
            </a:pPr>
            <a:r>
              <a:rPr sz="975" b="0">
                <a:solidFill>
                  <a:srgbClr val="5B7A82"/>
                </a:solidFill>
                <a:latin typeface="Calibri"/>
                <a:ea typeface="Calibri"/>
                <a:cs typeface="Calibri"/>
              </a:rPr>
              <a:t>First intake: Glucoflow 12 min vs manual 10 min. One return visit offsets the assumed 2-minute setup penalty.</a:t>
            </a:r>
          </a:p>
        </p:txBody>
      </p:sp>
      <p:sp>
        <p:nvSpPr>
          <p:cNvPr id="16" name="Proposed evaluation. No measured sa">
            <a:extLst xmlns:a="http://schemas.openxmlformats.org/drawingml/2006/main">
              <a:ext uri="{FF2B5EF4-FFF2-40B4-BE49-F238E27FC236}">
                <a16:creationId xmlns:a16="http://schemas.microsoft.com/office/drawing/2014/main" id="{19C67CE2-CC23-4436-8265-6AA76456815C}"/>
              </a:ext>
            </a:extLst>
          </p:cNvPr>
          <p:cNvSpPr>
            <a:spLocks xmlns:a="http://schemas.openxmlformats.org/drawingml/2006/main" noGrp="1"/>
          </p:cNvSpPr>
          <p:nvPr/>
        </p:nvSpPr>
        <p:spPr>
          <a:xfrm xmlns:a="http://schemas.openxmlformats.org/drawingml/2006/main">
            <a:off x="548640" y="4933950"/>
            <a:ext cx="804672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825" b="0">
                <a:solidFill>
                  <a:srgbClr val="5B7A82"/>
                </a:solidFill>
                <a:latin typeface="Calibri"/>
                <a:ea typeface="Calibri"/>
                <a:cs typeface="Calibri"/>
              </a:defRPr>
            </a:pPr>
            <a:r>
              <a:rPr sz="825" b="0">
                <a:solidFill>
                  <a:srgbClr val="5B7A82"/>
                </a:solidFill>
                <a:latin typeface="Calibri"/>
                <a:ea typeface="Calibri"/>
                <a:cs typeface="Calibri"/>
              </a:rPr>
              <a:t>Evaluation designed and extraction accuracy measured on synthetic corpora. No time savings measured yet. Reviewer time is included. Existing extraction and trend tools: Eka Care Smart Report.</a:t>
            </a:r>
          </a:p>
        </p:txBody>
      </p:sp>
      <p:sp>
        <p:nvSpPr>
          <p:cNvPr id="17" name="Illustrative clinic day: 20 return ">
            <a:extLst xmlns:a="http://schemas.openxmlformats.org/drawingml/2006/main">
              <a:ext uri="{FF2B5EF4-FFF2-40B4-BE49-F238E27FC236}">
                <a16:creationId xmlns:a16="http://schemas.microsoft.com/office/drawing/2014/main" id="{1B47E09B-5BAD-45D6-A591-EB85FCAF029E}"/>
              </a:ext>
            </a:extLst>
          </p:cNvPr>
          <p:cNvSpPr>
            <a:spLocks xmlns:a="http://schemas.openxmlformats.org/drawingml/2006/main" noGrp="1"/>
          </p:cNvSpPr>
          <p:nvPr/>
        </p:nvSpPr>
        <p:spPr>
          <a:xfrm xmlns:a="http://schemas.openxmlformats.org/drawingml/2006/main">
            <a:off x="548640" y="4410075"/>
            <a:ext cx="804672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12606F"/>
                </a:solidFill>
                <a:latin typeface="Calibri"/>
                <a:ea typeface="Calibri"/>
                <a:cs typeface="Calibri"/>
              </a:defRPr>
            </a:pPr>
            <a:r>
              <a:rPr sz="1050" b="1">
                <a:solidFill>
                  <a:srgbClr val="12606F"/>
                </a:solidFill>
                <a:latin typeface="Calibri"/>
                <a:ea typeface="Calibri"/>
                <a:cs typeface="Calibri"/>
              </a:rPr>
              <a:t>Illustrative clinic day: 20 return visits × 4 minutes = 80 minutes saved across staff and doctor roles.</a:t>
            </a:r>
          </a:p>
        </p:txBody>
      </p:sp>
    </p:spTree>
    <p:extLst>
      <p:ext uri="{BB962C8B-B14F-4D97-AF65-F5344CB8AC3E}">
        <p14:creationId xmlns:p14="http://schemas.microsoft.com/office/powerpoint/2010/main" val="1633821045"/>
      </p:ext>
    </p:extLst>
  </p:cSld>
</p:sld>
</file>

<file path=ppt/slides/slide8.xml><?xml version="1.0" encoding="utf-8"?>
<p:sld xmlns:p="http://schemas.openxmlformats.org/presentationml/2006/main">
  <p:cSld>
    <p:bg>
      <p:bgPr>
        <a:solidFill xmlns:a="http://schemas.openxmlformats.org/drawingml/2006/main">
          <a:srgbClr val="0B3C49"/>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27416AD-7247-409E-ACA2-E06968F3A385}"/>
              </a:ext>
            </a:extLst>
          </p:cNvPr>
          <p:cNvSpPr>
            <a:spLocks xmlns:a="http://schemas.openxmlformats.org/drawingml/2006/main" noGrp="1"/>
          </p:cNvSpPr>
          <p:nvPr/>
        </p:nvSpPr>
        <p:spPr>
          <a:xfrm xmlns:a="http://schemas.openxmlformats.org/drawingml/2006/main">
            <a:off x="548640" y="320040"/>
            <a:ext cx="804672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FFFFFF"/>
                </a:solidFill>
                <a:latin typeface="Cambria"/>
                <a:ea typeface="Cambria"/>
                <a:cs typeface="Cambria"/>
              </a:rPr>
              <a:t>The first build and clinic pilot</a:t>
            </a:r>
            <a:endParaRPr sz="3000"/>
          </a:p>
        </p:txBody>
      </p:sp>
      <p:sp>
        <p:nvSpPr>
          <p:cNvPr id="3" name="Shape 1">
            <a:extLst xmlns:a="http://schemas.openxmlformats.org/drawingml/2006/main">
              <a:ext uri="{FF2B5EF4-FFF2-40B4-BE49-F238E27FC236}">
                <a16:creationId xmlns:a16="http://schemas.microsoft.com/office/drawing/2014/main" id="{CBE957DC-7EE6-4A4D-A822-AEDA9014DBD8}"/>
              </a:ext>
            </a:extLst>
          </p:cNvPr>
          <p:cNvSpPr>
            <a:spLocks xmlns:a="http://schemas.openxmlformats.org/drawingml/2006/main" noGrp="1"/>
          </p:cNvSpPr>
          <p:nvPr/>
        </p:nvSpPr>
        <p:spPr>
          <a:xfrm xmlns:a="http://schemas.openxmlformats.org/drawingml/2006/main">
            <a:off x="548640" y="1280160"/>
            <a:ext cx="2560320" cy="2926080"/>
          </a:xfrm>
          <a:prstGeom xmlns:a="http://schemas.openxmlformats.org/drawingml/2006/main" prst="roundRect">
            <a:avLst>
              <a:gd name="adj" fmla="val 4286"/>
            </a:avLst>
          </a:prstGeom>
          <a:solidFill xmlns:a="http://schemas.openxmlformats.org/drawingml/2006/main">
            <a:srgbClr val="12606F"/>
          </a:solidFill>
          <a:ln xmlns:a="http://schemas.openxmlformats.org/drawingml/2006/main" w="12700">
            <a:solidFill>
              <a:srgbClr val="12606F"/>
            </a:solidFill>
            <a:prstDash val="solid"/>
          </a:ln>
        </p:spPr>
        <p:txBody xmlns:a="http://schemas.openxmlformats.org/drawingml/2006/main">
          <a:bodyPr/>
          <a:p/>
        </p:txBody>
      </p:sp>
      <p:sp>
        <p:nvSpPr>
          <p:cNvPr id="4" name="Shape 2">
            <a:extLst xmlns:a="http://schemas.openxmlformats.org/drawingml/2006/main">
              <a:ext uri="{FF2B5EF4-FFF2-40B4-BE49-F238E27FC236}">
                <a16:creationId xmlns:a16="http://schemas.microsoft.com/office/drawing/2014/main" id="{FD35F7ED-7DC1-4DEA-9920-6CA17CB1806F}"/>
              </a:ext>
            </a:extLst>
          </p:cNvPr>
          <p:cNvSpPr>
            <a:spLocks xmlns:a="http://schemas.openxmlformats.org/drawingml/2006/main" noGrp="1"/>
          </p:cNvSpPr>
          <p:nvPr/>
        </p:nvSpPr>
        <p:spPr>
          <a:xfrm xmlns:a="http://schemas.openxmlformats.org/drawingml/2006/main">
            <a:off x="777240" y="1508760"/>
            <a:ext cx="640080" cy="640080"/>
          </a:xfrm>
          <a:prstGeom xmlns:a="http://schemas.openxmlformats.org/drawingml/2006/main" prst="ellipse">
            <a:avLst/>
          </a:prstGeom>
          <a:solidFill xmlns:a="http://schemas.openxmlformats.org/drawingml/2006/main">
            <a:srgbClr val="F2A541"/>
          </a:solidFill>
          <a:ln xmlns:a="http://schemas.openxmlformats.org/drawingml/2006/main" w="12700">
            <a:solidFill>
              <a:srgbClr val="F2A541"/>
            </a:solidFill>
            <a:prstDash val="solid"/>
          </a:ln>
        </p:spPr>
        <p:txBody xmlns:a="http://schemas.openxmlformats.org/drawingml/2006/main">
          <a:bodyPr/>
          <a:p/>
        </p:txBody>
      </p:sp>
      <p:pic>
        <p:nvPicPr>
          <p:cNvPr id="28" name="Image 0"/>
          <p:cNvPicPr>
            <a:picLocks xmlns:a="http://schemas.openxmlformats.org/drawingml/2006/main" noChangeAspect="1"/>
          </p:cNvPicPr>
          <p:nvPr/>
        </p:nvPicPr>
        <p:blipFill>
          <a:blip xmlns:r="http://schemas.openxmlformats.org/officeDocument/2006/relationships" xmlns:a="http://schemas.openxmlformats.org/drawingml/2006/main" r:embed="R6e263adcde9242f5"/>
          <a:stretch xmlns:a="http://schemas.openxmlformats.org/drawingml/2006/main">
            <a:fillRect l="0" t="0" r="0" b="0"/>
          </a:stretch>
        </p:blipFill>
        <p:spPr>
          <a:xfrm xmlns:a="http://schemas.openxmlformats.org/drawingml/2006/main">
            <a:off x="937260" y="1668780"/>
            <a:ext cx="320040" cy="320040"/>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BACA86BD-B19A-4687-9887-353543897F92}"/>
              </a:ext>
            </a:extLst>
          </p:cNvPr>
          <p:cNvSpPr>
            <a:spLocks xmlns:a="http://schemas.openxmlformats.org/drawingml/2006/main" noGrp="1"/>
          </p:cNvSpPr>
          <p:nvPr/>
        </p:nvSpPr>
        <p:spPr>
          <a:xfrm xmlns:a="http://schemas.openxmlformats.org/drawingml/2006/main">
            <a:off x="777240" y="2331720"/>
            <a:ext cx="21488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700" b="1">
                <a:solidFill>
                  <a:srgbClr val="FFFFFF"/>
                </a:solidFill>
                <a:latin typeface="Cambria"/>
                <a:ea typeface="Cambria"/>
                <a:cs typeface="Cambria"/>
              </a:rPr>
              <a:t>Clinic use</a:t>
            </a:r>
            <a:endParaRPr sz="1700"/>
          </a:p>
        </p:txBody>
      </p:sp>
      <p:sp>
        <p:nvSpPr>
          <p:cNvPr id="7" name="Text 4">
            <a:extLst xmlns:a="http://schemas.openxmlformats.org/drawingml/2006/main">
              <a:ext uri="{FF2B5EF4-FFF2-40B4-BE49-F238E27FC236}">
                <a16:creationId xmlns:a16="http://schemas.microsoft.com/office/drawing/2014/main" id="{BBA63049-5D03-41E6-9050-8D42B52CCE0F}"/>
              </a:ext>
            </a:extLst>
          </p:cNvPr>
          <p:cNvSpPr>
            <a:spLocks xmlns:a="http://schemas.openxmlformats.org/drawingml/2006/main" noGrp="1"/>
          </p:cNvSpPr>
          <p:nvPr/>
        </p:nvSpPr>
        <p:spPr>
          <a:xfrm xmlns:a="http://schemas.openxmlformats.org/drawingml/2006/main">
            <a:off x="777240" y="2926080"/>
            <a:ext cx="2148840"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sz="1125"/>
            </a:pPr>
            <a:r>
              <a:rPr sz="1125">
                <a:solidFill>
                  <a:srgbClr val="DDEBEC"/>
                </a:solidFill>
                <a:latin typeface="Calibri"/>
                <a:ea typeface="Calibri"/>
                <a:cs typeface="Calibri"/>
              </a:rPr>
              <a:t>Patients upload and add notes.
Staff review source facts.
Doctors explore dated history.
Buyer: clinic owner or operations lead.
Test pricing in the pilot.</a:t>
            </a:r>
            <a:endParaRPr sz="1300"/>
          </a:p>
        </p:txBody>
      </p:sp>
      <p:sp>
        <p:nvSpPr>
          <p:cNvPr id="8" name="Shape 5">
            <a:extLst xmlns:a="http://schemas.openxmlformats.org/drawingml/2006/main">
              <a:ext uri="{FF2B5EF4-FFF2-40B4-BE49-F238E27FC236}">
                <a16:creationId xmlns:a16="http://schemas.microsoft.com/office/drawing/2014/main" id="{A2D2819C-6FC6-413A-99F2-7C5C37025E89}"/>
              </a:ext>
            </a:extLst>
          </p:cNvPr>
          <p:cNvSpPr>
            <a:spLocks xmlns:a="http://schemas.openxmlformats.org/drawingml/2006/main" noGrp="1"/>
          </p:cNvSpPr>
          <p:nvPr/>
        </p:nvSpPr>
        <p:spPr>
          <a:xfrm xmlns:a="http://schemas.openxmlformats.org/drawingml/2006/main">
            <a:off x="3291840" y="1280160"/>
            <a:ext cx="2560320" cy="2926080"/>
          </a:xfrm>
          <a:prstGeom xmlns:a="http://schemas.openxmlformats.org/drawingml/2006/main" prst="roundRect">
            <a:avLst>
              <a:gd name="adj" fmla="val 4286"/>
            </a:avLst>
          </a:prstGeom>
          <a:solidFill xmlns:a="http://schemas.openxmlformats.org/drawingml/2006/main">
            <a:srgbClr val="12606F"/>
          </a:solidFill>
          <a:ln xmlns:a="http://schemas.openxmlformats.org/drawingml/2006/main" w="12700">
            <a:solidFill>
              <a:srgbClr val="12606F"/>
            </a:solidFill>
            <a:prstDash val="solid"/>
          </a:ln>
        </p:spPr>
        <p:txBody xmlns:a="http://schemas.openxmlformats.org/drawingml/2006/main">
          <a:bodyPr/>
          <a:p/>
        </p:txBody>
      </p:sp>
      <p:sp>
        <p:nvSpPr>
          <p:cNvPr id="9" name="Shape 6">
            <a:extLst xmlns:a="http://schemas.openxmlformats.org/drawingml/2006/main">
              <a:ext uri="{FF2B5EF4-FFF2-40B4-BE49-F238E27FC236}">
                <a16:creationId xmlns:a16="http://schemas.microsoft.com/office/drawing/2014/main" id="{9E5A0B6D-A78D-4FD4-BED0-5630FAA49318}"/>
              </a:ext>
            </a:extLst>
          </p:cNvPr>
          <p:cNvSpPr>
            <a:spLocks xmlns:a="http://schemas.openxmlformats.org/drawingml/2006/main" noGrp="1"/>
          </p:cNvSpPr>
          <p:nvPr/>
        </p:nvSpPr>
        <p:spPr>
          <a:xfrm xmlns:a="http://schemas.openxmlformats.org/drawingml/2006/main">
            <a:off x="3520440" y="1508760"/>
            <a:ext cx="640080" cy="640080"/>
          </a:xfrm>
          <a:prstGeom xmlns:a="http://schemas.openxmlformats.org/drawingml/2006/main" prst="ellipse">
            <a:avLst/>
          </a:prstGeom>
          <a:solidFill xmlns:a="http://schemas.openxmlformats.org/drawingml/2006/main">
            <a:srgbClr val="F2A541"/>
          </a:solidFill>
          <a:ln xmlns:a="http://schemas.openxmlformats.org/drawingml/2006/main" w="12700">
            <a:solidFill>
              <a:srgbClr val="F2A541"/>
            </a:solidFill>
            <a:prstDash val="solid"/>
          </a:ln>
        </p:spPr>
        <p:txBody xmlns:a="http://schemas.openxmlformats.org/drawingml/2006/main">
          <a:bodyPr/>
          <a:p/>
        </p:txBody>
      </p:sp>
      <p:pic>
        <p:nvPicPr>
          <p:cNvPr id="33" name="Image 1"/>
          <p:cNvPicPr>
            <a:picLocks xmlns:a="http://schemas.openxmlformats.org/drawingml/2006/main" noChangeAspect="1"/>
          </p:cNvPicPr>
          <p:nvPr/>
        </p:nvPicPr>
        <p:blipFill>
          <a:blip xmlns:r="http://schemas.openxmlformats.org/officeDocument/2006/relationships" xmlns:a="http://schemas.openxmlformats.org/drawingml/2006/main" r:embed="R314a821ef8504953"/>
          <a:stretch xmlns:a="http://schemas.openxmlformats.org/drawingml/2006/main">
            <a:fillRect l="0" t="0" r="0" b="0"/>
          </a:stretch>
        </p:blipFill>
        <p:spPr>
          <a:xfrm xmlns:a="http://schemas.openxmlformats.org/drawingml/2006/main">
            <a:off x="3680460" y="1668780"/>
            <a:ext cx="320040" cy="320040"/>
          </a:xfrm>
          <a:prstGeom xmlns:a="http://schemas.openxmlformats.org/drawingml/2006/main" prst="rect">
            <a:avLst/>
          </a:prstGeom>
        </p:spPr>
      </p:pic>
      <p:sp>
        <p:nvSpPr>
          <p:cNvPr id="11" name="Text 7">
            <a:extLst xmlns:a="http://schemas.openxmlformats.org/drawingml/2006/main">
              <a:ext uri="{FF2B5EF4-FFF2-40B4-BE49-F238E27FC236}">
                <a16:creationId xmlns:a16="http://schemas.microsoft.com/office/drawing/2014/main" id="{FF7C1582-B592-4C5B-8F95-4C3C5D36D775}"/>
              </a:ext>
            </a:extLst>
          </p:cNvPr>
          <p:cNvSpPr>
            <a:spLocks xmlns:a="http://schemas.openxmlformats.org/drawingml/2006/main" noGrp="1"/>
          </p:cNvSpPr>
          <p:nvPr/>
        </p:nvSpPr>
        <p:spPr>
          <a:xfrm xmlns:a="http://schemas.openxmlformats.org/drawingml/2006/main">
            <a:off x="3520440" y="2331720"/>
            <a:ext cx="21488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700" b="1">
                <a:solidFill>
                  <a:srgbClr val="FFFFFF"/>
                </a:solidFill>
                <a:latin typeface="Cambria"/>
                <a:ea typeface="Cambria"/>
                <a:cs typeface="Cambria"/>
              </a:rPr>
              <a:t>First build</a:t>
            </a:r>
            <a:endParaRPr sz="1700"/>
          </a:p>
        </p:txBody>
      </p:sp>
      <p:sp>
        <p:nvSpPr>
          <p:cNvPr id="12" name="Text 8">
            <a:extLst xmlns:a="http://schemas.openxmlformats.org/drawingml/2006/main">
              <a:ext uri="{FF2B5EF4-FFF2-40B4-BE49-F238E27FC236}">
                <a16:creationId xmlns:a16="http://schemas.microsoft.com/office/drawing/2014/main" id="{68AB7014-61A4-400E-9738-47C456F93261}"/>
              </a:ext>
            </a:extLst>
          </p:cNvPr>
          <p:cNvSpPr>
            <a:spLocks xmlns:a="http://schemas.openxmlformats.org/drawingml/2006/main" noGrp="1"/>
          </p:cNvSpPr>
          <p:nvPr/>
        </p:nvSpPr>
        <p:spPr>
          <a:xfrm xmlns:a="http://schemas.openxmlformats.org/drawingml/2006/main">
            <a:off x="3520440" y="2926080"/>
            <a:ext cx="2148840"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sz="1050"/>
            </a:pPr>
            <a:r>
              <a:rPr sz="1050">
                <a:solidFill>
                  <a:srgbClr val="DDEBEC"/>
                </a:solidFill>
                <a:latin typeface="Calibri"/>
                <a:ea typeface="Calibri"/>
                <a:cs typeface="Calibri"/>
              </a:rPr>
              <a:t>Web and Android
Patient and clinic accounts.
Upload, review and approve.
Explore progression and notes.
Search reports and open sources.
Save history and export.
Built and verified locally.</a:t>
            </a:r>
            <a:endParaRPr sz="1300"/>
          </a:p>
        </p:txBody>
      </p:sp>
      <p:sp>
        <p:nvSpPr>
          <p:cNvPr id="13" name="Shape 9">
            <a:extLst xmlns:a="http://schemas.openxmlformats.org/drawingml/2006/main">
              <a:ext uri="{FF2B5EF4-FFF2-40B4-BE49-F238E27FC236}">
                <a16:creationId xmlns:a16="http://schemas.microsoft.com/office/drawing/2014/main" id="{0336F29A-FD4A-43F1-8B40-F18F108843C5}"/>
              </a:ext>
            </a:extLst>
          </p:cNvPr>
          <p:cNvSpPr>
            <a:spLocks xmlns:a="http://schemas.openxmlformats.org/drawingml/2006/main" noGrp="1"/>
          </p:cNvSpPr>
          <p:nvPr/>
        </p:nvSpPr>
        <p:spPr>
          <a:xfrm xmlns:a="http://schemas.openxmlformats.org/drawingml/2006/main">
            <a:off x="6035040" y="1280160"/>
            <a:ext cx="2560320" cy="2926080"/>
          </a:xfrm>
          <a:prstGeom xmlns:a="http://schemas.openxmlformats.org/drawingml/2006/main" prst="roundRect">
            <a:avLst>
              <a:gd name="adj" fmla="val 4286"/>
            </a:avLst>
          </a:prstGeom>
          <a:solidFill xmlns:a="http://schemas.openxmlformats.org/drawingml/2006/main">
            <a:srgbClr val="12606F"/>
          </a:solidFill>
          <a:ln xmlns:a="http://schemas.openxmlformats.org/drawingml/2006/main" w="12700">
            <a:solidFill>
              <a:srgbClr val="12606F"/>
            </a:solidFill>
            <a:prstDash val="solid"/>
          </a:ln>
        </p:spPr>
        <p:txBody xmlns:a="http://schemas.openxmlformats.org/drawingml/2006/main">
          <a:bodyPr/>
          <a:p/>
        </p:txBody>
      </p:sp>
      <p:sp>
        <p:nvSpPr>
          <p:cNvPr id="14" name="Shape 10">
            <a:extLst xmlns:a="http://schemas.openxmlformats.org/drawingml/2006/main">
              <a:ext uri="{FF2B5EF4-FFF2-40B4-BE49-F238E27FC236}">
                <a16:creationId xmlns:a16="http://schemas.microsoft.com/office/drawing/2014/main" id="{07FAD690-A02B-43A1-A603-81432699F58F}"/>
              </a:ext>
            </a:extLst>
          </p:cNvPr>
          <p:cNvSpPr>
            <a:spLocks xmlns:a="http://schemas.openxmlformats.org/drawingml/2006/main" noGrp="1"/>
          </p:cNvSpPr>
          <p:nvPr/>
        </p:nvSpPr>
        <p:spPr>
          <a:xfrm xmlns:a="http://schemas.openxmlformats.org/drawingml/2006/main">
            <a:off x="6263640" y="1508760"/>
            <a:ext cx="640080" cy="640080"/>
          </a:xfrm>
          <a:prstGeom xmlns:a="http://schemas.openxmlformats.org/drawingml/2006/main" prst="ellipse">
            <a:avLst/>
          </a:prstGeom>
          <a:solidFill xmlns:a="http://schemas.openxmlformats.org/drawingml/2006/main">
            <a:srgbClr val="F2A541"/>
          </a:solidFill>
          <a:ln xmlns:a="http://schemas.openxmlformats.org/drawingml/2006/main" w="12700">
            <a:solidFill>
              <a:srgbClr val="F2A541"/>
            </a:solidFill>
            <a:prstDash val="solid"/>
          </a:ln>
        </p:spPr>
        <p:txBody xmlns:a="http://schemas.openxmlformats.org/drawingml/2006/main">
          <a:bodyPr/>
          <a:p/>
        </p:txBody>
      </p:sp>
      <p:pic>
        <p:nvPicPr>
          <p:cNvPr id="38" name="Image 2"/>
          <p:cNvPicPr>
            <a:picLocks xmlns:a="http://schemas.openxmlformats.org/drawingml/2006/main" noChangeAspect="1"/>
          </p:cNvPicPr>
          <p:nvPr/>
        </p:nvPicPr>
        <p:blipFill>
          <a:blip xmlns:r="http://schemas.openxmlformats.org/officeDocument/2006/relationships" xmlns:a="http://schemas.openxmlformats.org/drawingml/2006/main" r:embed="Rcc5666068e05425a"/>
          <a:stretch xmlns:a="http://schemas.openxmlformats.org/drawingml/2006/main">
            <a:fillRect l="0" t="0" r="0" b="0"/>
          </a:stretch>
        </p:blipFill>
        <p:spPr>
          <a:xfrm xmlns:a="http://schemas.openxmlformats.org/drawingml/2006/main">
            <a:off x="6423660" y="1668780"/>
            <a:ext cx="320040" cy="320040"/>
          </a:xfrm>
          <a:prstGeom xmlns:a="http://schemas.openxmlformats.org/drawingml/2006/main" prst="rect">
            <a:avLst/>
          </a:prstGeom>
        </p:spPr>
      </p:pic>
      <p:sp>
        <p:nvSpPr>
          <p:cNvPr id="16" name="Text 11">
            <a:extLst xmlns:a="http://schemas.openxmlformats.org/drawingml/2006/main">
              <a:ext uri="{FF2B5EF4-FFF2-40B4-BE49-F238E27FC236}">
                <a16:creationId xmlns:a16="http://schemas.microsoft.com/office/drawing/2014/main" id="{E34A2534-5926-433D-893C-AB82723ABE19}"/>
              </a:ext>
            </a:extLst>
          </p:cNvPr>
          <p:cNvSpPr>
            <a:spLocks xmlns:a="http://schemas.openxmlformats.org/drawingml/2006/main" noGrp="1"/>
          </p:cNvSpPr>
          <p:nvPr/>
        </p:nvSpPr>
        <p:spPr>
          <a:xfrm xmlns:a="http://schemas.openxmlformats.org/drawingml/2006/main">
            <a:off x="6263640" y="2331720"/>
            <a:ext cx="21488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700" b="1">
                <a:solidFill>
                  <a:srgbClr val="FFFFFF"/>
                </a:solidFill>
                <a:latin typeface="Cambria"/>
                <a:ea typeface="Cambria"/>
                <a:cs typeface="Cambria"/>
              </a:rPr>
              <a:t>Demo and pilot</a:t>
            </a:r>
            <a:endParaRPr sz="1700"/>
          </a:p>
        </p:txBody>
      </p:sp>
      <p:sp>
        <p:nvSpPr>
          <p:cNvPr id="17" name="Text 12">
            <a:extLst xmlns:a="http://schemas.openxmlformats.org/drawingml/2006/main">
              <a:ext uri="{FF2B5EF4-FFF2-40B4-BE49-F238E27FC236}">
                <a16:creationId xmlns:a16="http://schemas.microsoft.com/office/drawing/2014/main" id="{1452E262-E8D1-464D-80BA-2D3C7847579C}"/>
              </a:ext>
            </a:extLst>
          </p:cNvPr>
          <p:cNvSpPr>
            <a:spLocks xmlns:a="http://schemas.openxmlformats.org/drawingml/2006/main" noGrp="1"/>
          </p:cNvSpPr>
          <p:nvPr/>
        </p:nvSpPr>
        <p:spPr>
          <a:xfrm xmlns:a="http://schemas.openxmlformats.org/drawingml/2006/main">
            <a:off x="6263640" y="2926080"/>
            <a:ext cx="2148840"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sz="1050"/>
            </a:pPr>
            <a:r>
              <a:rPr sz="1050">
                <a:solidFill>
                  <a:srgbClr val="DDEBEC"/>
                </a:solidFill>
                <a:latin typeface="Calibri"/>
                <a:ea typeface="Calibri"/>
                <a:cs typeface="Calibri"/>
              </a:rPr>
              <a:t>Synthetic demo
Patient uploads on Android.
Clinic reviews on web or phone.
Explore progression, find a report and export the saved history.
Then measure time and accuracy.</a:t>
            </a:r>
            <a:endParaRPr sz="1300"/>
          </a:p>
        </p:txBody>
      </p:sp>
      <p:sp>
        <p:nvSpPr>
          <p:cNvPr id="18" name="Text 13">
            <a:extLst xmlns:a="http://schemas.openxmlformats.org/drawingml/2006/main">
              <a:ext uri="{FF2B5EF4-FFF2-40B4-BE49-F238E27FC236}">
                <a16:creationId xmlns:a16="http://schemas.microsoft.com/office/drawing/2014/main" id="{BE7CE855-B17F-4CA6-8A40-408C40FC6EFD}"/>
              </a:ext>
            </a:extLst>
          </p:cNvPr>
          <p:cNvSpPr>
            <a:spLocks xmlns:a="http://schemas.openxmlformats.org/drawingml/2006/main" noGrp="1"/>
          </p:cNvSpPr>
          <p:nvPr/>
        </p:nvSpPr>
        <p:spPr>
          <a:xfrm xmlns:a="http://schemas.openxmlformats.org/drawingml/2006/main">
            <a:off x="548640" y="4434840"/>
            <a:ext cx="8046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1200" i="0"/>
            </a:pPr>
            <a:r>
              <a:rPr sz="1200" i="0">
                <a:solidFill>
                  <a:srgbClr val="F2A541"/>
                </a:solidFill>
                <a:latin typeface="Calibri"/>
                <a:ea typeface="Calibri"/>
                <a:cs typeface="Calibri"/>
              </a:rPr>
              <a:t>Next: run the live model, deploy, and time the return visit in a 60–90 day clinic pilot</a:t>
            </a:r>
            <a:endParaRPr sz="1500"/>
          </a:p>
        </p:txBody>
      </p:sp>
      <p:sp>
        <p:nvSpPr>
          <p:cNvPr id="22" name="Sprint: 5 Oct–8 Nov 2026 • healthat">
            <a:extLst xmlns:a="http://schemas.openxmlformats.org/drawingml/2006/main">
              <a:ext uri="{FF2B5EF4-FFF2-40B4-BE49-F238E27FC236}">
                <a16:creationId xmlns:a16="http://schemas.microsoft.com/office/drawing/2014/main" id="{70C5F7F8-13F1-40E6-8166-6EEB45A79721}"/>
              </a:ext>
            </a:extLst>
          </p:cNvPr>
          <p:cNvSpPr>
            <a:spLocks xmlns:a="http://schemas.openxmlformats.org/drawingml/2006/main" noGrp="1"/>
          </p:cNvSpPr>
          <p:nvPr/>
        </p:nvSpPr>
        <p:spPr>
          <a:xfrm xmlns:a="http://schemas.openxmlformats.org/drawingml/2006/main">
            <a:off x="548640" y="4933950"/>
            <a:ext cx="804672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825" b="0">
                <a:solidFill>
                  <a:srgbClr val="CADCDF"/>
                </a:solidFill>
                <a:latin typeface="Calibri"/>
                <a:ea typeface="Calibri"/>
                <a:cs typeface="Calibri"/>
              </a:defRPr>
            </a:pPr>
            <a:r>
              <a:rPr sz="825" b="0">
                <a:solidFill>
                  <a:srgbClr val="CADCDF"/>
                </a:solidFill>
                <a:latin typeface="Calibri"/>
                <a:ea typeface="Calibri"/>
                <a:cs typeface="Calibri"/>
              </a:rPr>
              <a:t>Build sprint: 5 Oct–8 Nov 2026. healthathon.reskilll.com/guide. Working local build; hosted deployment, live model and time savings not yet verified.</a:t>
            </a:r>
          </a:p>
        </p:txBody>
      </p:sp>
      <p:sp>
        <p:nvSpPr>
          <p:cNvPr id="23" name="Pilot still needs: a practicing cli">
            <a:extLst xmlns:a="http://schemas.openxmlformats.org/drawingml/2006/main">
              <a:ext uri="{FF2B5EF4-FFF2-40B4-BE49-F238E27FC236}">
                <a16:creationId xmlns:a16="http://schemas.microsoft.com/office/drawing/2014/main" id="{E67C1D75-0B68-4769-A2D0-5E26AF6E6083}"/>
              </a:ext>
            </a:extLst>
          </p:cNvPr>
          <p:cNvSpPr>
            <a:spLocks xmlns:a="http://schemas.openxmlformats.org/drawingml/2006/main" noGrp="1"/>
          </p:cNvSpPr>
          <p:nvPr/>
        </p:nvSpPr>
        <p:spPr>
          <a:xfrm xmlns:a="http://schemas.openxmlformats.org/drawingml/2006/main">
            <a:off x="548640" y="1028700"/>
            <a:ext cx="804672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CADCDF"/>
                </a:solidFill>
                <a:latin typeface="Calibri"/>
                <a:ea typeface="Calibri"/>
                <a:cs typeface="Calibri"/>
              </a:defRPr>
            </a:pPr>
            <a:r>
              <a:rPr sz="975" b="0">
                <a:solidFill>
                  <a:srgbClr val="CADCDF"/>
                </a:solidFill>
                <a:latin typeface="Calibri"/>
                <a:ea typeface="Calibri"/>
                <a:cs typeface="Calibri"/>
              </a:rPr>
              <a:t>Team details to confirm: practising doctor, technical lead and responsibilities. Clinic pilot access remains pending.</a:t>
            </a:r>
          </a:p>
        </p:txBody>
      </p:sp>
      <p:sp>
        <p:nvSpPr>
          <p:cNvPr id="24" name="Defensibility hypothesis: the clini">
            <a:extLst xmlns:a="http://schemas.openxmlformats.org/drawingml/2006/main">
              <a:ext uri="{FF2B5EF4-FFF2-40B4-BE49-F238E27FC236}">
                <a16:creationId xmlns:a16="http://schemas.microsoft.com/office/drawing/2014/main" id="{804C0E6F-1649-48CC-BDAE-537B68C93888}"/>
              </a:ext>
            </a:extLst>
          </p:cNvPr>
          <p:cNvSpPr>
            <a:spLocks xmlns:a="http://schemas.openxmlformats.org/drawingml/2006/main" noGrp="1"/>
          </p:cNvSpPr>
          <p:nvPr/>
        </p:nvSpPr>
        <p:spPr>
          <a:xfrm xmlns:a="http://schemas.openxmlformats.org/drawingml/2006/main">
            <a:off x="548640" y="4248150"/>
            <a:ext cx="804672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CADCDF"/>
                </a:solidFill>
                <a:latin typeface="Calibri"/>
                <a:ea typeface="Calibri"/>
                <a:cs typeface="Calibri"/>
              </a:defRPr>
            </a:pPr>
            <a:r>
              <a:rPr sz="900" b="0">
                <a:solidFill>
                  <a:srgbClr val="CADCDF"/>
                </a:solidFill>
                <a:latin typeface="Calibri"/>
                <a:ea typeface="Calibri"/>
                <a:cs typeface="Calibri"/>
              </a:rPr>
              <a:t>Differentiation to test: reuse approvals and review only new facts. Compare this workload with report extraction and trend tools.</a:t>
            </a:r>
          </a:p>
        </p:txBody>
      </p:sp>
    </p:spTree>
    <p:extLst>
      <p:ext uri="{BB962C8B-B14F-4D97-AF65-F5344CB8AC3E}">
        <p14:creationId xmlns:p14="http://schemas.microsoft.com/office/powerpoint/2010/main" val="798758499"/>
      </p:ext>
    </p:extLst>
  </p:cSld>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8321040" cy="384048"/>
          </a:xfrm>
          <a:prstGeom prst="rect">
            <a:avLst/>
          </a:prstGeom>
          <a:noFill/>
        </p:spPr>
        <p:txBody>
          <a:bodyPr wrap="square">
            <a:spAutoFit/>
          </a:bodyPr>
          <a:lstStyle/>
          <a:p>
            <a:r>
              <a:rPr sz="2200" b="1">
                <a:solidFill>
                  <a:srgbClr val="172B33"/>
                </a:solidFill>
              </a:rPr>
              <a:t>Verified locally, on web and Android</a:t>
            </a:r>
          </a:p>
        </p:txBody>
      </p:sp>
      <p:sp>
        <p:nvSpPr>
          <p:cNvPr id="3" name="TextBox 2"/>
          <p:cNvSpPr txBox="1"/>
          <p:nvPr/>
        </p:nvSpPr>
        <p:spPr>
          <a:xfrm>
            <a:off x="411480" y="621792"/>
            <a:ext cx="8321040" cy="274320"/>
          </a:xfrm>
          <a:prstGeom prst="rect">
            <a:avLst/>
          </a:prstGeom>
          <a:noFill/>
        </p:spPr>
        <p:txBody>
          <a:bodyPr wrap="square">
            <a:spAutoFit/>
          </a:bodyPr>
          <a:lstStyle/>
          <a:p>
            <a:r>
              <a:rPr sz="1000" b="0">
                <a:solidFill>
                  <a:srgbClr val="52636C"/>
                </a:solidFill>
              </a:rPr>
              <a:t>Screenshots from the running build: synthetic patient P0482, deterministic fixture extraction, Android emulator.</a:t>
            </a:r>
          </a:p>
        </p:txBody>
      </p:sp>
      <p:pic>
        <p:nvPicPr>
          <p:cNvPr id="4" name="Picture 3" descr="web-progression.png"/>
          <p:cNvPicPr>
            <a:picLocks noChangeAspect="1"/>
          </p:cNvPicPr>
          <p:nvPr/>
        </p:nvPicPr>
        <p:blipFill>
          <a:blip r:embed="rId2"/>
          <a:stretch>
            <a:fillRect/>
          </a:stretch>
        </p:blipFill>
        <p:spPr>
          <a:xfrm>
            <a:off x="411480" y="987552"/>
            <a:ext cx="3145536" cy="1965960"/>
          </a:xfrm>
          <a:prstGeom prst="rect">
            <a:avLst/>
          </a:prstGeom>
        </p:spPr>
      </p:pic>
      <p:sp>
        <p:nvSpPr>
          <p:cNvPr id="5" name="TextBox 4"/>
          <p:cNvSpPr txBox="1"/>
          <p:nvPr/>
        </p:nvSpPr>
        <p:spPr>
          <a:xfrm>
            <a:off x="411480" y="2990088"/>
            <a:ext cx="1920240" cy="384048"/>
          </a:xfrm>
          <a:prstGeom prst="rect">
            <a:avLst/>
          </a:prstGeom>
          <a:noFill/>
        </p:spPr>
        <p:txBody>
          <a:bodyPr wrap="square">
            <a:spAutoFit/>
          </a:bodyPr>
          <a:lstStyle/>
          <a:p>
            <a:r>
              <a:rPr sz="900" b="0">
                <a:solidFill>
                  <a:srgbClr val="52636C"/>
                </a:solidFill>
              </a:rPr>
              <a:t>Clinic web: approved progression with its coverage scope</a:t>
            </a:r>
          </a:p>
        </p:txBody>
      </p:sp>
      <p:pic>
        <p:nvPicPr>
          <p:cNvPr id="6" name="Picture 5" descr="android-clinic-review-screen.png"/>
          <p:cNvPicPr>
            <a:picLocks noChangeAspect="1"/>
          </p:cNvPicPr>
          <p:nvPr/>
        </p:nvPicPr>
        <p:blipFill>
          <a:blip r:embed="rId3"/>
          <a:stretch>
            <a:fillRect/>
          </a:stretch>
        </p:blipFill>
        <p:spPr>
          <a:xfrm>
            <a:off x="4892040" y="987552"/>
            <a:ext cx="1131570" cy="2514600"/>
          </a:xfrm>
          <a:prstGeom prst="rect">
            <a:avLst/>
          </a:prstGeom>
        </p:spPr>
      </p:pic>
      <p:sp>
        <p:nvSpPr>
          <p:cNvPr id="7" name="TextBox 6"/>
          <p:cNvSpPr txBox="1"/>
          <p:nvPr/>
        </p:nvSpPr>
        <p:spPr>
          <a:xfrm>
            <a:off x="4892040" y="3538728"/>
            <a:ext cx="1920240" cy="384048"/>
          </a:xfrm>
          <a:prstGeom prst="rect">
            <a:avLst/>
          </a:prstGeom>
          <a:noFill/>
        </p:spPr>
        <p:txBody>
          <a:bodyPr wrap="square">
            <a:spAutoFit/>
          </a:bodyPr>
          <a:lstStyle/>
          <a:p>
            <a:r>
              <a:rPr sz="900" b="0">
                <a:solidFill>
                  <a:srgbClr val="52636C"/>
                </a:solidFill>
              </a:rPr>
              <a:t>Android: reviewer checks one entry</a:t>
            </a:r>
          </a:p>
        </p:txBody>
      </p:sp>
      <p:pic>
        <p:nvPicPr>
          <p:cNvPr id="8" name="Picture 7" descr="android-patient-records.png"/>
          <p:cNvPicPr>
            <a:picLocks noChangeAspect="1"/>
          </p:cNvPicPr>
          <p:nvPr/>
        </p:nvPicPr>
        <p:blipFill>
          <a:blip r:embed="rId4"/>
          <a:stretch>
            <a:fillRect/>
          </a:stretch>
        </p:blipFill>
        <p:spPr>
          <a:xfrm>
            <a:off x="7132320" y="987552"/>
            <a:ext cx="1131570" cy="2514600"/>
          </a:xfrm>
          <a:prstGeom prst="rect">
            <a:avLst/>
          </a:prstGeom>
        </p:spPr>
      </p:pic>
      <p:sp>
        <p:nvSpPr>
          <p:cNvPr id="9" name="TextBox 8"/>
          <p:cNvSpPr txBox="1"/>
          <p:nvPr/>
        </p:nvSpPr>
        <p:spPr>
          <a:xfrm>
            <a:off x="7132320" y="3538728"/>
            <a:ext cx="1828800" cy="384048"/>
          </a:xfrm>
          <a:prstGeom prst="rect">
            <a:avLst/>
          </a:prstGeom>
          <a:noFill/>
        </p:spPr>
        <p:txBody>
          <a:bodyPr wrap="square">
            <a:spAutoFit/>
          </a:bodyPr>
          <a:lstStyle/>
          <a:p>
            <a:r>
              <a:rPr sz="900" b="0">
                <a:solidFill>
                  <a:srgbClr val="52636C"/>
                </a:solidFill>
              </a:rPr>
              <a:t>Android: patient records</a:t>
            </a:r>
          </a:p>
        </p:txBody>
      </p:sp>
      <p:sp>
        <p:nvSpPr>
          <p:cNvPr id="10" name="TextBox 9"/>
          <p:cNvSpPr txBox="1"/>
          <p:nvPr/>
        </p:nvSpPr>
        <p:spPr>
          <a:xfrm>
            <a:off x="411480" y="4041648"/>
            <a:ext cx="8321040" cy="384048"/>
          </a:xfrm>
          <a:prstGeom prst="rect">
            <a:avLst/>
          </a:prstGeom>
          <a:noFill/>
        </p:spPr>
        <p:txBody>
          <a:bodyPr wrap="square">
            <a:spAutoFit/>
          </a:bodyPr>
          <a:lstStyle/>
          <a:p>
            <a:r>
              <a:rPr sz="1000" b="0">
                <a:solidFill>
                  <a:srgbClr val="172B33"/>
                </a:solidFill>
              </a:rPr>
              <a:t>Verified: upload → processing → review → approval → progression on both roles; 95 automated tests, 25 end-to-end API checks and 43 browser checks pass.</a:t>
            </a:r>
          </a:p>
        </p:txBody>
      </p:sp>
      <p:sp>
        <p:nvSpPr>
          <p:cNvPr id="11" name="TextBox 10"/>
          <p:cNvSpPr txBox="1"/>
          <p:nvPr/>
        </p:nvSpPr>
        <p:spPr>
          <a:xfrm>
            <a:off x="411480" y="4443984"/>
            <a:ext cx="8321040" cy="530352"/>
          </a:xfrm>
          <a:prstGeom prst="rect">
            <a:avLst/>
          </a:prstGeom>
          <a:noFill/>
        </p:spPr>
        <p:txBody>
          <a:bodyPr wrap="square">
            <a:spAutoFit/>
          </a:bodyPr>
          <a:lstStyle/>
          <a:p>
            <a:r>
              <a:rPr sz="1000" b="0">
                <a:solidFill>
                  <a:srgbClr val="A85B00"/>
                </a:solidFill>
              </a:rPr>
              <a:t>Not yet verified: live model extraction (fixture rule engine only), hosted authentication and storage, a physical Android device, and any time saving.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2026-10-02T15:49:57.0300000Z</dcterms:created>
  <dcterms:modified xsi:type="dcterms:W3CDTF">2026-10-02T15:49:57.0300000Z</dcterms:modified>
</coreProperties>
</file>